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Introduce Purdue University, School of Aeronautics and Astronautics, and the Georgia Tech venue. Point to the QR and ask attendees to keep the participant worksheet open. No aerospace background is required. Allow five minutes for arrivals and orientation; announce the optional app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“If you want an extra challenge, build an app with coding agents during the workshop. The theme is open. Put it on your GitHub, show a working interaction at 12:50, and the audience will choose the winner by a show of hands. The prize is a free CogniPilot stocking cap.” Introduce rumoca_fixed_wing as the lead example; BROWSER_APPS.md has its live link. Participants may extend an existing app or start a new one and should explain their contribution. Core exercises need no agent account or GitHub account. Experienced attendees can begin once their environment is ready and keep building during independent work.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Explain the motivation: carry declared physical equations into simulation, parameter fitting and constrained optimization. Rumoca is an evolving open mathematical compiler; this workshop demonstrates a small tested workflow. OpenModelica, Dymola, Modelon, JuliaHub/Dyad, FMI, JAX and CasADi offer ecosystem and interoperability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Common Python code performs integration and builds optimization objectives, not another plant. Full language/backends are not certified by this example. Native compiler AD is not today's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10:30–10:40</a:t>
            </a:r>
          </a:p>
          <a:p>
            <a:r>
              <a:t>Give participants most of these ten minutes. Verify extension ID JamesGoppert.rumoca-modelica; choose Modelica language, trust workspace per policy. Show a temporary broken expression then undo for actual syntax diagnostics. Hover, completion and diagnostics passed in real VS Code 1.119.0 hosts on all four supported OS/architecture targets; navigation and Codespaces remote activation are separate checks. Smoke runs all three commands, checks gradient/backend agreement, fits, constraints and outputs. Local measured total about 12 seconds after setup. At 10:40 move to the exercise; use pair or demo recovery if setup is incomplete. App builders can begin their independent challenge once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Instructor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app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11:50–12:00</a:t>
            </a:r>
          </a:p>
          <a:p>
            <a:r>
              <a:t>Spend two minutes showing where the result files are and eight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Instructor has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Official PURT source: https://engineering.purdue.edu/PURT. Public workspace: https://github.com/CogniPilot/cognipilot_workspace documents pure Modelica, host Zephyr SIL and FastDyn/QEMU Cortex-M7 binary-in-the-loop. Documented upstream; not run here. Monte Carlo and reinforcement learning are application directions, not demonstrated results. Avoid unsupported benchmarks and facility superlatives. Synthetic fitting does not establish real-aircraft validity. Briefly connect the model to physical experiments, then introduce the lead fixed-wing app. Leave time for questions and move to app exploration at 12:45.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the first four minutes for participant demos: allow up to four one-minute demos; if more entries arrive, shorten each equally so every entry can be shown. Any app theme is welcome. Each entrant shows a working interaction, their own GitHub repository and their contribution. Reserve the final minute for a show-of-hands vote. Each attendee votes for one entry; count visibly. If tied, run a quick vote between the tied entries; if still tied, draw among them. Award one stocking cap to the winning entry; a team chooses its recipient. If there are no entries, invite a brief question about the fixed-wing example and continue to the closing slide. CHALLENGE.md carries the same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Invite collaboration: “Bring a hard modeling, identification, optimization or cyber-physical testing problem. We are developing open-source tools and validating ideas on real systems at Purdue. Let us find a useful research question together.” Point to the repository, worksheet, math review and contribution links. Welcome ecosystem partners. Answer final questions and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compiler/template/translator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The app gallery demonstrates selected browser interactions; it does not establish complete SLAM, deployable SLAM FMUs, automatic hardware partitioning or million-variable scaling. Agent-assisted development does not supply mathematical validation by itself. Use this appendix for roadmap questions only; no extra scheduled time. Recovery instructions remain in TROUBLESHOOTING.md and REHEARSAL.md.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American Modelica Conference · October 12, 2026</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10:00–10:05</a:t>
            </a:r>
          </a:p>
        </p:txBody>
      </p:sp>
      <p:sp>
        <p:nvSpPr>
          <p:cNvPr id="5" name="TextBox 4"/>
          <p:cNvSpPr txBox="1"/>
          <p:nvPr/>
        </p:nvSpPr>
        <p:spPr>
          <a:xfrm>
            <a:off x="594360" y="1051560"/>
            <a:ext cx="10021824" cy="946912"/>
          </a:xfrm>
          <a:prstGeom prst="rect">
            <a:avLst/>
          </a:prstGeom>
          <a:noFill/>
        </p:spPr>
        <p:txBody>
          <a:bodyPr wrap="none" lIns="0" rIns="0" tIns="0" bIns="0">
            <a:spAutoFit/>
          </a:bodyPr>
          <a:lstStyle/>
          <a:p>
            <a:pPr>
              <a:lnSpc>
                <a:spcPct val="124000"/>
              </a:lnSpc>
              <a:spcBef>
                <a:spcPts val="0"/>
              </a:spcBef>
              <a:spcAft>
                <a:spcPts val="0"/>
              </a:spcAft>
              <a:defRPr sz="5200" b="1">
                <a:solidFill>
                  <a:srgbClr val="23252A"/>
                </a:solidFill>
                <a:latin typeface="DejaVu Sans"/>
              </a:defRPr>
            </a:pPr>
            <a:r>
              <a:t>Hands-On with Rumoca</a:t>
            </a:r>
          </a:p>
        </p:txBody>
      </p:sp>
      <p:sp>
        <p:nvSpPr>
          <p:cNvPr id="6" name="TextBox 5"/>
          <p:cNvSpPr txBox="1"/>
          <p:nvPr/>
        </p:nvSpPr>
        <p:spPr>
          <a:xfrm>
            <a:off x="640080" y="2743200"/>
            <a:ext cx="7918704" cy="521716"/>
          </a:xfrm>
          <a:prstGeom prst="rect">
            <a:avLst/>
          </a:prstGeom>
          <a:noFill/>
        </p:spPr>
        <p:txBody>
          <a:bodyPr wrap="none" lIns="0" rIns="0" tIns="0" bIns="0">
            <a:spAutoFit/>
          </a:bodyPr>
          <a:lstStyle/>
          <a:p>
            <a:pPr>
              <a:lnSpc>
                <a:spcPct val="124000"/>
              </a:lnSpc>
              <a:spcBef>
                <a:spcPts val="0"/>
              </a:spcBef>
              <a:spcAft>
                <a:spcPts val="0"/>
              </a:spcAft>
              <a:defRPr sz="2500" b="0">
                <a:solidFill>
                  <a:srgbClr val="23252A"/>
                </a:solidFill>
                <a:latin typeface="DejaVu Sans"/>
              </a:defRPr>
            </a:pPr>
            <a:r>
              <a:t>James Goppert</a:t>
            </a:r>
          </a:p>
        </p:txBody>
      </p:sp>
      <p:sp>
        <p:nvSpPr>
          <p:cNvPr id="7" name="TextBox 6"/>
          <p:cNvSpPr txBox="1"/>
          <p:nvPr/>
        </p:nvSpPr>
        <p:spPr>
          <a:xfrm>
            <a:off x="640080" y="3392932"/>
            <a:ext cx="7918704" cy="915416"/>
          </a:xfrm>
          <a:prstGeom prst="rect">
            <a:avLst/>
          </a:prstGeom>
          <a:noFill/>
        </p:spPr>
        <p:txBody>
          <a:bodyPr wrap="none" lIns="0" rIns="0" tIns="0" bIns="0">
            <a:spAutoFit/>
          </a:bodyPr>
          <a:lstStyle/>
          <a:p>
            <a:pPr>
              <a:lnSpc>
                <a:spcPct val="124000"/>
              </a:lnSpc>
              <a:spcBef>
                <a:spcPts val="0"/>
              </a:spcBef>
              <a:spcAft>
                <a:spcPts val="0"/>
              </a:spcAft>
              <a:defRPr sz="2500" b="0">
                <a:solidFill>
                  <a:srgbClr val="23252A"/>
                </a:solidFill>
                <a:latin typeface="DejaVu Sans"/>
              </a:defRPr>
            </a:pPr>
            <a:r>
              <a:t>Purdue University · School of Aeronautics and</a:t>
            </a:r>
          </a:p>
          <a:p>
            <a:pPr>
              <a:lnSpc>
                <a:spcPct val="124000"/>
              </a:lnSpc>
              <a:spcBef>
                <a:spcPts val="0"/>
              </a:spcBef>
              <a:spcAft>
                <a:spcPts val="0"/>
              </a:spcAft>
              <a:defRPr sz="2500" b="0">
                <a:solidFill>
                  <a:srgbClr val="23252A"/>
                </a:solidFill>
                <a:latin typeface="DejaVu Sans"/>
              </a:defRPr>
            </a:pPr>
            <a:r>
              <a:t>Astronautics</a:t>
            </a:r>
          </a:p>
        </p:txBody>
      </p:sp>
      <p:sp>
        <p:nvSpPr>
          <p:cNvPr id="8" name="TextBox 7"/>
          <p:cNvSpPr txBox="1"/>
          <p:nvPr/>
        </p:nvSpPr>
        <p:spPr>
          <a:xfrm>
            <a:off x="640080" y="4436364"/>
            <a:ext cx="7918704" cy="521716"/>
          </a:xfrm>
          <a:prstGeom prst="rect">
            <a:avLst/>
          </a:prstGeom>
          <a:noFill/>
        </p:spPr>
        <p:txBody>
          <a:bodyPr wrap="none" lIns="0" rIns="0" tIns="0" bIns="0">
            <a:spAutoFit/>
          </a:bodyPr>
          <a:lstStyle/>
          <a:p>
            <a:pPr>
              <a:lnSpc>
                <a:spcPct val="124000"/>
              </a:lnSpc>
              <a:spcBef>
                <a:spcPts val="0"/>
              </a:spcBef>
              <a:spcAft>
                <a:spcPts val="0"/>
              </a:spcAft>
              <a:defRPr sz="2500" b="0">
                <a:solidFill>
                  <a:srgbClr val="23252A"/>
                </a:solidFill>
                <a:latin typeface="DejaVu Sans"/>
              </a:defRPr>
            </a:pPr>
            <a:r>
              <a:t>Georgia Tech · 10:00–13:00</a:t>
            </a:r>
          </a:p>
        </p:txBody>
      </p:sp>
      <p:pic>
        <p:nvPicPr>
          <p:cNvPr id="9" name="Picture 8" descr="repo-qr.png"/>
          <p:cNvPicPr>
            <a:picLocks noChangeAspect="1"/>
          </p:cNvPicPr>
          <p:nvPr/>
        </p:nvPicPr>
        <p:blipFill>
          <a:blip r:embed="rId2"/>
          <a:stretch>
            <a:fillRect/>
          </a:stretch>
        </p:blipFill>
        <p:spPr>
          <a:xfrm>
            <a:off x="9144000" y="2743200"/>
            <a:ext cx="2148840" cy="2148840"/>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github.com/CogniPilot/rumoca_workshop_amc2026</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OPEN APP CHALLENGE · demos + audience vote at 12:50</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10:05–10:10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Run the core. Build something extra.</a:t>
            </a:r>
          </a:p>
        </p:txBody>
      </p:sp>
      <p:sp>
        <p:nvSpPr>
          <p:cNvPr id="6" name="Rectangle 5"/>
          <p:cNvSpPr/>
          <p:nvPr/>
        </p:nvSpPr>
        <p:spPr>
          <a:xfrm>
            <a:off x="59436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459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Core: edit a model, fit data,</a:t>
            </a:r>
          </a:p>
          <a:p>
            <a:pPr>
              <a:lnSpc>
                <a:spcPct val="124000"/>
              </a:lnSpc>
              <a:spcBef>
                <a:spcPts val="0"/>
              </a:spcBef>
              <a:spcAft>
                <a:spcPts val="0"/>
              </a:spcAft>
              <a:defRPr sz="2700" b="0">
                <a:solidFill>
                  <a:srgbClr val="23252A"/>
                </a:solidFill>
                <a:latin typeface="DejaVu Sans"/>
              </a:defRPr>
            </a:pPr>
            <a:r>
              <a:t>optimize a trajectory</a:t>
            </a:r>
          </a:p>
        </p:txBody>
      </p:sp>
      <p:sp>
        <p:nvSpPr>
          <p:cNvPr id="9" name="Rectangle 8"/>
          <p:cNvSpPr/>
          <p:nvPr/>
        </p:nvSpPr>
        <p:spPr>
          <a:xfrm>
            <a:off x="621792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6459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Extra: create an app with</a:t>
            </a:r>
          </a:p>
          <a:p>
            <a:pPr>
              <a:lnSpc>
                <a:spcPct val="124000"/>
              </a:lnSpc>
              <a:spcBef>
                <a:spcPts val="0"/>
              </a:spcBef>
              <a:spcAft>
                <a:spcPts val="0"/>
              </a:spcAft>
              <a:defRPr sz="2700" b="0">
                <a:solidFill>
                  <a:srgbClr val="23252A"/>
                </a:solidFill>
                <a:latin typeface="DejaVu Sans"/>
              </a:defRPr>
            </a:pPr>
            <a:r>
              <a:t>coding agents</a:t>
            </a:r>
          </a:p>
        </p:txBody>
      </p:sp>
      <p:sp>
        <p:nvSpPr>
          <p:cNvPr id="12" name="Rectangle 11"/>
          <p:cNvSpPr/>
          <p:nvPr/>
        </p:nvSpPr>
        <p:spPr>
          <a:xfrm>
            <a:off x="59436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4747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Open theme: show your</a:t>
            </a:r>
          </a:p>
          <a:p>
            <a:pPr>
              <a:lnSpc>
                <a:spcPct val="124000"/>
              </a:lnSpc>
              <a:spcBef>
                <a:spcPts val="0"/>
              </a:spcBef>
              <a:spcAft>
                <a:spcPts val="0"/>
              </a:spcAft>
              <a:defRPr sz="2700" b="0">
                <a:solidFill>
                  <a:srgbClr val="23252A"/>
                </a:solidFill>
                <a:latin typeface="DejaVu Sans"/>
              </a:defRPr>
            </a:pPr>
            <a:r>
              <a:t>idea on your GitHub</a:t>
            </a:r>
          </a:p>
        </p:txBody>
      </p:sp>
      <p:sp>
        <p:nvSpPr>
          <p:cNvPr id="15" name="Rectangle 14"/>
          <p:cNvSpPr/>
          <p:nvPr/>
        </p:nvSpPr>
        <p:spPr>
          <a:xfrm>
            <a:off x="621792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4747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Audience favorite wins a</a:t>
            </a:r>
          </a:p>
          <a:p>
            <a:pPr>
              <a:lnSpc>
                <a:spcPct val="124000"/>
              </a:lnSpc>
              <a:spcBef>
                <a:spcPts val="0"/>
              </a:spcBef>
              <a:spcAft>
                <a:spcPts val="0"/>
              </a:spcAft>
              <a:defRPr sz="2700" b="0">
                <a:solidFill>
                  <a:srgbClr val="23252A"/>
                </a:solidFill>
                <a:latin typeface="DejaVu Sans"/>
              </a:defRPr>
            </a:pPr>
            <a:r>
              <a:t>CogniPilot stocking cap</a:t>
            </a:r>
          </a:p>
        </p:txBody>
      </p:sp>
      <p:sp>
        <p:nvSpPr>
          <p:cNvPr id="18" name="TextBox 1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Start whenever ready · CHALLENGE.md · core needs no agent account</a:t>
            </a:r>
          </a:p>
        </p:txBody>
      </p:sp>
      <p:sp>
        <p:nvSpPr>
          <p:cNvPr id="19" name="TextBox 1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20" name="TextBox 1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Why we built Rumoca</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10:10–10:15</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Make declared physics reusable</a:t>
            </a:r>
          </a:p>
        </p:txBody>
      </p:sp>
      <p:sp>
        <p:nvSpPr>
          <p:cNvPr id="6" name="TextBox 5"/>
          <p:cNvSpPr txBox="1"/>
          <p:nvPr/>
        </p:nvSpPr>
        <p:spPr>
          <a:xfrm>
            <a:off x="685800" y="1828800"/>
            <a:ext cx="10844784" cy="60045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A physical model should travel with the question.</a:t>
            </a:r>
          </a:p>
        </p:txBody>
      </p:sp>
      <p:sp>
        <p:nvSpPr>
          <p:cNvPr id="7" name="TextBox 6"/>
          <p:cNvSpPr txBox="1"/>
          <p:nvPr/>
        </p:nvSpPr>
        <p:spPr>
          <a:xfrm>
            <a:off x="685800" y="2767583"/>
            <a:ext cx="10844784" cy="60045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Simulation → identification → control → experiment</a:t>
            </a:r>
          </a:p>
        </p:txBody>
      </p:sp>
      <p:sp>
        <p:nvSpPr>
          <p:cNvPr id="8" name="TextBox 7"/>
          <p:cNvSpPr txBox="1"/>
          <p:nvPr/>
        </p:nvSpPr>
        <p:spPr>
          <a:xfrm>
            <a:off x="685800" y="3706367"/>
            <a:ext cx="10844784" cy="107289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Open tools and explicit mathematics help us compare</a:t>
            </a:r>
          </a:p>
          <a:p>
            <a:pPr>
              <a:lnSpc>
                <a:spcPct val="124000"/>
              </a:lnSpc>
              <a:spcBef>
                <a:spcPts val="0"/>
              </a:spcBef>
              <a:spcAft>
                <a:spcPts val="0"/>
              </a:spcAft>
              <a:defRPr sz="3000" b="0">
                <a:solidFill>
                  <a:srgbClr val="23252A"/>
                </a:solidFill>
                <a:latin typeface="DejaVu Sans"/>
              </a:defRPr>
            </a:pPr>
            <a:r>
              <a:t>results.</a:t>
            </a:r>
          </a:p>
        </p:txBody>
      </p:sp>
      <p:sp>
        <p:nvSpPr>
          <p:cNvPr id="9" name="TextBox 8"/>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Rumoca connects Modelica to modern computational tools.</a:t>
            </a:r>
          </a:p>
        </p:txBody>
      </p:sp>
      <p:sp>
        <p:nvSpPr>
          <p:cNvPr id="10" name="TextBox 9"/>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1" name="TextBox 10"/>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Verified workshop architecture</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10:15–10:20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Declare once. Ask different questions.</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Same Quadrotor.mo equations, two generated Python representations</a:t>
            </a:r>
          </a:p>
        </p:txBody>
      </p:sp>
      <p:pic>
        <p:nvPicPr>
          <p:cNvPr id="7" name="Picture 6" descr="architecture.png"/>
          <p:cNvPicPr>
            <a:picLocks noChangeAspect="1"/>
          </p:cNvPicPr>
          <p:nvPr/>
        </p:nvPicPr>
        <p:blipFill>
          <a:blip r:embed="rId2"/>
          <a:stretch>
            <a:fillRect/>
          </a:stretch>
        </p:blipFill>
        <p:spPr>
          <a:xfrm>
            <a:off x="640080" y="1932473"/>
            <a:ext cx="10881360" cy="3894752"/>
          </a:xfrm>
          <a:prstGeom prst="rect">
            <a:avLst/>
          </a:prstGeom>
        </p:spPr>
      </p:pic>
      <p:sp>
        <p:nvSpPr>
          <p:cNvPr id="8" name="TextBox 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Modelica declares physics · Rumoca compiles · backends compute.</a:t>
            </a:r>
          </a:p>
        </p:txBody>
      </p:sp>
      <p:sp>
        <p:nvSpPr>
          <p:cNvPr id="9" name="TextBox 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0" name="TextBox 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LIVE DEMO · zero-install modeling</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10:20–10:25</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Everyone gets a browser plot</a:t>
            </a:r>
          </a:p>
        </p:txBody>
      </p:sp>
      <p:sp>
        <p:nvSpPr>
          <p:cNvPr id="6" name="TextBox 5"/>
          <p:cNvSpPr txBox="1"/>
          <p:nvPr/>
        </p:nvSpPr>
        <p:spPr>
          <a:xfrm>
            <a:off x="640080" y="1645920"/>
            <a:ext cx="3986783" cy="553211"/>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Open the playground</a:t>
            </a:r>
          </a:p>
        </p:txBody>
      </p:sp>
      <p:sp>
        <p:nvSpPr>
          <p:cNvPr id="7" name="TextBox 6"/>
          <p:cNvSpPr txBox="1"/>
          <p:nvPr/>
        </p:nvSpPr>
        <p:spPr>
          <a:xfrm>
            <a:off x="640080" y="2436876"/>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Paste the complete</a:t>
            </a:r>
          </a:p>
          <a:p>
            <a:pPr>
              <a:lnSpc>
                <a:spcPct val="124000"/>
              </a:lnSpc>
              <a:spcBef>
                <a:spcPts val="0"/>
              </a:spcBef>
              <a:spcAft>
                <a:spcPts val="0"/>
              </a:spcAft>
              <a:defRPr sz="2700" b="0">
                <a:solidFill>
                  <a:srgbClr val="23252A"/>
                </a:solidFill>
                <a:latin typeface="DejaVu Sans"/>
              </a:defRPr>
            </a:pPr>
            <a:r>
              <a:t>browser bundle</a:t>
            </a:r>
          </a:p>
        </p:txBody>
      </p:sp>
      <p:sp>
        <p:nvSpPr>
          <p:cNvPr id="8" name="TextBox 7"/>
          <p:cNvSpPr txBox="1"/>
          <p:nvPr/>
        </p:nvSpPr>
        <p:spPr>
          <a:xfrm>
            <a:off x="640080" y="3653028"/>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Gear → BrowserFlight</a:t>
            </a:r>
          </a:p>
          <a:p>
            <a:pPr>
              <a:lnSpc>
                <a:spcPct val="124000"/>
              </a:lnSpc>
              <a:spcBef>
                <a:spcPts val="0"/>
              </a:spcBef>
              <a:spcAft>
                <a:spcPts val="0"/>
              </a:spcAft>
              <a:defRPr sz="2700" b="0">
                <a:solidFill>
                  <a:srgbClr val="23252A"/>
                </a:solidFill>
                <a:latin typeface="DejaVu Sans"/>
              </a:defRPr>
            </a:pPr>
            <a:r>
              <a:t>→ Play</a:t>
            </a:r>
          </a:p>
        </p:txBody>
      </p:sp>
      <p:pic>
        <p:nvPicPr>
          <p:cNvPr id="9" name="Picture 8" descr="browser-drag-linear.png"/>
          <p:cNvPicPr>
            <a:picLocks noChangeAspect="1"/>
          </p:cNvPicPr>
          <p:nvPr/>
        </p:nvPicPr>
        <p:blipFill>
          <a:blip r:embed="rId2"/>
          <a:stretch>
            <a:fillRect/>
          </a:stretch>
        </p:blipFill>
        <p:spPr>
          <a:xfrm>
            <a:off x="4965192" y="1417320"/>
            <a:ext cx="6437376" cy="4023360"/>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You should see BrowserFlight Results and a plot.</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Setup decision · worksheet has every link</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10:25–10:30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Choose a full-workshop route</a:t>
            </a:r>
          </a:p>
        </p:txBody>
      </p:sp>
      <p:sp>
        <p:nvSpPr>
          <p:cNvPr id="6" name="Rectangle 5"/>
          <p:cNvSpPr/>
          <p:nvPr/>
        </p:nvSpPr>
        <p:spPr>
          <a:xfrm>
            <a:off x="59436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459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Browser: modeling and</a:t>
            </a:r>
          </a:p>
          <a:p>
            <a:pPr>
              <a:lnSpc>
                <a:spcPct val="124000"/>
              </a:lnSpc>
              <a:spcBef>
                <a:spcPts val="0"/>
              </a:spcBef>
              <a:spcAft>
                <a:spcPts val="0"/>
              </a:spcAft>
              <a:defRPr sz="2700" b="0">
                <a:solidFill>
                  <a:srgbClr val="23252A"/>
                </a:solidFill>
                <a:latin typeface="DejaVu Sans"/>
              </a:defRPr>
            </a:pPr>
            <a:r>
              <a:t>predictions; no account</a:t>
            </a:r>
          </a:p>
        </p:txBody>
      </p:sp>
      <p:sp>
        <p:nvSpPr>
          <p:cNvPr id="9" name="Rectangle 8"/>
          <p:cNvSpPr/>
          <p:nvPr/>
        </p:nvSpPr>
        <p:spPr>
          <a:xfrm>
            <a:off x="621792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6459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Codespaces: Python + VS</a:t>
            </a:r>
          </a:p>
          <a:p>
            <a:pPr>
              <a:lnSpc>
                <a:spcPct val="124000"/>
              </a:lnSpc>
              <a:spcBef>
                <a:spcPts val="0"/>
              </a:spcBef>
              <a:spcAft>
                <a:spcPts val="0"/>
              </a:spcAft>
              <a:defRPr sz="2700" b="0">
                <a:solidFill>
                  <a:srgbClr val="23252A"/>
                </a:solidFill>
                <a:latin typeface="DejaVu Sans"/>
              </a:defRPr>
            </a:pPr>
            <a:r>
              <a:t>Code; login and allowance</a:t>
            </a:r>
          </a:p>
        </p:txBody>
      </p:sp>
      <p:sp>
        <p:nvSpPr>
          <p:cNvPr id="12" name="Rectangle 11"/>
          <p:cNvSpPr/>
          <p:nvPr/>
        </p:nvSpPr>
        <p:spPr>
          <a:xfrm>
            <a:off x="59436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4747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Local uv: Python + VS</a:t>
            </a:r>
          </a:p>
          <a:p>
            <a:pPr>
              <a:lnSpc>
                <a:spcPct val="124000"/>
              </a:lnSpc>
              <a:spcBef>
                <a:spcPts val="0"/>
              </a:spcBef>
              <a:spcAft>
                <a:spcPts val="0"/>
              </a:spcAft>
              <a:defRPr sz="2700" b="0">
                <a:solidFill>
                  <a:srgbClr val="23252A"/>
                </a:solidFill>
                <a:latin typeface="DejaVu Sans"/>
              </a:defRPr>
            </a:pPr>
            <a:r>
              <a:t>Code; pinned CPU packages</a:t>
            </a:r>
          </a:p>
        </p:txBody>
      </p:sp>
      <p:sp>
        <p:nvSpPr>
          <p:cNvPr id="15" name="Rectangle 14"/>
          <p:cNvSpPr/>
          <p:nvPr/>
        </p:nvSpPr>
        <p:spPr>
          <a:xfrm>
            <a:off x="621792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4747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Pair or screenshare: keep</a:t>
            </a:r>
          </a:p>
          <a:p>
            <a:pPr>
              <a:lnSpc>
                <a:spcPct val="124000"/>
              </a:lnSpc>
              <a:spcBef>
                <a:spcPts val="0"/>
              </a:spcBef>
              <a:spcAft>
                <a:spcPts val="0"/>
              </a:spcAft>
              <a:defRPr sz="2700" b="0">
                <a:solidFill>
                  <a:srgbClr val="23252A"/>
                </a:solidFill>
                <a:latin typeface="DejaVu Sans"/>
              </a:defRPr>
            </a:pPr>
            <a:r>
              <a:t>working if setup fails</a:t>
            </a:r>
          </a:p>
        </p:txBody>
      </p:sp>
      <p:sp>
        <p:nvSpPr>
          <p:cNvPr id="18" name="TextBox 1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Switch route after ten minutes of setup trouble.</a:t>
            </a:r>
          </a:p>
        </p:txBody>
      </p:sp>
      <p:sp>
        <p:nvSpPr>
          <p:cNvPr id="19" name="TextBox 1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20" name="TextBox 1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HANDS-ON · released LSP verified on four platforms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10:30–10:40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Edit with feedback. Check the pipeline.</a:t>
            </a:r>
          </a:p>
        </p:txBody>
      </p:sp>
      <p:sp>
        <p:nvSpPr>
          <p:cNvPr id="6" name="TextBox 5"/>
          <p:cNvSpPr txBox="1"/>
          <p:nvPr/>
        </p:nvSpPr>
        <p:spPr>
          <a:xfrm>
            <a:off x="640080" y="1645920"/>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Open</a:t>
            </a:r>
          </a:p>
          <a:p>
            <a:pPr>
              <a:lnSpc>
                <a:spcPct val="124000"/>
              </a:lnSpc>
              <a:spcBef>
                <a:spcPts val="0"/>
              </a:spcBef>
              <a:spcAft>
                <a:spcPts val="0"/>
              </a:spcAft>
              <a:defRPr sz="2700" b="0">
                <a:solidFill>
                  <a:srgbClr val="23252A"/>
                </a:solidFill>
                <a:latin typeface="DejaVu Sans"/>
              </a:defRPr>
            </a:pPr>
            <a:r>
              <a:t>models/Quadrotor.mo</a:t>
            </a:r>
          </a:p>
        </p:txBody>
      </p:sp>
      <p:sp>
        <p:nvSpPr>
          <p:cNvPr id="7" name="TextBox 6"/>
          <p:cNvSpPr txBox="1"/>
          <p:nvPr/>
        </p:nvSpPr>
        <p:spPr>
          <a:xfrm>
            <a:off x="640080" y="2862072"/>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Hover m; try sin</a:t>
            </a:r>
          </a:p>
          <a:p>
            <a:pPr>
              <a:lnSpc>
                <a:spcPct val="124000"/>
              </a:lnSpc>
              <a:spcBef>
                <a:spcPts val="0"/>
              </a:spcBef>
              <a:spcAft>
                <a:spcPts val="0"/>
              </a:spcAft>
              <a:defRPr sz="2700" b="0">
                <a:solidFill>
                  <a:srgbClr val="23252A"/>
                </a:solidFill>
                <a:latin typeface="DejaVu Sans"/>
              </a:defRPr>
            </a:pPr>
            <a:r>
              <a:t>completion</a:t>
            </a:r>
          </a:p>
        </p:txBody>
      </p:sp>
      <p:sp>
        <p:nvSpPr>
          <p:cNvPr id="8" name="TextBox 7"/>
          <p:cNvSpPr txBox="1"/>
          <p:nvPr/>
        </p:nvSpPr>
        <p:spPr>
          <a:xfrm>
            <a:off x="640080" y="4078224"/>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Run the smoke test;</a:t>
            </a:r>
          </a:p>
          <a:p>
            <a:pPr>
              <a:lnSpc>
                <a:spcPct val="124000"/>
              </a:lnSpc>
              <a:spcBef>
                <a:spcPts val="0"/>
              </a:spcBef>
              <a:spcAft>
                <a:spcPts val="0"/>
              </a:spcAft>
              <a:defRPr sz="2700" b="0">
                <a:solidFill>
                  <a:srgbClr val="23252A"/>
                </a:solidFill>
                <a:latin typeface="DejaVu Sans"/>
              </a:defRPr>
            </a:pPr>
            <a:r>
              <a:t>open results/live</a:t>
            </a:r>
          </a:p>
        </p:txBody>
      </p:sp>
      <p:pic>
        <p:nvPicPr>
          <p:cNvPr id="9" name="Picture 8" descr="vscode-quadrotor.png"/>
          <p:cNvPicPr>
            <a:picLocks noChangeAspect="1"/>
          </p:cNvPicPr>
          <p:nvPr/>
        </p:nvPicPr>
        <p:blipFill>
          <a:blip r:embed="rId2"/>
          <a:stretch>
            <a:fillRect/>
          </a:stretch>
        </p:blipFill>
        <p:spPr>
          <a:xfrm>
            <a:off x="4965192" y="1417320"/>
            <a:ext cx="6437376" cy="4023360"/>
          </a:xfrm>
          <a:prstGeom prst="rect">
            <a:avLst/>
          </a:prstGeom>
        </p:spPr>
      </p:pic>
      <p:sp>
        <p:nvSpPr>
          <p:cNvPr id="10" name="Rectangle 9"/>
          <p:cNvSpPr/>
          <p:nvPr/>
        </p:nvSpPr>
        <p:spPr>
          <a:xfrm>
            <a:off x="594360" y="5650992"/>
            <a:ext cx="11018520" cy="457200"/>
          </a:xfrm>
          <a:prstGeom prst="rect">
            <a:avLst/>
          </a:prstGeom>
          <a:solidFill>
            <a:srgbClr val="232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33288"/>
            <a:ext cx="107533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FFFFFF"/>
                </a:solidFill>
                <a:latin typeface="DejaVu Sans Mono"/>
              </a:defRPr>
            </a:pPr>
            <a:r>
              <a:t>uv run --frozen python scripts/smoke_test.py</a:t>
            </a:r>
          </a:p>
        </p:txBody>
      </p:sp>
      <p:sp>
        <p:nvSpPr>
          <p:cNvPr id="12" name="TextBox 11"/>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WORKSHOP PASS · model editor ready</a:t>
            </a:r>
          </a:p>
        </p:txBody>
      </p:sp>
      <p:sp>
        <p:nvSpPr>
          <p:cNvPr id="13" name="TextBox 12"/>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4" name="TextBox 13"/>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Six states · two aggregate inputs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10:40–10:45</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A planar quadrotor we can inspect</a:t>
            </a:r>
          </a:p>
        </p:txBody>
      </p:sp>
      <p:sp>
        <p:nvSpPr>
          <p:cNvPr id="6" name="TextBox 5"/>
          <p:cNvSpPr txBox="1"/>
          <p:nvPr/>
        </p:nvSpPr>
        <p:spPr>
          <a:xfrm>
            <a:off x="640080" y="1645920"/>
            <a:ext cx="3986783" cy="553211"/>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World x right; z up</a:t>
            </a:r>
          </a:p>
        </p:txBody>
      </p:sp>
      <p:sp>
        <p:nvSpPr>
          <p:cNvPr id="7" name="TextBox 6"/>
          <p:cNvSpPr txBox="1"/>
          <p:nvPr/>
        </p:nvSpPr>
        <p:spPr>
          <a:xfrm>
            <a:off x="640080" y="2436876"/>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Positive pitch tilts</a:t>
            </a:r>
          </a:p>
          <a:p>
            <a:pPr>
              <a:lnSpc>
                <a:spcPct val="124000"/>
              </a:lnSpc>
              <a:spcBef>
                <a:spcPts val="0"/>
              </a:spcBef>
              <a:spcAft>
                <a:spcPts val="0"/>
              </a:spcAft>
              <a:defRPr sz="2700" b="0">
                <a:solidFill>
                  <a:srgbClr val="23252A"/>
                </a:solidFill>
                <a:latin typeface="DejaVu Sans"/>
              </a:defRPr>
            </a:pPr>
            <a:r>
              <a:t>thrust toward +x</a:t>
            </a:r>
          </a:p>
        </p:txBody>
      </p:sp>
      <p:sp>
        <p:nvSpPr>
          <p:cNvPr id="8" name="TextBox 7"/>
          <p:cNvSpPr txBox="1"/>
          <p:nvPr/>
        </p:nvSpPr>
        <p:spPr>
          <a:xfrm>
            <a:off x="640080" y="3653028"/>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Hover: T = mg =</a:t>
            </a:r>
          </a:p>
          <a:p>
            <a:pPr>
              <a:lnSpc>
                <a:spcPct val="124000"/>
              </a:lnSpc>
              <a:spcBef>
                <a:spcPts val="0"/>
              </a:spcBef>
              <a:spcAft>
                <a:spcPts val="0"/>
              </a:spcAft>
              <a:defRPr sz="2700" b="0">
                <a:solidFill>
                  <a:srgbClr val="23252A"/>
                </a:solidFill>
                <a:latin typeface="DejaVu Sans"/>
              </a:defRPr>
            </a:pPr>
            <a:r>
              <a:t>11.772 N</a:t>
            </a:r>
          </a:p>
        </p:txBody>
      </p:sp>
      <p:pic>
        <p:nvPicPr>
          <p:cNvPr id="9" name="Picture 8" descr="quadrotor.png"/>
          <p:cNvPicPr>
            <a:picLocks noChangeAspect="1"/>
          </p:cNvPicPr>
          <p:nvPr/>
        </p:nvPicPr>
        <p:blipFill>
          <a:blip r:embed="rId2"/>
          <a:stretch>
            <a:fillRect/>
          </a:stretch>
        </p:blipFill>
        <p:spPr>
          <a:xfrm>
            <a:off x="4754880" y="2024108"/>
            <a:ext cx="6857999" cy="2809782"/>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Find velocities, pitch rate, thrust and torque in the model.</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HANDS-ON · predict before running</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10:45–10:55</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Your first engineering change: drag</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Change k_quad = 0.0 to 0.08, save, then simulate.</a:t>
            </a:r>
          </a:p>
        </p:txBody>
      </p:sp>
      <p:pic>
        <p:nvPicPr>
          <p:cNvPr id="7" name="Picture 6" descr="drag-law.png"/>
          <p:cNvPicPr>
            <a:picLocks noChangeAspect="1"/>
          </p:cNvPicPr>
          <p:nvPr/>
        </p:nvPicPr>
        <p:blipFill>
          <a:blip r:embed="rId2"/>
          <a:stretch>
            <a:fillRect/>
          </a:stretch>
        </p:blipFill>
        <p:spPr>
          <a:xfrm>
            <a:off x="640080" y="2063005"/>
            <a:ext cx="10881360" cy="3267929"/>
          </a:xfrm>
          <a:prstGeom prst="rect">
            <a:avLst/>
          </a:prstGeom>
        </p:spPr>
      </p:pic>
      <p:sp>
        <p:nvSpPr>
          <p:cNvPr id="8" name="Rectangle 7"/>
          <p:cNvSpPr/>
          <p:nvPr/>
        </p:nvSpPr>
        <p:spPr>
          <a:xfrm>
            <a:off x="594360" y="5650992"/>
            <a:ext cx="11018520" cy="457200"/>
          </a:xfrm>
          <a:prstGeom prst="rect">
            <a:avLst/>
          </a:prstGeom>
          <a:solidFill>
            <a:srgbClr val="232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733288"/>
            <a:ext cx="107533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FFFFFF"/>
                </a:solidFill>
                <a:latin typeface="DejaVu Sans Mono"/>
              </a:defRPr>
            </a:pPr>
            <a:r>
              <a:t>uv run --frozen python scripts/simulate.py</a:t>
            </a:r>
          </a:p>
        </p:txBody>
      </p:sp>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What changes at high speed? What about negative velocity?</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HANDS-ON · same prescribed Python inputs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10:55–11:00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More drag, less distance</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Reference at 8 s: 41.60 m → 17.97 m</a:t>
            </a:r>
          </a:p>
        </p:txBody>
      </p:sp>
      <p:pic>
        <p:nvPicPr>
          <p:cNvPr id="7" name="Picture 6" descr="simulation-hero.png"/>
          <p:cNvPicPr>
            <a:picLocks noChangeAspect="1"/>
          </p:cNvPicPr>
          <p:nvPr/>
        </p:nvPicPr>
        <p:blipFill>
          <a:blip r:embed="rId2"/>
          <a:stretch>
            <a:fillRect/>
          </a:stretch>
        </p:blipFill>
        <p:spPr>
          <a:xfrm>
            <a:off x="670680" y="1907540"/>
            <a:ext cx="10820158" cy="3944620"/>
          </a:xfrm>
          <a:prstGeom prst="rect">
            <a:avLst/>
          </a:prstGeom>
        </p:spPr>
      </p:pic>
      <p:sp>
        <p:nvSpPr>
          <p:cNvPr id="8" name="TextBox 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Compare your current default with the two reference cases.</a:t>
            </a:r>
          </a:p>
        </p:txBody>
      </p:sp>
      <p:sp>
        <p:nvSpPr>
          <p:cNvPr id="9" name="TextBox 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0" name="TextBox 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Ten full minutes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11:00–11:10</a:t>
            </a:r>
          </a:p>
        </p:txBody>
      </p:sp>
      <p:sp>
        <p:nvSpPr>
          <p:cNvPr id="5" name="TextBox 4"/>
          <p:cNvSpPr txBox="1"/>
          <p:nvPr/>
        </p:nvSpPr>
        <p:spPr>
          <a:xfrm>
            <a:off x="594360" y="1097280"/>
            <a:ext cx="11027664" cy="915416"/>
          </a:xfrm>
          <a:prstGeom prst="rect">
            <a:avLst/>
          </a:prstGeom>
          <a:noFill/>
        </p:spPr>
        <p:txBody>
          <a:bodyPr wrap="none" lIns="0" rIns="0" tIns="0" bIns="0">
            <a:spAutoFit/>
          </a:bodyPr>
          <a:lstStyle/>
          <a:p>
            <a:pPr>
              <a:lnSpc>
                <a:spcPct val="124000"/>
              </a:lnSpc>
              <a:spcBef>
                <a:spcPts val="0"/>
              </a:spcBef>
              <a:spcAft>
                <a:spcPts val="0"/>
              </a:spcAft>
              <a:defRPr sz="5000" b="1">
                <a:solidFill>
                  <a:srgbClr val="23252A"/>
                </a:solidFill>
                <a:latin typeface="DejaVu Sans"/>
              </a:defRPr>
            </a:pPr>
            <a:r>
              <a:t>Break · back at 11:10</a:t>
            </a:r>
          </a:p>
        </p:txBody>
      </p:sp>
      <p:sp>
        <p:nvSpPr>
          <p:cNvPr id="6" name="TextBox 5"/>
          <p:cNvSpPr txBox="1"/>
          <p:nvPr/>
        </p:nvSpPr>
        <p:spPr>
          <a:xfrm>
            <a:off x="640080" y="2743200"/>
            <a:ext cx="10753344" cy="568959"/>
          </a:xfrm>
          <a:prstGeom prst="rect">
            <a:avLst/>
          </a:prstGeom>
          <a:noFill/>
        </p:spPr>
        <p:txBody>
          <a:bodyPr wrap="none" lIns="0" rIns="0" tIns="0" bIns="0">
            <a:spAutoFit/>
          </a:bodyPr>
          <a:lstStyle/>
          <a:p>
            <a:pPr>
              <a:lnSpc>
                <a:spcPct val="124000"/>
              </a:lnSpc>
              <a:spcBef>
                <a:spcPts val="0"/>
              </a:spcBef>
              <a:spcAft>
                <a:spcPts val="0"/>
              </a:spcAft>
              <a:defRPr sz="2800" b="0">
                <a:solidFill>
                  <a:srgbClr val="23252A"/>
                </a:solidFill>
                <a:latin typeface="DejaVu Sans"/>
              </a:defRPr>
            </a:pPr>
            <a:r>
              <a:t>Keep your editor and terminal open.</a:t>
            </a:r>
          </a:p>
        </p:txBody>
      </p:sp>
      <p:sp>
        <p:nvSpPr>
          <p:cNvPr id="7" name="TextBox 6"/>
          <p:cNvSpPr txBox="1"/>
          <p:nvPr/>
        </p:nvSpPr>
        <p:spPr>
          <a:xfrm>
            <a:off x="640080" y="3513328"/>
            <a:ext cx="10753344" cy="568959"/>
          </a:xfrm>
          <a:prstGeom prst="rect">
            <a:avLst/>
          </a:prstGeom>
          <a:noFill/>
        </p:spPr>
        <p:txBody>
          <a:bodyPr wrap="none" lIns="0" rIns="0" tIns="0" bIns="0">
            <a:spAutoFit/>
          </a:bodyPr>
          <a:lstStyle/>
          <a:p>
            <a:pPr>
              <a:lnSpc>
                <a:spcPct val="124000"/>
              </a:lnSpc>
              <a:spcBef>
                <a:spcPts val="0"/>
              </a:spcBef>
              <a:spcAft>
                <a:spcPts val="0"/>
              </a:spcAft>
              <a:defRPr sz="2800" b="0">
                <a:solidFill>
                  <a:srgbClr val="23252A"/>
                </a:solidFill>
                <a:latin typeface="DejaVu Sans"/>
              </a:defRPr>
            </a:pPr>
            <a:r>
              <a:t>Recovery: results/reference/simulation.png</a:t>
            </a:r>
          </a:p>
        </p:txBody>
      </p:sp>
      <p:sp>
        <p:nvSpPr>
          <p:cNvPr id="8" name="TextBox 7"/>
          <p:cNvSpPr txBox="1"/>
          <p:nvPr/>
        </p:nvSpPr>
        <p:spPr>
          <a:xfrm>
            <a:off x="640080" y="4283456"/>
            <a:ext cx="10753344" cy="568959"/>
          </a:xfrm>
          <a:prstGeom prst="rect">
            <a:avLst/>
          </a:prstGeom>
          <a:noFill/>
        </p:spPr>
        <p:txBody>
          <a:bodyPr wrap="none" lIns="0" rIns="0" tIns="0" bIns="0">
            <a:spAutoFit/>
          </a:bodyPr>
          <a:lstStyle/>
          <a:p>
            <a:pPr>
              <a:lnSpc>
                <a:spcPct val="124000"/>
              </a:lnSpc>
              <a:spcBef>
                <a:spcPts val="0"/>
              </a:spcBef>
              <a:spcAft>
                <a:spcPts val="0"/>
              </a:spcAft>
              <a:defRPr sz="2800" b="0">
                <a:solidFill>
                  <a:srgbClr val="23252A"/>
                </a:solidFill>
                <a:latin typeface="DejaVu Sans"/>
              </a:defRPr>
            </a:pPr>
            <a:r>
              <a:t>Next: fit drag from noisy flight data.</a:t>
            </a:r>
          </a:p>
        </p:txBody>
      </p:sp>
      <p:sp>
        <p:nvSpPr>
          <p:cNvPr id="9" name="TextBox 8"/>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Worksheet and commands: WORKSHOP.md · scan the opening QR.</a:t>
            </a:r>
          </a:p>
        </p:txBody>
      </p:sp>
      <p:sp>
        <p:nvSpPr>
          <p:cNvPr id="10" name="TextBox 9"/>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1" name="TextBox 10"/>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Synthetic data · seed 20261012</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11:10–11:20</a:t>
            </a:r>
          </a:p>
        </p:txBody>
      </p:sp>
      <p:sp>
        <p:nvSpPr>
          <p:cNvPr id="5" name="TextBox 4"/>
          <p:cNvSpPr txBox="1"/>
          <p:nvPr/>
        </p:nvSpPr>
        <p:spPr>
          <a:xfrm>
            <a:off x="594360" y="713232"/>
            <a:ext cx="11027664" cy="698017"/>
          </a:xfrm>
          <a:prstGeom prst="rect">
            <a:avLst/>
          </a:prstGeom>
          <a:noFill/>
        </p:spPr>
        <p:txBody>
          <a:bodyPr wrap="none" lIns="0" rIns="0" tIns="0" bIns="0">
            <a:spAutoFit/>
          </a:bodyPr>
          <a:lstStyle/>
          <a:p>
            <a:pPr>
              <a:lnSpc>
                <a:spcPct val="124000"/>
              </a:lnSpc>
              <a:spcBef>
                <a:spcPts val="0"/>
              </a:spcBef>
              <a:spcAft>
                <a:spcPts val="0"/>
              </a:spcAft>
              <a:defRPr sz="3619" b="1">
                <a:solidFill>
                  <a:srgbClr val="23252A"/>
                </a:solidFill>
                <a:latin typeface="DejaVu Sans"/>
              </a:defRPr>
            </a:pPr>
            <a:r>
              <a:t>Known experiment. Unknown coefficients.</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Three training flights; one held-out flight. 20 Hz, 8 s each.</a:t>
            </a:r>
          </a:p>
        </p:txBody>
      </p:sp>
      <p:pic>
        <p:nvPicPr>
          <p:cNvPr id="7" name="Picture 6" descr="data-hero.png"/>
          <p:cNvPicPr>
            <a:picLocks noChangeAspect="1"/>
          </p:cNvPicPr>
          <p:nvPr/>
        </p:nvPicPr>
        <p:blipFill>
          <a:blip r:embed="rId2"/>
          <a:stretch>
            <a:fillRect/>
          </a:stretch>
        </p:blipFill>
        <p:spPr>
          <a:xfrm>
            <a:off x="640080" y="1940707"/>
            <a:ext cx="10881360" cy="3878285"/>
          </a:xfrm>
          <a:prstGeom prst="rect">
            <a:avLst/>
          </a:prstGeom>
        </p:spPr>
      </p:pic>
      <p:sp>
        <p:nvSpPr>
          <p:cNvPr id="8" name="TextBox 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Speed variation helps separate linear and quadratic drag.</a:t>
            </a:r>
          </a:p>
        </p:txBody>
      </p:sp>
      <p:sp>
        <p:nvSpPr>
          <p:cNvPr id="9" name="TextBox 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0" name="TextBox 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JAX autodiff through generated physics + RK4</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11:20–11:30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Differentiate the prediction error</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Positive parameters; noise-scaled loss; bounded optimization</a:t>
            </a:r>
          </a:p>
        </p:txBody>
      </p:sp>
      <p:pic>
        <p:nvPicPr>
          <p:cNvPr id="7" name="Picture 6" descr="fit-workflow.png"/>
          <p:cNvPicPr>
            <a:picLocks noChangeAspect="1"/>
          </p:cNvPicPr>
          <p:nvPr/>
        </p:nvPicPr>
        <p:blipFill>
          <a:blip r:embed="rId2"/>
          <a:stretch>
            <a:fillRect/>
          </a:stretch>
        </p:blipFill>
        <p:spPr>
          <a:xfrm>
            <a:off x="781248" y="1907540"/>
            <a:ext cx="10599022" cy="3944620"/>
          </a:xfrm>
          <a:prstGeom prst="rect">
            <a:avLst/>
          </a:prstGeom>
        </p:spPr>
      </p:pic>
      <p:sp>
        <p:nvSpPr>
          <p:cNvPr id="8" name="TextBox 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JAX provides gradients. SciPy updates the coefficients.</a:t>
            </a:r>
          </a:p>
        </p:txBody>
      </p:sp>
      <p:sp>
        <p:nvSpPr>
          <p:cNvPr id="9" name="TextBox 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0" name="TextBox 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HANDS-ON · estimates ≈ 0.18042 and 0.07991</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11:30–11:50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Run the fit. Test the held-out flight.</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Open fit_drag.png and fit_drag.json; compare before and after.</a:t>
            </a:r>
          </a:p>
        </p:txBody>
      </p:sp>
      <p:pic>
        <p:nvPicPr>
          <p:cNvPr id="7" name="Picture 6" descr="fit-hero.png"/>
          <p:cNvPicPr>
            <a:picLocks noChangeAspect="1"/>
          </p:cNvPicPr>
          <p:nvPr/>
        </p:nvPicPr>
        <p:blipFill>
          <a:blip r:embed="rId2"/>
          <a:stretch>
            <a:fillRect/>
          </a:stretch>
        </p:blipFill>
        <p:spPr>
          <a:xfrm>
            <a:off x="1279611" y="1907540"/>
            <a:ext cx="9602296" cy="3578859"/>
          </a:xfrm>
          <a:prstGeom prst="rect">
            <a:avLst/>
          </a:prstGeom>
        </p:spPr>
      </p:pic>
      <p:sp>
        <p:nvSpPr>
          <p:cNvPr id="8" name="Rectangle 7"/>
          <p:cNvSpPr/>
          <p:nvPr/>
        </p:nvSpPr>
        <p:spPr>
          <a:xfrm>
            <a:off x="594360" y="5650992"/>
            <a:ext cx="11018520" cy="457200"/>
          </a:xfrm>
          <a:prstGeom prst="rect">
            <a:avLst/>
          </a:prstGeom>
          <a:solidFill>
            <a:srgbClr val="232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733288"/>
            <a:ext cx="107533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FFFFFF"/>
                </a:solidFill>
                <a:latin typeface="DejaVu Sans Mono"/>
              </a:defRPr>
            </a:pPr>
            <a:r>
              <a:t>uv run --frozen python scripts/fit_drag_jax.py</a:t>
            </a:r>
          </a:p>
        </p:txBody>
      </p:sp>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Two coefficients · lower loss · improved held-out prediction</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Checkpoint · go deeper at your own pace</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11:50–12:00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Check your result. Keep building.</a:t>
            </a:r>
          </a:p>
        </p:txBody>
      </p:sp>
      <p:sp>
        <p:nvSpPr>
          <p:cNvPr id="6" name="Rectangle 5"/>
          <p:cNvSpPr/>
          <p:nvPr/>
        </p:nvSpPr>
        <p:spPr>
          <a:xfrm>
            <a:off x="59436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459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Open your before-and-after</a:t>
            </a:r>
          </a:p>
          <a:p>
            <a:pPr>
              <a:lnSpc>
                <a:spcPct val="124000"/>
              </a:lnSpc>
              <a:spcBef>
                <a:spcPts val="0"/>
              </a:spcBef>
              <a:spcAft>
                <a:spcPts val="0"/>
              </a:spcAft>
              <a:defRPr sz="2700" b="0">
                <a:solidFill>
                  <a:srgbClr val="23252A"/>
                </a:solidFill>
                <a:latin typeface="DejaVu Sans"/>
              </a:defRPr>
            </a:pPr>
            <a:r>
              <a:t>prediction plot</a:t>
            </a:r>
          </a:p>
        </p:txBody>
      </p:sp>
      <p:sp>
        <p:nvSpPr>
          <p:cNvPr id="9" name="Rectangle 8"/>
          <p:cNvSpPr/>
          <p:nvPr/>
        </p:nvSpPr>
        <p:spPr>
          <a:xfrm>
            <a:off x="621792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6459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Compare the held-out flight</a:t>
            </a:r>
          </a:p>
          <a:p>
            <a:pPr>
              <a:lnSpc>
                <a:spcPct val="124000"/>
              </a:lnSpc>
              <a:spcBef>
                <a:spcPts val="0"/>
              </a:spcBef>
              <a:spcAft>
                <a:spcPts val="0"/>
              </a:spcAft>
              <a:defRPr sz="2700" b="0">
                <a:solidFill>
                  <a:srgbClr val="23252A"/>
                </a:solidFill>
                <a:latin typeface="DejaVu Sans"/>
              </a:defRPr>
            </a:pPr>
            <a:r>
              <a:t>and fitted values</a:t>
            </a:r>
          </a:p>
        </p:txBody>
      </p:sp>
      <p:sp>
        <p:nvSpPr>
          <p:cNvPr id="12" name="Rectangle 11"/>
          <p:cNvSpPr/>
          <p:nvPr/>
        </p:nvSpPr>
        <p:spPr>
          <a:xfrm>
            <a:off x="59436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4747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Stretch: rerun from another</a:t>
            </a:r>
          </a:p>
          <a:p>
            <a:pPr>
              <a:lnSpc>
                <a:spcPct val="124000"/>
              </a:lnSpc>
              <a:spcBef>
                <a:spcPts val="0"/>
              </a:spcBef>
              <a:spcAft>
                <a:spcPts val="0"/>
              </a:spcAft>
              <a:defRPr sz="2700" b="0">
                <a:solidFill>
                  <a:srgbClr val="23252A"/>
                </a:solidFill>
                <a:latin typeface="DejaVu Sans"/>
              </a:defRPr>
            </a:pPr>
            <a:r>
              <a:t>starting guess</a:t>
            </a:r>
          </a:p>
        </p:txBody>
      </p:sp>
      <p:sp>
        <p:nvSpPr>
          <p:cNvPr id="15" name="Rectangle 14"/>
          <p:cNvSpPr/>
          <p:nvPr/>
        </p:nvSpPr>
        <p:spPr>
          <a:xfrm>
            <a:off x="621792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4747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App builders: keep your</a:t>
            </a:r>
          </a:p>
          <a:p>
            <a:pPr>
              <a:lnSpc>
                <a:spcPct val="124000"/>
              </a:lnSpc>
              <a:spcBef>
                <a:spcPts val="0"/>
              </a:spcBef>
              <a:spcAft>
                <a:spcPts val="0"/>
              </a:spcAft>
              <a:defRPr sz="2700" b="0">
                <a:solidFill>
                  <a:srgbClr val="23252A"/>
                </a:solidFill>
                <a:latin typeface="DejaVu Sans"/>
              </a:defRPr>
            </a:pPr>
            <a:r>
              <a:t>prototype moving</a:t>
            </a:r>
          </a:p>
        </p:txBody>
      </p:sp>
      <p:sp>
        <p:nvSpPr>
          <p:cNvPr id="18" name="TextBox 1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Fit complete? Continue your app or explore the optional checks.</a:t>
            </a:r>
          </a:p>
        </p:txBody>
      </p:sp>
      <p:sp>
        <p:nvSpPr>
          <p:cNvPr id="19" name="TextBox 1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20" name="TextBox 1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Ten full minutes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12:00–12:10</a:t>
            </a:r>
          </a:p>
        </p:txBody>
      </p:sp>
      <p:sp>
        <p:nvSpPr>
          <p:cNvPr id="5" name="TextBox 4"/>
          <p:cNvSpPr txBox="1"/>
          <p:nvPr/>
        </p:nvSpPr>
        <p:spPr>
          <a:xfrm>
            <a:off x="594360" y="1097280"/>
            <a:ext cx="11027664" cy="915416"/>
          </a:xfrm>
          <a:prstGeom prst="rect">
            <a:avLst/>
          </a:prstGeom>
          <a:noFill/>
        </p:spPr>
        <p:txBody>
          <a:bodyPr wrap="none" lIns="0" rIns="0" tIns="0" bIns="0">
            <a:spAutoFit/>
          </a:bodyPr>
          <a:lstStyle/>
          <a:p>
            <a:pPr>
              <a:lnSpc>
                <a:spcPct val="124000"/>
              </a:lnSpc>
              <a:spcBef>
                <a:spcPts val="0"/>
              </a:spcBef>
              <a:spcAft>
                <a:spcPts val="0"/>
              </a:spcAft>
              <a:defRPr sz="5000" b="1">
                <a:solidFill>
                  <a:srgbClr val="23252A"/>
                </a:solidFill>
                <a:latin typeface="DejaVu Sans"/>
              </a:defRPr>
            </a:pPr>
            <a:r>
              <a:t>Break · back at 12:10</a:t>
            </a:r>
          </a:p>
        </p:txBody>
      </p:sp>
      <p:sp>
        <p:nvSpPr>
          <p:cNvPr id="6" name="TextBox 5"/>
          <p:cNvSpPr txBox="1"/>
          <p:nvPr/>
        </p:nvSpPr>
        <p:spPr>
          <a:xfrm>
            <a:off x="640080" y="2743200"/>
            <a:ext cx="10753344" cy="568959"/>
          </a:xfrm>
          <a:prstGeom prst="rect">
            <a:avLst/>
          </a:prstGeom>
          <a:noFill/>
        </p:spPr>
        <p:txBody>
          <a:bodyPr wrap="none" lIns="0" rIns="0" tIns="0" bIns="0">
            <a:spAutoFit/>
          </a:bodyPr>
          <a:lstStyle/>
          <a:p>
            <a:pPr>
              <a:lnSpc>
                <a:spcPct val="124000"/>
              </a:lnSpc>
              <a:spcBef>
                <a:spcPts val="0"/>
              </a:spcBef>
              <a:spcAft>
                <a:spcPts val="0"/>
              </a:spcAft>
              <a:defRPr sz="2800" b="0">
                <a:solidFill>
                  <a:srgbClr val="23252A"/>
                </a:solidFill>
                <a:latin typeface="DejaVu Sans"/>
              </a:defRPr>
            </a:pPr>
            <a:r>
              <a:t>Keep results/live/fit_drag.json.</a:t>
            </a:r>
          </a:p>
        </p:txBody>
      </p:sp>
      <p:sp>
        <p:nvSpPr>
          <p:cNvPr id="7" name="TextBox 6"/>
          <p:cNvSpPr txBox="1"/>
          <p:nvPr/>
        </p:nvSpPr>
        <p:spPr>
          <a:xfrm>
            <a:off x="640080" y="3513328"/>
            <a:ext cx="10753344" cy="568959"/>
          </a:xfrm>
          <a:prstGeom prst="rect">
            <a:avLst/>
          </a:prstGeom>
          <a:noFill/>
        </p:spPr>
        <p:txBody>
          <a:bodyPr wrap="none" lIns="0" rIns="0" tIns="0" bIns="0">
            <a:spAutoFit/>
          </a:bodyPr>
          <a:lstStyle/>
          <a:p>
            <a:pPr>
              <a:lnSpc>
                <a:spcPct val="124000"/>
              </a:lnSpc>
              <a:spcBef>
                <a:spcPts val="0"/>
              </a:spcBef>
              <a:spcAft>
                <a:spcPts val="0"/>
              </a:spcAft>
              <a:defRPr sz="2800" b="0">
                <a:solidFill>
                  <a:srgbClr val="23252A"/>
                </a:solidFill>
                <a:latin typeface="DejaVu Sans"/>
              </a:defRPr>
            </a:pPr>
            <a:r>
              <a:t>Next: use your coefficients to optimize a flight.</a:t>
            </a:r>
          </a:p>
        </p:txBody>
      </p:sp>
      <p:sp>
        <p:nvSpPr>
          <p:cNvPr id="8" name="TextBox 7"/>
          <p:cNvSpPr txBox="1"/>
          <p:nvPr/>
        </p:nvSpPr>
        <p:spPr>
          <a:xfrm>
            <a:off x="640080" y="4283456"/>
            <a:ext cx="10753344" cy="568959"/>
          </a:xfrm>
          <a:prstGeom prst="rect">
            <a:avLst/>
          </a:prstGeom>
          <a:noFill/>
        </p:spPr>
        <p:txBody>
          <a:bodyPr wrap="none" lIns="0" rIns="0" tIns="0" bIns="0">
            <a:spAutoFit/>
          </a:bodyPr>
          <a:lstStyle/>
          <a:p>
            <a:pPr>
              <a:lnSpc>
                <a:spcPct val="124000"/>
              </a:lnSpc>
              <a:spcBef>
                <a:spcPts val="0"/>
              </a:spcBef>
              <a:spcAft>
                <a:spcPts val="0"/>
              </a:spcAft>
              <a:defRPr sz="2800" b="0">
                <a:solidFill>
                  <a:srgbClr val="23252A"/>
                </a:solidFill>
                <a:latin typeface="DejaVu Sans"/>
              </a:defRPr>
            </a:pPr>
            <a:r>
              <a:t>Recovery: results/reference/fit_drag.png</a:t>
            </a:r>
          </a:p>
        </p:txBody>
      </p:sp>
      <p:sp>
        <p:nvSpPr>
          <p:cNvPr id="9" name="TextBox 8"/>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Same Modelica source; now compile to CasADi.</a:t>
            </a:r>
          </a:p>
        </p:txBody>
      </p:sp>
      <p:sp>
        <p:nvSpPr>
          <p:cNvPr id="10" name="TextBox 9"/>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1" name="TextBox 10"/>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CasADi symbolic dynamics · IPOPT local NLP</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12:10–12:20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Move between hovers, respect limits</a:t>
            </a:r>
          </a:p>
        </p:txBody>
      </p:sp>
      <p:sp>
        <p:nvSpPr>
          <p:cNvPr id="6" name="TextBox 5"/>
          <p:cNvSpPr txBox="1"/>
          <p:nvPr/>
        </p:nvSpPr>
        <p:spPr>
          <a:xfrm>
            <a:off x="640080" y="1645920"/>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(0, 1) m → (4, 2) m in</a:t>
            </a:r>
          </a:p>
          <a:p>
            <a:pPr>
              <a:lnSpc>
                <a:spcPct val="124000"/>
              </a:lnSpc>
              <a:spcBef>
                <a:spcPts val="0"/>
              </a:spcBef>
              <a:spcAft>
                <a:spcPts val="0"/>
              </a:spcAft>
              <a:defRPr sz="2700" b="0">
                <a:solidFill>
                  <a:srgbClr val="23252A"/>
                </a:solidFill>
                <a:latin typeface="DejaVu Sans"/>
              </a:defRPr>
            </a:pPr>
            <a:r>
              <a:t>6 s</a:t>
            </a:r>
          </a:p>
        </p:txBody>
      </p:sp>
      <p:sp>
        <p:nvSpPr>
          <p:cNvPr id="7" name="TextBox 6"/>
          <p:cNvSpPr txBox="1"/>
          <p:nvPr/>
        </p:nvSpPr>
        <p:spPr>
          <a:xfrm>
            <a:off x="640080" y="2862072"/>
            <a:ext cx="3986783" cy="1403604"/>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Track target; limit</a:t>
            </a:r>
          </a:p>
          <a:p>
            <a:pPr>
              <a:lnSpc>
                <a:spcPct val="124000"/>
              </a:lnSpc>
              <a:spcBef>
                <a:spcPts val="0"/>
              </a:spcBef>
              <a:spcAft>
                <a:spcPts val="0"/>
              </a:spcAft>
              <a:defRPr sz="2700" b="0">
                <a:solidFill>
                  <a:srgbClr val="23252A"/>
                </a:solidFill>
                <a:latin typeface="DejaVu Sans"/>
              </a:defRPr>
            </a:pPr>
            <a:r>
              <a:t>effort and control</a:t>
            </a:r>
          </a:p>
          <a:p>
            <a:pPr>
              <a:lnSpc>
                <a:spcPct val="124000"/>
              </a:lnSpc>
              <a:spcBef>
                <a:spcPts val="0"/>
              </a:spcBef>
              <a:spcAft>
                <a:spcPts val="0"/>
              </a:spcAft>
              <a:defRPr sz="2700" b="0">
                <a:solidFill>
                  <a:srgbClr val="23252A"/>
                </a:solidFill>
                <a:latin typeface="DejaVu Sans"/>
              </a:defRPr>
            </a:pPr>
            <a:r>
              <a:t>changes</a:t>
            </a:r>
          </a:p>
        </p:txBody>
      </p:sp>
      <p:sp>
        <p:nvSpPr>
          <p:cNvPr id="8" name="TextBox 7"/>
          <p:cNvSpPr txBox="1"/>
          <p:nvPr/>
        </p:nvSpPr>
        <p:spPr>
          <a:xfrm>
            <a:off x="640080" y="4503420"/>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Bound thrust, torque,</a:t>
            </a:r>
          </a:p>
          <a:p>
            <a:pPr>
              <a:lnSpc>
                <a:spcPct val="124000"/>
              </a:lnSpc>
              <a:spcBef>
                <a:spcPts val="0"/>
              </a:spcBef>
              <a:spcAft>
                <a:spcPts val="0"/>
              </a:spcAft>
              <a:defRPr sz="2700" b="0">
                <a:solidFill>
                  <a:srgbClr val="23252A"/>
                </a:solidFill>
                <a:latin typeface="DejaVu Sans"/>
              </a:defRPr>
            </a:pPr>
            <a:r>
              <a:t>pitch and altitude</a:t>
            </a:r>
          </a:p>
        </p:txBody>
      </p:sp>
      <p:pic>
        <p:nvPicPr>
          <p:cNvPr id="9" name="Picture 8" descr="control-problem.png"/>
          <p:cNvPicPr>
            <a:picLocks noChangeAspect="1"/>
          </p:cNvPicPr>
          <p:nvPr/>
        </p:nvPicPr>
        <p:blipFill>
          <a:blip r:embed="rId2"/>
          <a:stretch>
            <a:fillRect/>
          </a:stretch>
        </p:blipFill>
        <p:spPr>
          <a:xfrm>
            <a:off x="4754880" y="2070716"/>
            <a:ext cx="6857999" cy="2716566"/>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Identified drag is an input to this optimization.</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HANDS-ON · fitted physics, constrained trajectory</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12:20–12:40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Solve. Inspect. Explain the braking.</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Open optimization.png and optimization.json.</a:t>
            </a:r>
          </a:p>
        </p:txBody>
      </p:sp>
      <p:pic>
        <p:nvPicPr>
          <p:cNvPr id="7" name="Picture 6" descr="control-hero.png"/>
          <p:cNvPicPr>
            <a:picLocks noChangeAspect="1"/>
          </p:cNvPicPr>
          <p:nvPr/>
        </p:nvPicPr>
        <p:blipFill>
          <a:blip r:embed="rId2"/>
          <a:stretch>
            <a:fillRect/>
          </a:stretch>
        </p:blipFill>
        <p:spPr>
          <a:xfrm>
            <a:off x="1279611" y="1907540"/>
            <a:ext cx="9602296" cy="3578859"/>
          </a:xfrm>
          <a:prstGeom prst="rect">
            <a:avLst/>
          </a:prstGeom>
        </p:spPr>
      </p:pic>
      <p:sp>
        <p:nvSpPr>
          <p:cNvPr id="8" name="Rectangle 7"/>
          <p:cNvSpPr/>
          <p:nvPr/>
        </p:nvSpPr>
        <p:spPr>
          <a:xfrm>
            <a:off x="594360" y="5650992"/>
            <a:ext cx="11018520" cy="457200"/>
          </a:xfrm>
          <a:prstGeom prst="rect">
            <a:avLst/>
          </a:prstGeom>
          <a:solidFill>
            <a:srgbClr val="232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733288"/>
            <a:ext cx="107533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FFFFFF"/>
                </a:solidFill>
                <a:latin typeface="DejaVu Sans Mono"/>
              </a:defRPr>
            </a:pPr>
            <a:r>
              <a:t>uv run --frozen python scripts/optimize_casadi.py</a:t>
            </a:r>
          </a:p>
        </p:txBody>
      </p:sp>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Solve_Succeeded · limits respected · arrive near rest</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Public Purdue / CogniPilot work · separate from today’s demo</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12:40–12:45</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Bring the model back to the experiment</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PURT: aircraft experiments, racing and security applications</a:t>
            </a:r>
          </a:p>
        </p:txBody>
      </p:sp>
      <p:pic>
        <p:nvPicPr>
          <p:cNvPr id="7" name="Picture 6" descr="research-loop.png"/>
          <p:cNvPicPr>
            <a:picLocks noChangeAspect="1"/>
          </p:cNvPicPr>
          <p:nvPr/>
        </p:nvPicPr>
        <p:blipFill>
          <a:blip r:embed="rId2"/>
          <a:stretch>
            <a:fillRect/>
          </a:stretch>
        </p:blipFill>
        <p:spPr>
          <a:xfrm>
            <a:off x="640080" y="2073332"/>
            <a:ext cx="10881360" cy="3613034"/>
          </a:xfrm>
          <a:prstGeom prst="rect">
            <a:avLst/>
          </a:prstGeom>
        </p:spPr>
      </p:pic>
      <p:sp>
        <p:nvSpPr>
          <p:cNvPr id="8" name="TextBox 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Experimental validation is the next engineering step.</a:t>
            </a:r>
          </a:p>
        </p:txBody>
      </p:sp>
      <p:sp>
        <p:nvSpPr>
          <p:cNvPr id="9" name="TextBox 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0" name="TextBox 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AGENT-BUILT APPS · try fixed-wing or finish your own demo</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12:45–12:50</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Explore the fixed-wing workbench</a:t>
            </a:r>
          </a:p>
        </p:txBody>
      </p:sp>
      <p:sp>
        <p:nvSpPr>
          <p:cNvPr id="6" name="TextBox 5"/>
          <p:cNvSpPr txBox="1"/>
          <p:nvPr/>
        </p:nvSpPr>
        <p:spPr>
          <a:xfrm>
            <a:off x="640080" y="1645920"/>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Modelica flight</a:t>
            </a:r>
          </a:p>
          <a:p>
            <a:pPr>
              <a:lnSpc>
                <a:spcPct val="124000"/>
              </a:lnSpc>
              <a:spcBef>
                <a:spcPts val="0"/>
              </a:spcBef>
              <a:spcAft>
                <a:spcPts val="0"/>
              </a:spcAft>
              <a:defRPr sz="2700" b="0">
                <a:solidFill>
                  <a:srgbClr val="23252A"/>
                </a:solidFill>
                <a:latin typeface="DejaVu Sans"/>
              </a:defRPr>
            </a:pPr>
            <a:r>
              <a:t>simulation + autopilot</a:t>
            </a:r>
          </a:p>
        </p:txBody>
      </p:sp>
      <p:sp>
        <p:nvSpPr>
          <p:cNvPr id="7" name="TextBox 6"/>
          <p:cNvSpPr txBox="1"/>
          <p:nvPr/>
        </p:nvSpPr>
        <p:spPr>
          <a:xfrm>
            <a:off x="640080" y="2862072"/>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Try 50 Hz → 20 Hz,</a:t>
            </a:r>
          </a:p>
          <a:p>
            <a:pPr>
              <a:lnSpc>
                <a:spcPct val="124000"/>
              </a:lnSpc>
              <a:spcBef>
                <a:spcPts val="0"/>
              </a:spcBef>
              <a:spcAft>
                <a:spcPts val="0"/>
              </a:spcAft>
              <a:defRPr sz="2700" b="0">
                <a:solidFill>
                  <a:srgbClr val="23252A"/>
                </a:solidFill>
                <a:latin typeface="DejaVu Sans"/>
              </a:defRPr>
            </a:pPr>
            <a:r>
              <a:t>restart, then observe</a:t>
            </a:r>
          </a:p>
        </p:txBody>
      </p:sp>
      <p:sp>
        <p:nvSpPr>
          <p:cNvPr id="8" name="TextBox 7"/>
          <p:cNvSpPr txBox="1"/>
          <p:nvPr/>
        </p:nvSpPr>
        <p:spPr>
          <a:xfrm>
            <a:off x="640080" y="4078224"/>
            <a:ext cx="3986783" cy="1403604"/>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Also: slam_web (in</a:t>
            </a:r>
          </a:p>
          <a:p>
            <a:pPr>
              <a:lnSpc>
                <a:spcPct val="124000"/>
              </a:lnSpc>
              <a:spcBef>
                <a:spcPts val="0"/>
              </a:spcBef>
              <a:spcAft>
                <a:spcPts val="0"/>
              </a:spcAft>
              <a:defRPr sz="2700" b="0">
                <a:solidFill>
                  <a:srgbClr val="23252A"/>
                </a:solidFill>
                <a:latin typeface="DejaVu Sans"/>
              </a:defRPr>
            </a:pPr>
            <a:r>
              <a:t>development),</a:t>
            </a:r>
          </a:p>
          <a:p>
            <a:pPr>
              <a:lnSpc>
                <a:spcPct val="124000"/>
              </a:lnSpc>
              <a:spcBef>
                <a:spcPts val="0"/>
              </a:spcBef>
              <a:spcAft>
                <a:spcPts val="0"/>
              </a:spcAft>
              <a:defRPr sz="2700" b="0">
                <a:solidFill>
                  <a:srgbClr val="23252A"/>
                </a:solidFill>
                <a:latin typeface="DejaVu Sans"/>
              </a:defRPr>
            </a:pPr>
            <a:r>
              <a:t>mocap_sysid</a:t>
            </a:r>
          </a:p>
        </p:txBody>
      </p:sp>
      <p:pic>
        <p:nvPicPr>
          <p:cNvPr id="9" name="Picture 8" descr="app-rumoca_fixed_wing.png"/>
          <p:cNvPicPr>
            <a:picLocks noChangeAspect="1"/>
          </p:cNvPicPr>
          <p:nvPr/>
        </p:nvPicPr>
        <p:blipFill>
          <a:blip r:embed="rId2"/>
          <a:stretch>
            <a:fillRect/>
          </a:stretch>
        </p:blipFill>
        <p:spPr>
          <a:xfrm>
            <a:off x="4965192" y="1417320"/>
            <a:ext cx="6437376" cy="4023360"/>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Live links + short experiments: BROWSER_APPS.md</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OPEN CHALLENGE · short demos · audience show of hands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12:50–12:55</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Show your app. Vote for the cap.</a:t>
            </a:r>
          </a:p>
        </p:txBody>
      </p:sp>
      <p:sp>
        <p:nvSpPr>
          <p:cNvPr id="6" name="TextBox 5"/>
          <p:cNvSpPr txBox="1"/>
          <p:nvPr/>
        </p:nvSpPr>
        <p:spPr>
          <a:xfrm>
            <a:off x="685800" y="1828800"/>
            <a:ext cx="10844784" cy="60045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Show one working interaction and your GitHub repo</a:t>
            </a:r>
          </a:p>
        </p:txBody>
      </p:sp>
      <p:sp>
        <p:nvSpPr>
          <p:cNvPr id="7" name="TextBox 6"/>
          <p:cNvSpPr txBox="1"/>
          <p:nvPr/>
        </p:nvSpPr>
        <p:spPr>
          <a:xfrm>
            <a:off x="685800" y="2767583"/>
            <a:ext cx="10844784" cy="60045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Explain your contribution and one result you checked</a:t>
            </a:r>
          </a:p>
        </p:txBody>
      </p:sp>
      <p:sp>
        <p:nvSpPr>
          <p:cNvPr id="8" name="TextBox 7"/>
          <p:cNvSpPr txBox="1"/>
          <p:nvPr/>
        </p:nvSpPr>
        <p:spPr>
          <a:xfrm>
            <a:off x="685800" y="3706367"/>
            <a:ext cx="10844784" cy="60045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Audience favorite wins a free CogniPilot stocking cap</a:t>
            </a:r>
          </a:p>
        </p:txBody>
      </p:sp>
      <p:sp>
        <p:nvSpPr>
          <p:cNvPr id="9" name="TextBox 8"/>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Short participant demos → one show-of-hands vote per person</a:t>
            </a:r>
          </a:p>
        </p:txBody>
      </p:sp>
      <p:sp>
        <p:nvSpPr>
          <p:cNvPr id="10" name="TextBox 9"/>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1" name="TextBox 10"/>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Keep the model. Change the question.</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12:55–13:00</a:t>
            </a:r>
          </a:p>
        </p:txBody>
      </p:sp>
      <p:sp>
        <p:nvSpPr>
          <p:cNvPr id="5" name="TextBox 4"/>
          <p:cNvSpPr txBox="1"/>
          <p:nvPr/>
        </p:nvSpPr>
        <p:spPr>
          <a:xfrm>
            <a:off x="594360" y="1051560"/>
            <a:ext cx="10021824" cy="1765808"/>
          </a:xfrm>
          <a:prstGeom prst="rect">
            <a:avLst/>
          </a:prstGeom>
          <a:noFill/>
        </p:spPr>
        <p:txBody>
          <a:bodyPr wrap="none" lIns="0" rIns="0" tIns="0" bIns="0">
            <a:spAutoFit/>
          </a:bodyPr>
          <a:lstStyle/>
          <a:p>
            <a:pPr>
              <a:lnSpc>
                <a:spcPct val="124000"/>
              </a:lnSpc>
              <a:spcBef>
                <a:spcPts val="0"/>
              </a:spcBef>
              <a:spcAft>
                <a:spcPts val="0"/>
              </a:spcAft>
              <a:defRPr sz="5200" b="1">
                <a:solidFill>
                  <a:srgbClr val="23252A"/>
                </a:solidFill>
                <a:latin typeface="DejaVu Sans"/>
              </a:defRPr>
            </a:pPr>
            <a:r>
              <a:t>Questions + your next</a:t>
            </a:r>
          </a:p>
          <a:p>
            <a:pPr>
              <a:lnSpc>
                <a:spcPct val="124000"/>
              </a:lnSpc>
              <a:spcBef>
                <a:spcPts val="0"/>
              </a:spcBef>
              <a:spcAft>
                <a:spcPts val="0"/>
              </a:spcAft>
              <a:defRPr sz="5200" b="1">
                <a:solidFill>
                  <a:srgbClr val="23252A"/>
                </a:solidFill>
                <a:latin typeface="DejaVu Sans"/>
              </a:defRPr>
            </a:pPr>
            <a:r>
              <a:t>problem</a:t>
            </a:r>
          </a:p>
        </p:txBody>
      </p:sp>
      <p:sp>
        <p:nvSpPr>
          <p:cNvPr id="6" name="TextBox 5"/>
          <p:cNvSpPr txBox="1"/>
          <p:nvPr/>
        </p:nvSpPr>
        <p:spPr>
          <a:xfrm>
            <a:off x="640080" y="3018536"/>
            <a:ext cx="7918704" cy="915416"/>
          </a:xfrm>
          <a:prstGeom prst="rect">
            <a:avLst/>
          </a:prstGeom>
          <a:noFill/>
        </p:spPr>
        <p:txBody>
          <a:bodyPr wrap="none" lIns="0" rIns="0" tIns="0" bIns="0">
            <a:spAutoFit/>
          </a:bodyPr>
          <a:lstStyle/>
          <a:p>
            <a:pPr>
              <a:lnSpc>
                <a:spcPct val="124000"/>
              </a:lnSpc>
              <a:spcBef>
                <a:spcPts val="0"/>
              </a:spcBef>
              <a:spcAft>
                <a:spcPts val="0"/>
              </a:spcAft>
              <a:defRPr sz="2500" b="0">
                <a:solidFill>
                  <a:srgbClr val="23252A"/>
                </a:solidFill>
                <a:latin typeface="DejaVu Sans"/>
              </a:defRPr>
            </a:pPr>
            <a:r>
              <a:t>Bring a modeling, identification or optimization</a:t>
            </a:r>
          </a:p>
          <a:p>
            <a:pPr>
              <a:lnSpc>
                <a:spcPct val="124000"/>
              </a:lnSpc>
              <a:spcBef>
                <a:spcPts val="0"/>
              </a:spcBef>
              <a:spcAft>
                <a:spcPts val="0"/>
              </a:spcAft>
              <a:defRPr sz="2500" b="0">
                <a:solidFill>
                  <a:srgbClr val="23252A"/>
                </a:solidFill>
                <a:latin typeface="DejaVu Sans"/>
              </a:defRPr>
            </a:pPr>
            <a:r>
              <a:t>problem</a:t>
            </a:r>
          </a:p>
        </p:txBody>
      </p:sp>
      <p:sp>
        <p:nvSpPr>
          <p:cNvPr id="7" name="TextBox 6"/>
          <p:cNvSpPr txBox="1"/>
          <p:nvPr/>
        </p:nvSpPr>
        <p:spPr>
          <a:xfrm>
            <a:off x="640080" y="4061968"/>
            <a:ext cx="7918704" cy="915416"/>
          </a:xfrm>
          <a:prstGeom prst="rect">
            <a:avLst/>
          </a:prstGeom>
          <a:noFill/>
        </p:spPr>
        <p:txBody>
          <a:bodyPr wrap="none" lIns="0" rIns="0" tIns="0" bIns="0">
            <a:spAutoFit/>
          </a:bodyPr>
          <a:lstStyle/>
          <a:p>
            <a:pPr>
              <a:lnSpc>
                <a:spcPct val="124000"/>
              </a:lnSpc>
              <a:spcBef>
                <a:spcPts val="0"/>
              </a:spcBef>
              <a:spcAft>
                <a:spcPts val="0"/>
              </a:spcAft>
              <a:defRPr sz="2500" b="0">
                <a:solidFill>
                  <a:srgbClr val="23252A"/>
                </a:solidFill>
                <a:latin typeface="DejaVu Sans"/>
              </a:defRPr>
            </a:pPr>
            <a:r>
              <a:t>Share a reproducible model and a measurable</a:t>
            </a:r>
          </a:p>
          <a:p>
            <a:pPr>
              <a:lnSpc>
                <a:spcPct val="124000"/>
              </a:lnSpc>
              <a:spcBef>
                <a:spcPts val="0"/>
              </a:spcBef>
              <a:spcAft>
                <a:spcPts val="0"/>
              </a:spcAft>
              <a:defRPr sz="2500" b="0">
                <a:solidFill>
                  <a:srgbClr val="23252A"/>
                </a:solidFill>
                <a:latin typeface="DejaVu Sans"/>
              </a:defRPr>
            </a:pPr>
            <a:r>
              <a:t>result</a:t>
            </a:r>
          </a:p>
        </p:txBody>
      </p:sp>
      <p:sp>
        <p:nvSpPr>
          <p:cNvPr id="8" name="TextBox 7"/>
          <p:cNvSpPr txBox="1"/>
          <p:nvPr/>
        </p:nvSpPr>
        <p:spPr>
          <a:xfrm>
            <a:off x="640080" y="5105400"/>
            <a:ext cx="7918704" cy="915416"/>
          </a:xfrm>
          <a:prstGeom prst="rect">
            <a:avLst/>
          </a:prstGeom>
          <a:noFill/>
        </p:spPr>
        <p:txBody>
          <a:bodyPr wrap="none" lIns="0" rIns="0" tIns="0" bIns="0">
            <a:spAutoFit/>
          </a:bodyPr>
          <a:lstStyle/>
          <a:p>
            <a:pPr>
              <a:lnSpc>
                <a:spcPct val="124000"/>
              </a:lnSpc>
              <a:spcBef>
                <a:spcPts val="0"/>
              </a:spcBef>
              <a:spcAft>
                <a:spcPts val="0"/>
              </a:spcAft>
              <a:defRPr sz="2500" b="0">
                <a:solidFill>
                  <a:srgbClr val="23252A"/>
                </a:solidFill>
                <a:latin typeface="DejaVu Sans"/>
              </a:defRPr>
            </a:pPr>
            <a:r>
              <a:t>Collaborate with Purdue and the open-source</a:t>
            </a:r>
          </a:p>
          <a:p>
            <a:pPr>
              <a:lnSpc>
                <a:spcPct val="124000"/>
              </a:lnSpc>
              <a:spcBef>
                <a:spcPts val="0"/>
              </a:spcBef>
              <a:spcAft>
                <a:spcPts val="0"/>
              </a:spcAft>
              <a:defRPr sz="2500" b="0">
                <a:solidFill>
                  <a:srgbClr val="23252A"/>
                </a:solidFill>
                <a:latin typeface="DejaVu Sans"/>
              </a:defRPr>
            </a:pPr>
            <a:r>
              <a:t>community</a:t>
            </a:r>
          </a:p>
        </p:txBody>
      </p:sp>
      <p:pic>
        <p:nvPicPr>
          <p:cNvPr id="9" name="Picture 8" descr="repo-qr.png"/>
          <p:cNvPicPr>
            <a:picLocks noChangeAspect="1"/>
          </p:cNvPicPr>
          <p:nvPr/>
        </p:nvPicPr>
        <p:blipFill>
          <a:blip r:embed="rId2"/>
          <a:stretch>
            <a:fillRect/>
          </a:stretch>
        </p:blipFill>
        <p:spPr>
          <a:xfrm>
            <a:off x="9144000" y="2743200"/>
            <a:ext cx="2148840" cy="2148840"/>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github.com/CogniPilot/rumoca_workshop_amc2026</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Scope matters · MATH_REVIEW.md</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Appendix</a:t>
            </a:r>
          </a:p>
        </p:txBody>
      </p:sp>
      <p:sp>
        <p:nvSpPr>
          <p:cNvPr id="5" name="TextBox 4"/>
          <p:cNvSpPr txBox="1"/>
          <p:nvPr/>
        </p:nvSpPr>
        <p:spPr>
          <a:xfrm>
            <a:off x="594360" y="713232"/>
            <a:ext cx="11027664" cy="708828"/>
          </a:xfrm>
          <a:prstGeom prst="rect">
            <a:avLst/>
          </a:prstGeom>
          <a:noFill/>
        </p:spPr>
        <p:txBody>
          <a:bodyPr wrap="none" lIns="0" rIns="0" tIns="0" bIns="0">
            <a:spAutoFit/>
          </a:bodyPr>
          <a:lstStyle/>
          <a:p>
            <a:pPr>
              <a:lnSpc>
                <a:spcPct val="124000"/>
              </a:lnSpc>
              <a:spcBef>
                <a:spcPts val="0"/>
              </a:spcBef>
              <a:spcAft>
                <a:spcPts val="0"/>
              </a:spcAft>
              <a:defRPr sz="3688" b="1">
                <a:solidFill>
                  <a:srgbClr val="23252A"/>
                </a:solidFill>
                <a:latin typeface="DejaVu Sans"/>
              </a:defRPr>
            </a:pPr>
            <a:r>
              <a:t>Exact-real proofs and numerical evidence</a:t>
            </a:r>
          </a:p>
        </p:txBody>
      </p:sp>
      <p:sp>
        <p:nvSpPr>
          <p:cNvPr id="6" name="TextBox 5"/>
          <p:cNvSpPr txBox="1"/>
          <p:nvPr/>
        </p:nvSpPr>
        <p:spPr>
          <a:xfrm>
            <a:off x="640080" y="1645920"/>
            <a:ext cx="3986783" cy="1403604"/>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Lean: equation</a:t>
            </a:r>
          </a:p>
          <a:p>
            <a:pPr>
              <a:lnSpc>
                <a:spcPct val="124000"/>
              </a:lnSpc>
              <a:spcBef>
                <a:spcPts val="0"/>
              </a:spcBef>
              <a:spcAft>
                <a:spcPts val="0"/>
              </a:spcAft>
              <a:defRPr sz="2700" b="0">
                <a:solidFill>
                  <a:srgbClr val="23252A"/>
                </a:solidFill>
                <a:latin typeface="DejaVu Sans"/>
              </a:defRPr>
            </a:pPr>
            <a:r>
              <a:t>equality and</a:t>
            </a:r>
          </a:p>
          <a:p>
            <a:pPr>
              <a:lnSpc>
                <a:spcPct val="124000"/>
              </a:lnSpc>
              <a:spcBef>
                <a:spcPts val="0"/>
              </a:spcBef>
              <a:spcAft>
                <a:spcPts val="0"/>
              </a:spcAft>
              <a:defRPr sz="2700" b="0">
                <a:solidFill>
                  <a:srgbClr val="23252A"/>
                </a:solidFill>
                <a:latin typeface="DejaVu Sans"/>
              </a:defRPr>
            </a:pPr>
            <a:r>
              <a:t>invariants</a:t>
            </a:r>
          </a:p>
        </p:txBody>
      </p:sp>
      <p:sp>
        <p:nvSpPr>
          <p:cNvPr id="7" name="TextBox 6"/>
          <p:cNvSpPr txBox="1"/>
          <p:nvPr/>
        </p:nvSpPr>
        <p:spPr>
          <a:xfrm>
            <a:off x="640080" y="3287268"/>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Audit: gradients,</a:t>
            </a:r>
          </a:p>
          <a:p>
            <a:pPr>
              <a:lnSpc>
                <a:spcPct val="124000"/>
              </a:lnSpc>
              <a:spcBef>
                <a:spcPts val="0"/>
              </a:spcBef>
              <a:spcAft>
                <a:spcPts val="0"/>
              </a:spcAft>
              <a:defRPr sz="2700" b="0">
                <a:solidFill>
                  <a:srgbClr val="23252A"/>
                </a:solidFill>
                <a:latin typeface="DejaVu Sans"/>
              </a:defRPr>
            </a:pPr>
            <a:r>
              <a:t>profiles, integration</a:t>
            </a:r>
          </a:p>
        </p:txBody>
      </p:sp>
      <p:sp>
        <p:nvSpPr>
          <p:cNvPr id="8" name="TextBox 7"/>
          <p:cNvSpPr txBox="1"/>
          <p:nvPr/>
        </p:nvSpPr>
        <p:spPr>
          <a:xfrm>
            <a:off x="640080" y="4503420"/>
            <a:ext cx="39867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Papers: model and</a:t>
            </a:r>
          </a:p>
          <a:p>
            <a:pPr>
              <a:lnSpc>
                <a:spcPct val="124000"/>
              </a:lnSpc>
              <a:spcBef>
                <a:spcPts val="0"/>
              </a:spcBef>
              <a:spcAft>
                <a:spcPts val="0"/>
              </a:spcAft>
              <a:defRPr sz="2700" b="0">
                <a:solidFill>
                  <a:srgbClr val="23252A"/>
                </a:solidFill>
                <a:latin typeface="DejaVu Sans"/>
              </a:defRPr>
            </a:pPr>
            <a:r>
              <a:t>method choices</a:t>
            </a:r>
          </a:p>
        </p:txBody>
      </p:sp>
      <p:pic>
        <p:nvPicPr>
          <p:cNvPr id="9" name="Picture 8" descr="math_audit.png"/>
          <p:cNvPicPr>
            <a:picLocks noChangeAspect="1"/>
          </p:cNvPicPr>
          <p:nvPr/>
        </p:nvPicPr>
        <p:blipFill>
          <a:blip r:embed="rId2"/>
          <a:stretch>
            <a:fillRect/>
          </a:stretch>
        </p:blipFill>
        <p:spPr>
          <a:xfrm>
            <a:off x="4754880" y="2373923"/>
            <a:ext cx="6858000" cy="2110153"/>
          </a:xfrm>
          <a:prstGeom prst="rect">
            <a:avLst/>
          </a:prstGeom>
        </p:spPr>
      </p:pic>
      <p:sp>
        <p:nvSpPr>
          <p:cNvPr id="10" name="TextBox 9"/>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None of these certify arbitrary edits or real flight.</a:t>
            </a:r>
          </a:p>
        </p:txBody>
      </p:sp>
      <p:sp>
        <p:nvSpPr>
          <p:cNvPr id="11" name="TextBox 10"/>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2" name="TextBox 11"/>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Full citations and checked equations: MATH_REVIEW.md</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Appendix</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Primary papers behind the approach</a:t>
            </a:r>
          </a:p>
        </p:txBody>
      </p:sp>
      <p:sp>
        <p:nvSpPr>
          <p:cNvPr id="6" name="TextBox 5"/>
          <p:cNvSpPr txBox="1"/>
          <p:nvPr/>
        </p:nvSpPr>
        <p:spPr>
          <a:xfrm>
            <a:off x="685800" y="1828800"/>
            <a:ext cx="10844784" cy="107289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Faessler et al., RA-L 2018: rotor-drag physics and</a:t>
            </a:r>
          </a:p>
          <a:p>
            <a:pPr>
              <a:lnSpc>
                <a:spcPct val="124000"/>
              </a:lnSpc>
              <a:spcBef>
                <a:spcPts val="0"/>
              </a:spcBef>
              <a:spcAft>
                <a:spcPts val="0"/>
              </a:spcAft>
              <a:defRPr sz="3000" b="0">
                <a:solidFill>
                  <a:srgbClr val="23252A"/>
                </a:solidFill>
                <a:latin typeface="DejaVu Sans"/>
              </a:defRPr>
            </a:pPr>
            <a:r>
              <a:t>excitation</a:t>
            </a:r>
          </a:p>
        </p:txBody>
      </p:sp>
      <p:sp>
        <p:nvSpPr>
          <p:cNvPr id="7" name="TextBox 6"/>
          <p:cNvSpPr txBox="1"/>
          <p:nvPr/>
        </p:nvSpPr>
        <p:spPr>
          <a:xfrm>
            <a:off x="685800" y="3240024"/>
            <a:ext cx="10844784" cy="107289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Andersson et al., 2019: CasADi AD and multiple</a:t>
            </a:r>
          </a:p>
          <a:p>
            <a:pPr>
              <a:lnSpc>
                <a:spcPct val="124000"/>
              </a:lnSpc>
              <a:spcBef>
                <a:spcPts val="0"/>
              </a:spcBef>
              <a:spcAft>
                <a:spcPts val="0"/>
              </a:spcAft>
              <a:defRPr sz="3000" b="0">
                <a:solidFill>
                  <a:srgbClr val="23252A"/>
                </a:solidFill>
                <a:latin typeface="DejaVu Sans"/>
              </a:defRPr>
            </a:pPr>
            <a:r>
              <a:t>shooting</a:t>
            </a:r>
          </a:p>
        </p:txBody>
      </p:sp>
      <p:sp>
        <p:nvSpPr>
          <p:cNvPr id="8" name="TextBox 7"/>
          <p:cNvSpPr txBox="1"/>
          <p:nvPr/>
        </p:nvSpPr>
        <p:spPr>
          <a:xfrm>
            <a:off x="685800" y="4651248"/>
            <a:ext cx="10844784" cy="1072896"/>
          </a:xfrm>
          <a:prstGeom prst="rect">
            <a:avLst/>
          </a:prstGeom>
          <a:noFill/>
        </p:spPr>
        <p:txBody>
          <a:bodyPr wrap="none" lIns="0" rIns="0" tIns="0" bIns="0">
            <a:spAutoFit/>
          </a:bodyPr>
          <a:lstStyle/>
          <a:p>
            <a:pPr>
              <a:lnSpc>
                <a:spcPct val="124000"/>
              </a:lnSpc>
              <a:spcBef>
                <a:spcPts val="0"/>
              </a:spcBef>
              <a:spcAft>
                <a:spcPts val="0"/>
              </a:spcAft>
              <a:defRPr sz="3000" b="0">
                <a:solidFill>
                  <a:srgbClr val="23252A"/>
                </a:solidFill>
                <a:latin typeface="DejaVu Sans"/>
              </a:defRPr>
            </a:pPr>
            <a:r>
              <a:t>Raue 2009; Wieland 2021: practical identifiability and</a:t>
            </a:r>
          </a:p>
          <a:p>
            <a:pPr>
              <a:lnSpc>
                <a:spcPct val="124000"/>
              </a:lnSpc>
              <a:spcBef>
                <a:spcPts val="0"/>
              </a:spcBef>
              <a:spcAft>
                <a:spcPts val="0"/>
              </a:spcAft>
              <a:defRPr sz="3000" b="0">
                <a:solidFill>
                  <a:srgbClr val="23252A"/>
                </a:solidFill>
                <a:latin typeface="DejaVu Sans"/>
              </a:defRPr>
            </a:pPr>
            <a:r>
              <a:t>profiles</a:t>
            </a:r>
          </a:p>
        </p:txBody>
      </p:sp>
      <p:sp>
        <p:nvSpPr>
          <p:cNvPr id="9" name="TextBox 8"/>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World-axis teaching drag differs from body-axis rotor aerodynamics.</a:t>
            </a:r>
          </a:p>
        </p:txBody>
      </p:sp>
      <p:sp>
        <p:nvSpPr>
          <p:cNvPr id="10" name="TextBox 9"/>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1" name="TextBox 10"/>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A2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FUTURE WORK · beyond the tested app experiments</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Appendix</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Research questions worth exploring</a:t>
            </a:r>
          </a:p>
        </p:txBody>
      </p:sp>
      <p:sp>
        <p:nvSpPr>
          <p:cNvPr id="6" name="Rectangle 5"/>
          <p:cNvSpPr/>
          <p:nvPr/>
        </p:nvSpPr>
        <p:spPr>
          <a:xfrm>
            <a:off x="59436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459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20240"/>
            <a:ext cx="4901183" cy="1403604"/>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Vision + SLAM + estimation</a:t>
            </a:r>
          </a:p>
          <a:p>
            <a:pPr>
              <a:lnSpc>
                <a:spcPct val="124000"/>
              </a:lnSpc>
              <a:spcBef>
                <a:spcPts val="0"/>
              </a:spcBef>
              <a:spcAft>
                <a:spcPts val="0"/>
              </a:spcAft>
              <a:defRPr sz="2700" b="0">
                <a:solidFill>
                  <a:srgbClr val="23252A"/>
                </a:solidFill>
                <a:latin typeface="DejaVu Sans"/>
              </a:defRPr>
            </a:pPr>
            <a:r>
              <a:t>+ physics in one declared</a:t>
            </a:r>
          </a:p>
          <a:p>
            <a:pPr>
              <a:lnSpc>
                <a:spcPct val="124000"/>
              </a:lnSpc>
              <a:spcBef>
                <a:spcPts val="0"/>
              </a:spcBef>
              <a:spcAft>
                <a:spcPts val="0"/>
              </a:spcAft>
              <a:defRPr sz="2700" b="0">
                <a:solidFill>
                  <a:srgbClr val="23252A"/>
                </a:solidFill>
                <a:latin typeface="DejaVu Sans"/>
              </a:defRPr>
            </a:pPr>
            <a:r>
              <a:t>system</a:t>
            </a:r>
          </a:p>
        </p:txBody>
      </p:sp>
      <p:sp>
        <p:nvSpPr>
          <p:cNvPr id="9" name="Rectangle 8"/>
          <p:cNvSpPr/>
          <p:nvPr/>
        </p:nvSpPr>
        <p:spPr>
          <a:xfrm>
            <a:off x="6217920" y="16459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6459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20240"/>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Richer browser / FMI /</a:t>
            </a:r>
          </a:p>
          <a:p>
            <a:pPr>
              <a:lnSpc>
                <a:spcPct val="124000"/>
              </a:lnSpc>
              <a:spcBef>
                <a:spcPts val="0"/>
              </a:spcBef>
              <a:spcAft>
                <a:spcPts val="0"/>
              </a:spcAft>
              <a:defRPr sz="2700" b="0">
                <a:solidFill>
                  <a:srgbClr val="23252A"/>
                </a:solidFill>
                <a:latin typeface="DejaVu Sans"/>
              </a:defRPr>
            </a:pPr>
            <a:r>
              <a:t>WebAssembly workflows</a:t>
            </a:r>
          </a:p>
        </p:txBody>
      </p:sp>
      <p:sp>
        <p:nvSpPr>
          <p:cNvPr id="12" name="Rectangle 11"/>
          <p:cNvSpPr/>
          <p:nvPr/>
        </p:nvSpPr>
        <p:spPr>
          <a:xfrm>
            <a:off x="59436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474720"/>
            <a:ext cx="59436" cy="1572768"/>
          </a:xfrm>
          <a:prstGeom prst="rect">
            <a:avLst/>
          </a:prstGeom>
          <a:solidFill>
            <a:srgbClr val="007C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749039"/>
            <a:ext cx="4901183" cy="978408"/>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Compiler differentiation and</a:t>
            </a:r>
          </a:p>
          <a:p>
            <a:pPr>
              <a:lnSpc>
                <a:spcPct val="124000"/>
              </a:lnSpc>
              <a:spcBef>
                <a:spcPts val="0"/>
              </a:spcBef>
              <a:spcAft>
                <a:spcPts val="0"/>
              </a:spcAft>
              <a:defRPr sz="2700" b="0">
                <a:solidFill>
                  <a:srgbClr val="23252A"/>
                </a:solidFill>
                <a:latin typeface="DejaVu Sans"/>
              </a:defRPr>
            </a:pPr>
            <a:r>
              <a:t>larger symbolic systems</a:t>
            </a:r>
          </a:p>
        </p:txBody>
      </p:sp>
      <p:sp>
        <p:nvSpPr>
          <p:cNvPr id="15" name="Rectangle 14"/>
          <p:cNvSpPr/>
          <p:nvPr/>
        </p:nvSpPr>
        <p:spPr>
          <a:xfrm>
            <a:off x="6217920" y="3474720"/>
            <a:ext cx="5349240" cy="1572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474720"/>
            <a:ext cx="59436" cy="1572768"/>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749039"/>
            <a:ext cx="4901183" cy="1403604"/>
          </a:xfrm>
          <a:prstGeom prst="rect">
            <a:avLst/>
          </a:prstGeom>
          <a:noFill/>
        </p:spPr>
        <p:txBody>
          <a:bodyPr wrap="none" lIns="0" rIns="0" tIns="0" bIns="0">
            <a:spAutoFit/>
          </a:bodyPr>
          <a:lstStyle/>
          <a:p>
            <a:pPr>
              <a:lnSpc>
                <a:spcPct val="124000"/>
              </a:lnSpc>
              <a:spcBef>
                <a:spcPts val="0"/>
              </a:spcBef>
              <a:spcAft>
                <a:spcPts val="0"/>
              </a:spcAft>
              <a:defRPr sz="2700" b="0">
                <a:solidFill>
                  <a:srgbClr val="23252A"/>
                </a:solidFill>
                <a:latin typeface="DejaVu Sans"/>
              </a:defRPr>
            </a:pPr>
            <a:r>
              <a:t>Partition work across CPU,</a:t>
            </a:r>
          </a:p>
          <a:p>
            <a:pPr>
              <a:lnSpc>
                <a:spcPct val="124000"/>
              </a:lnSpc>
              <a:spcBef>
                <a:spcPts val="0"/>
              </a:spcBef>
              <a:spcAft>
                <a:spcPts val="0"/>
              </a:spcAft>
              <a:defRPr sz="2700" b="0">
                <a:solidFill>
                  <a:srgbClr val="23252A"/>
                </a:solidFill>
                <a:latin typeface="DejaVu Sans"/>
              </a:defRPr>
            </a:pPr>
            <a:r>
              <a:t>GPU and embedded</a:t>
            </a:r>
          </a:p>
          <a:p>
            <a:pPr>
              <a:lnSpc>
                <a:spcPct val="124000"/>
              </a:lnSpc>
              <a:spcBef>
                <a:spcPts val="0"/>
              </a:spcBef>
              <a:spcAft>
                <a:spcPts val="0"/>
              </a:spcAft>
              <a:defRPr sz="2700" b="0">
                <a:solidFill>
                  <a:srgbClr val="23252A"/>
                </a:solidFill>
                <a:latin typeface="DejaVu Sans"/>
              </a:defRPr>
            </a:pPr>
            <a:r>
              <a:t>hardware</a:t>
            </a:r>
          </a:p>
        </p:txBody>
      </p:sp>
      <p:sp>
        <p:nvSpPr>
          <p:cNvPr id="18" name="TextBox 1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Bring a falsifiable question and a measurable benchmark.</a:t>
            </a:r>
          </a:p>
        </p:txBody>
      </p:sp>
      <p:sp>
        <p:nvSpPr>
          <p:cNvPr id="19" name="TextBox 1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20" name="TextBox 1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A3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B59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28600"/>
            <a:ext cx="97475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007C91"/>
                </a:solidFill>
                <a:latin typeface="DejaVu Sans"/>
              </a:defRPr>
            </a:pPr>
            <a:r>
              <a:t>Node solution ≠ exact continuous-time flight</a:t>
            </a:r>
          </a:p>
        </p:txBody>
      </p:sp>
      <p:sp>
        <p:nvSpPr>
          <p:cNvPr id="4" name="TextBox 3"/>
          <p:cNvSpPr txBox="1"/>
          <p:nvPr/>
        </p:nvSpPr>
        <p:spPr>
          <a:xfrm>
            <a:off x="10241280" y="228600"/>
            <a:ext cx="147218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23252A"/>
                </a:solidFill>
                <a:latin typeface="DejaVu Sans"/>
              </a:defRPr>
            </a:pPr>
            <a:r>
              <a:t>Appendix</a:t>
            </a:r>
          </a:p>
        </p:txBody>
      </p:sp>
      <p:sp>
        <p:nvSpPr>
          <p:cNvPr id="5" name="TextBox 4"/>
          <p:cNvSpPr txBox="1"/>
          <p:nvPr/>
        </p:nvSpPr>
        <p:spPr>
          <a:xfrm>
            <a:off x="594360" y="713232"/>
            <a:ext cx="11027664" cy="710691"/>
          </a:xfrm>
          <a:prstGeom prst="rect">
            <a:avLst/>
          </a:prstGeom>
          <a:noFill/>
        </p:spPr>
        <p:txBody>
          <a:bodyPr wrap="none" lIns="0" rIns="0" tIns="0" bIns="0">
            <a:spAutoFit/>
          </a:bodyPr>
          <a:lstStyle/>
          <a:p>
            <a:pPr>
              <a:lnSpc>
                <a:spcPct val="124000"/>
              </a:lnSpc>
              <a:spcBef>
                <a:spcPts val="0"/>
              </a:spcBef>
              <a:spcAft>
                <a:spcPts val="0"/>
              </a:spcAft>
              <a:defRPr sz="3700" b="1">
                <a:solidFill>
                  <a:srgbClr val="23252A"/>
                </a:solidFill>
                <a:latin typeface="DejaVu Sans"/>
              </a:defRPr>
            </a:pPr>
            <a:r>
              <a:t>Numerical constraints need validation</a:t>
            </a:r>
          </a:p>
        </p:txBody>
      </p:sp>
      <p:sp>
        <p:nvSpPr>
          <p:cNvPr id="6" name="TextBox 5"/>
          <p:cNvSpPr txBox="1"/>
          <p:nvPr/>
        </p:nvSpPr>
        <p:spPr>
          <a:xfrm>
            <a:off x="640080" y="1353312"/>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23252A"/>
                </a:solidFill>
                <a:latin typeface="DejaVu Sans"/>
              </a:defRPr>
            </a:pPr>
            <a:r>
              <a:t>Reintegrate the inputs independently; inspect errors by physical unit.</a:t>
            </a:r>
          </a:p>
        </p:txBody>
      </p:sp>
      <p:pic>
        <p:nvPicPr>
          <p:cNvPr id="7" name="Picture 6" descr="optimization.png"/>
          <p:cNvPicPr>
            <a:picLocks noChangeAspect="1"/>
          </p:cNvPicPr>
          <p:nvPr/>
        </p:nvPicPr>
        <p:blipFill>
          <a:blip r:embed="rId2"/>
          <a:stretch>
            <a:fillRect/>
          </a:stretch>
        </p:blipFill>
        <p:spPr>
          <a:xfrm>
            <a:off x="2981415" y="1907540"/>
            <a:ext cx="6198688" cy="3944620"/>
          </a:xfrm>
          <a:prstGeom prst="rect">
            <a:avLst/>
          </a:prstGeom>
        </p:spPr>
      </p:pic>
      <p:sp>
        <p:nvSpPr>
          <p:cNvPr id="8" name="TextBox 7"/>
          <p:cNvSpPr txBox="1"/>
          <p:nvPr/>
        </p:nvSpPr>
        <p:spPr>
          <a:xfrm>
            <a:off x="640080" y="6199632"/>
            <a:ext cx="1102766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007C91"/>
                </a:solidFill>
                <a:latin typeface="DejaVu Sans"/>
              </a:defRPr>
            </a:pPr>
            <a:r>
              <a:t>Small defects, pitch margin and fine rollout are separate checks.</a:t>
            </a:r>
          </a:p>
        </p:txBody>
      </p:sp>
      <p:sp>
        <p:nvSpPr>
          <p:cNvPr id="9" name="TextBox 8"/>
          <p:cNvSpPr txBox="1"/>
          <p:nvPr/>
        </p:nvSpPr>
        <p:spPr>
          <a:xfrm>
            <a:off x="640080" y="6510528"/>
            <a:ext cx="10936224" cy="269748"/>
          </a:xfrm>
          <a:prstGeom prst="rect">
            <a:avLst/>
          </a:prstGeom>
          <a:noFill/>
        </p:spPr>
        <p:txBody>
          <a:bodyPr wrap="none" lIns="0" rIns="0" tIns="0" bIns="0">
            <a:spAutoFit/>
          </a:bodyPr>
          <a:lstStyle/>
          <a:p>
            <a:pPr>
              <a:lnSpc>
                <a:spcPct val="124000"/>
              </a:lnSpc>
              <a:spcBef>
                <a:spcPts val="0"/>
              </a:spcBef>
              <a:spcAft>
                <a:spcPts val="0"/>
              </a:spcAft>
              <a:defRPr sz="900" b="0">
                <a:solidFill>
                  <a:srgbClr val="23252A"/>
                </a:solidFill>
                <a:latin typeface="DejaVu Sans"/>
              </a:defRPr>
            </a:pPr>
            <a:r>
              <a:t>PURDUE · AERONAUTICS &amp; ASTRONAUTICS / GEORGIA TECH · AMC 2026</a:t>
            </a:r>
          </a:p>
        </p:txBody>
      </p:sp>
      <p:sp>
        <p:nvSpPr>
          <p:cNvPr id="10" name="TextBox 9"/>
          <p:cNvSpPr txBox="1"/>
          <p:nvPr/>
        </p:nvSpPr>
        <p:spPr>
          <a:xfrm>
            <a:off x="11247120" y="6492240"/>
            <a:ext cx="51206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007C91"/>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