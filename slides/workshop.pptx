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10:00–10:05</a:t>
            </a:r>
          </a:p>
          <a:p>
            <a:r>
              <a:t>Welcome to Hands-On with Rumoca. Introduce Purdue University, School of Aeronautics and Astronautics, and the Georgia Tech venue. Point to the QR and ask attendees to keep the participant worksheet open. No aerospace background is required. Allow five minutes for arrivals and orientation; announce the optional app challenge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10:05–10:10</a:t>
            </a:r>
          </a:p>
          <a:p>
            <a:r>
              <a:t>Announce the challenge now: “Power users: apply Rumoca to a problem you care about. Use your coding agent during downtime and independent work, put the app on your GitHub, and show one working interaction. The prize is a free CogniPilot stocking cap, chosen by an audience hand vote.” The core Modelica → JAX → CasADi exercises remain the main activity and need no agent or GitHub account. Point to APP_PROMPT.md for creative inspiration: an Artemis-inspired launch experience with Three.js visuals, or a flight lab extending rumoca_fixed_wing. These are optional prompts, not assigned projects; no Artemis app is supplied. Encourage participants to choose their own question and design. Full AD-based fixed-wing MPC is ambitious and optional. Entries close at 12:40: collect GitHub link, problem, agent/tool used and elapsed build time with estimates labeled. Up to five ready apps present at 12:50 for 45 seconds each; if more are ready, use a random draw plus a backup, with order drawn too. Selection is not a quality judgment; share all entry links in a gallery. Announce the selection by 12:45. Each demo names the agent and build time, contribution, working interaction and checked result. Ask for a show of hands for Modelica/JAX/CasADi experience. Today's data are synthetic and the trajectory is open loop.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10:10–10:15</a:t>
            </a:r>
          </a:p>
          <a:p>
            <a:r>
              <a:t>Explain the motivation: carry declared physical equations into simulation, parameter fitting and constrained optimization. Rumoca is an evolving open mathematical compiler; this workshop demonstrates a small tested workflow. OpenModelica, Dymola, Modelon, JuliaHub/Dyad, FMI, JAX and CasADi offer ecosystem and interoperability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10:15–10:20</a:t>
            </a:r>
          </a:p>
          <a:p>
            <a:r>
              <a:t>Explain that VS Code is the authoring/LSP path and the playground is browser modeling/simulation. Python 0.10.2 exports JAX and CasADi; deployed browser 0.8.13 is separate. Common Python code performs integration and builds optimization objectives, not another plant. Full language/backends are not certified by this example. Native compiler AD is not today's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10:20–10:25</a:t>
            </a:r>
          </a:p>
          <a:p>
            <a:r>
              <a:t>Exact URL https://rumoca.cognipilot.org/playground/. Raw source https://github.com/CogniPilot/rumoca_workshop_amc2026/blob/main/browser/Quadrotor_browser.mo. Select all inside editor, paste; gear next to Play opens simulation settings; select BrowserFlight and close settings. Screenshot records a real run. Browser is not Python/JAX/CasADi. If offline, label the screenshot as backup and continue local/demo path. Five-minute guided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10:25–10:30</a:t>
            </a:r>
          </a:p>
          <a:p>
            <a:r>
              <a:t>Codespaces URL https://codespaces.new/CogniPilot/rumoca_workshop_amc2026?quickstart=1. Codespaces requires an account with allowance or billing enabled. Cloud qualification is recorded in VERIFICATION.md; account availability varies. Local: download/extract ZIP, install uv/extension, uv sync --frozen. Python and released editor are qualified on Linux/Windows x64 and macOS Intel/Apple Silicon. The local route uses uv and CPU packages.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10:30–10:40</a:t>
            </a:r>
          </a:p>
          <a:p>
            <a:r>
              <a:t>Give participants most of these ten minutes. Verify extension ID JamesGoppert.rumoca-modelica; choose Modelica language, trust workspace per policy. Show a temporary broken expression then undo for actual syntax diagnostics. Hover, completion and diagnostics passed in real VS Code 1.119.0 hosts on all four supported OS/architecture targets; navigation and Codespaces remote activation are separate checks. Smoke runs all three commands, checks gradient/backend agreement, fits, constraints and outputs. Local measured total about 12 seconds after setup. At 10:40 move to the exercise; use pair or demo recovery if setup is incomplete. App builders can begin their independent challenge once ready.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10:40–10:45</a:t>
            </a:r>
          </a:p>
          <a:p>
            <a:r>
              <a:t>States x,z,theta,vx,vz,omega; inputs T and tau. m=1.2 kg,Iyy=.025 kg m²,g=9.81. Diagram is generated from our convention, not a borrowed paper figure. Simplified world-axis drag; no roll/yaw/motors/wind/contact. The compact planar example keeps the equations inspectable and the computations short. Introduce pitch as the angle that directs the thrust; specialist aerodynamics is optional.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10:45–10:55</a:t>
            </a:r>
          </a:p>
          <a:p>
            <a:r>
              <a:t>Explain units kl N s/m,kq N s²/m²,epsilon .01 m/s. Smooth componentwise law approximates |v|v and never adds energy for nonnegative coefficients; Lean proves the signs and smoothing bound. It differs from Faessler et al.'s body-frame rotor-drag model; do not claim their flatness theorem. Allow 7–8 minutes editing/predicting. Browser users make the same coefficient change and Play again. Default parameter changes affect simulation; fitting estimates parameters explicitly.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10:55–11:00</a:t>
            </a:r>
          </a:p>
          <a:p>
            <a:r>
              <a:t>Open the actual live plot and ask participants to explain the sign. The slide plot uses emitted JAX equations and reference parameters; not real flight data. Browser wrapper coasts at level hover, so its numbers differ. Optional kl=.30 then restore .18. Instructor solution is an inheritance override, not a second dynamics implementation. Take two questions. End on time for break.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11:00–11:10</a:t>
            </a:r>
          </a:p>
          <a:p>
            <a:r>
              <a:t>Actually pause for ten minutes. Help only small recovery questions; avoid turning the break into a lecture. Browser-only attendees can pair for the next exercise. Keep the next command in the worksheet, not a wall of terminal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11:10–11:20</a:t>
            </a:r>
          </a:p>
          <a:p>
            <a:r>
              <a:t>Data generated by Rumoca CasADi + independent adaptive DOP853; JAX fit uses RK4. Position noise .025 m; velocity .035 m/s; angles/rates also noisy, but only exact initial angles/rates enter the fit. Commands and initial state assumed known. Holdout has different excitation and negative initial speed. The data are synthetic. Explain how real logs would bring actuator timing, wind and sensor bias. Truth is reporting only.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11:20–11:30</a:t>
            </a:r>
          </a:p>
          <a:p>
            <a:r>
              <a:t>Show fit script's p_from_log, residual, value_and_grad, minimize. Each coefficient divided by one native SI unit equals exp(log parameter), so the logarithm is dimensionless; fitted bounds .001..2 in native units. Mean residual² divided by known noise variance is dimensionless, over x,z,vx,vz. Avoid differentiating noisy acceleration estimates. JAX derivative is of the implemented discrete rollout; finite differences are checks. The system ID is not an autodiff proof of model correctness. Participants can run the next command and inspect the provided algorithm.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11:30–11:50</a:t>
            </a:r>
          </a:p>
          <a:p>
            <a:r>
              <a:t>Give at least 15 minutes for running the fit, inspecting outputs and individual questions. Participants who finish can return to the app challenge. Reference truth kl=.18 N s/m, kq=.08 N s²/m². Loss roughly 26932→1.073, about 25000×. Read rms_by_state with separate units or noise_scaled_rms; avoid calling mixed-unit legacy RMS metres. Recovery --one-coefficient assumes known kl=.18. Stretch: different initial guess; audit already checks six. Do not use holdout to tune parameters during this exercise. If live fails, label reference plot honestly.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11:50–12:00</a:t>
            </a:r>
          </a:p>
          <a:p>
            <a:r>
              <a:t>Spend two minutes showing where the result files are and eight minutes on independent work and questions. Ask whether the held-out prediction improved; no aerospace background is needed. App builders can continue the open challenge. Offer detailed gradient, excitation and proof discussion only when requested, using MATH_REVIEW.md and Appendix A1–A2. The audit checks six starting guesses, twelve noise seeds, Jacobians, analytic coasting and re-optimized profiles. Lean checks scoped exact-real equation equality and invariants; numerical and statistical claims have separate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12:00–12:10</a:t>
            </a:r>
          </a:p>
          <a:p>
            <a:r>
              <a:t>Ten-minute break. Confirm most pairs have fit outputs. Do not edit the model again after fitting; a source hash will require refitting if it changes. Instructor has successful reference fit and primal trajectory warm start. No Mathlib or extra packages are needed for next exercise.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12:10–12:20</a:t>
            </a:r>
          </a:p>
          <a:p>
            <a:r>
              <a:t>Explain 60 constant-input intervals and RK4 direct multiple shooting: decision states at each node, linked by continuity constraints. Bounds: thrust 0–20 N, torque ±0.35 N m, altitude 0.25–4 m, physical pitch ±0.55 rad, node pitch ±0.54 rad. Illustrative rotor pairs: each 0–10 N, arm 0.2 m. Normalize cost with physical reference scales before choosing weights. A stored successful primal solution warm-starts the default problem. Andersson et al. 2019, section 5.4 supports the transcription; their DAE/IDAS example differs from our ODE/RK4. Local feasible result; no global-optimality, electrical-energy or real-flight claim.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12:20–12:40</a:t>
            </a:r>
          </a:p>
          <a:p>
            <a:r>
              <a:t>Allow about 15 minutes to run and inspect plots/JSON, with the remaining time for questions or app development. Live computation takes about 1–2 seconds locally. Show acceleration tilt and opposite tilt for braking. Confirm drag matches JAX values, defects near 1e−14, exact endpoint constraints at nodes, and about 2 mm altitude error under finer/adaptive integration. Analytic interval pitch extrema are about 0.542 rad, below 0.55. Checks allow 1e−6 numerical tolerance. Explain continuous/discretized differences and the absence of an all-time formal certificate. A source hash requires refitting after edits. Recover with canonical source/reference fit, then a clearly labeled reference figure. Optional --target-x 3 was separately rehearsed; its receipt is in verification/. MPC would repeat optimization online; it is not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12:40–12:45</a:t>
            </a:r>
          </a:p>
          <a:p>
            <a:r>
              <a:t>Official PURT source: https://engineering.purdue.edu/PURT. Public workspace: https://github.com/CogniPilot/cognipilot_workspace documents pure Modelica, host Zephyr SIL and FastDyn/QEMU Cortex-M7 binary-in-the-loop. Documented upstream; not run here. Monte Carlo and reinforcement learning are application directions, not demonstrated results. Avoid unsupported benchmarks and facility superlatives. Synthetic fitting does not establish real-aircraft validity. Briefly connect the model to physical experiments, then introduce the lead fixed-wing app. Leave time for questions and move to app exploration at 12:45.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12:45–12:50</a:t>
            </a:r>
          </a:p>
          <a:p>
            <a:r>
              <a:t>Lead with rumoca_fixed_wing, the more complete app example. Coding agents helped build the interface and experiments; engineers review models and validate output. Briefly show Autopilot → Start sim, waypoint progress, then 50 to 20 Hz → Start sim again → pause. Invite participants to try that interaction or finish their challenge app. SLAM Lab is an additional example in development; only its inertial baseline and filter variant were rehearsed, not the complete visual-SLAM pipeline. Mocap is a viewer for stored benchmark results, not browser retraining. Fixed-wing and SLAM use WASM; the tested mocap viewer interaction does not. No login, agent account or API key is needed to explore these examples manually. They use different models from the core exercise and are outside its Lean proof scope. Keep the recorded screenshots available for network/graphics recovery. At 12:50 move to participant demos.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12:50–12:55</a:t>
            </a:r>
          </a:p>
          <a:p>
            <a:r>
              <a:t>Use up to five 45-second demos, selected by the announced readiness check and random draw if needed. Draw order and a backup in advance. Each entrant shows how Rumoca addresses their chosen problem, one working interaction, their GitHub and contribution, a checked result, and the agent/tool used plus elapsed build time. Label estimated times. Have tabs ready and keep the same limit for everyone. Five demos leave 75 seconds for a show-of-hands vote and award. Each attendee votes for one entry; count visibly. If tied, run a quick vote between the tied entries; if still tied, draw among them. Award one stocking cap to the winning entry; a team chooses its recipient. Share all entry links in a gallery, including those not drawn. If there are no entries, invite a brief question about the fixed-wing example and continue to the closing slide. CHALLENGE.md carries the same rules. Keep the core exercise as the workshop's main focus.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12:55–13:00</a:t>
            </a:r>
          </a:p>
          <a:p>
            <a:r>
              <a:t>Invite collaboration: “Bring a hard modeling, identification, optimization or cyber-physical testing problem. We are developing open-source tools and validating ideas on real systems at Purdue. Let us find a useful research question together.” Point to the repository, worksheet, math review and contribution links. Welcome ecosystem partners. Answer final questions and stop at 13:00. Appendix A3 covers research directions if asked.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a:t>
            </a:r>
          </a:p>
          <a:p>
            <a:r>
              <a:t>Lean 4.29.1 and public Mathlib v4.29.1 are pinned. The proof representation comes from the actual Solve operation program. No admissions or custom axioms; standard propext, Classical.choice and Quot.sound only. The compiler/template/translator and real-arithmetic interpretation remain trusted. Assumptions: nonnegative coefficients, positive smoothing, nonzero mass/inertia for energy algebra. The profile threshold is asymptotic Gaussian; a finite grid does not guarantee confidence coverage.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a:t>
            </a:r>
          </a:p>
          <a:p>
            <a:r>
              <a:t>Faessler DOI 10.1109/LRA.2017.2776353, equation 2: mass-normalized body-frame R D Rᵀ drag; we do not invoke their flatness theorem. CasADi DOI 10.1007/s12532-018-0139-4, sections 2.6 and 5.4: AD and multiple shooting. Journal: Mathematical Programming Computation. Raue DOI 10.1093/bioinformatics/btp358, primary abstract; Wieland arXiv 2102.05100, equation 6/full method checked. No paper figures or extensive quotations are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a:t>
            </a:r>
          </a:p>
          <a:p>
            <a:r>
              <a:t>The app gallery demonstrates selected browser interactions; it does not establish complete SLAM, deployable SLAM FMUs, automatic hardware partitioning or million-variable scaling. Agent-assisted development does not supply mathematical validation by itself. Use this appendix for roadmap questions only; no extra scheduled time. Recovery instructions remain in TROUBLESHOOTING.md and REHEARSAL.md.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a:t>
            </a:r>
          </a:p>
          <a:p>
            <a:r>
              <a:t>Default physical constraints: T 0–20 N, torque ±0.35 N m, pitch ±0.55 rad (nodes ±0.54), altitude 0.25–4 m, rotor pairs 0–10 N. Finer/adaptive peak pitch is about 0.542 rad. No interval-bound certificate, actuator dynamics or feedback is provided. IPOPT solves a local NLP. Active bounds can differ by about 1e−8 from floating-point solver tolerance; checks allow 1e−6. RK4 verification uses dt=0.025 s; DOP853 output samples are 0.01 s. These numerical checks are separate from exact-real Lean proofs.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American Modelica Conference · October 12, 2026</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10:00–10:05</a:t>
            </a:r>
          </a:p>
        </p:txBody>
      </p:sp>
      <p:sp>
        <p:nvSpPr>
          <p:cNvPr id="5" name="TextBox 4"/>
          <p:cNvSpPr txBox="1"/>
          <p:nvPr/>
        </p:nvSpPr>
        <p:spPr>
          <a:xfrm>
            <a:off x="594360" y="1051560"/>
            <a:ext cx="10021824" cy="946912"/>
          </a:xfrm>
          <a:prstGeom prst="rect">
            <a:avLst/>
          </a:prstGeom>
          <a:noFill/>
        </p:spPr>
        <p:txBody>
          <a:bodyPr wrap="none" lIns="0" rIns="0" tIns="0" bIns="0">
            <a:spAutoFit/>
          </a:bodyPr>
          <a:lstStyle/>
          <a:p>
            <a:pPr>
              <a:lnSpc>
                <a:spcPct val="124000"/>
              </a:lnSpc>
              <a:spcBef>
                <a:spcPts val="0"/>
              </a:spcBef>
              <a:spcAft>
                <a:spcPts val="0"/>
              </a:spcAft>
              <a:defRPr sz="5200" b="1">
                <a:solidFill>
                  <a:srgbClr val="23252A"/>
                </a:solidFill>
                <a:latin typeface="DejaVu Sans"/>
              </a:defRPr>
            </a:pPr>
            <a:r>
              <a:t>Hands-On with Rumoca</a:t>
            </a:r>
          </a:p>
        </p:txBody>
      </p:sp>
      <p:sp>
        <p:nvSpPr>
          <p:cNvPr id="6" name="TextBox 5"/>
          <p:cNvSpPr txBox="1"/>
          <p:nvPr/>
        </p:nvSpPr>
        <p:spPr>
          <a:xfrm>
            <a:off x="640080" y="2743200"/>
            <a:ext cx="7918704" cy="5217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James Goppert</a:t>
            </a:r>
          </a:p>
        </p:txBody>
      </p:sp>
      <p:sp>
        <p:nvSpPr>
          <p:cNvPr id="7" name="TextBox 6"/>
          <p:cNvSpPr txBox="1"/>
          <p:nvPr/>
        </p:nvSpPr>
        <p:spPr>
          <a:xfrm>
            <a:off x="640080" y="3392932"/>
            <a:ext cx="7918704" cy="9154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Purdue University · School of Aeronautics and</a:t>
            </a:r>
          </a:p>
          <a:p>
            <a:pPr>
              <a:lnSpc>
                <a:spcPct val="124000"/>
              </a:lnSpc>
              <a:spcBef>
                <a:spcPts val="0"/>
              </a:spcBef>
              <a:spcAft>
                <a:spcPts val="0"/>
              </a:spcAft>
              <a:defRPr sz="2500" b="0">
                <a:solidFill>
                  <a:srgbClr val="23252A"/>
                </a:solidFill>
                <a:latin typeface="DejaVu Sans"/>
              </a:defRPr>
            </a:pPr>
            <a:r>
              <a:t>Astronautics</a:t>
            </a:r>
          </a:p>
        </p:txBody>
      </p:sp>
      <p:sp>
        <p:nvSpPr>
          <p:cNvPr id="8" name="TextBox 7"/>
          <p:cNvSpPr txBox="1"/>
          <p:nvPr/>
        </p:nvSpPr>
        <p:spPr>
          <a:xfrm>
            <a:off x="640080" y="4436364"/>
            <a:ext cx="7918704" cy="5217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Georgia Tech · 10:00–13:00</a:t>
            </a:r>
          </a:p>
        </p:txBody>
      </p:sp>
      <p:pic>
        <p:nvPicPr>
          <p:cNvPr id="9" name="Picture 8" descr="repo-qr.png"/>
          <p:cNvPicPr>
            <a:picLocks noChangeAspect="1"/>
          </p:cNvPicPr>
          <p:nvPr/>
        </p:nvPicPr>
        <p:blipFill>
          <a:blip r:embed="rId2"/>
          <a:stretch>
            <a:fillRect/>
          </a:stretch>
        </p:blipFill>
        <p:spPr>
          <a:xfrm>
            <a:off x="9144000" y="2743200"/>
            <a:ext cx="2148840" cy="2148840"/>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github.com/CogniPilot/rumoca_workshop_amc2026</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OPEN APP CHALLENGE · demos + audience vote at 12:50</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10:05–10:10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Run the core. Build something extra.</a:t>
            </a:r>
          </a:p>
        </p:txBody>
      </p:sp>
      <p:sp>
        <p:nvSpPr>
          <p:cNvPr id="6" name="Rectangle 5"/>
          <p:cNvSpPr/>
          <p:nvPr/>
        </p:nvSpPr>
        <p:spPr>
          <a:xfrm>
            <a:off x="59436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459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Core: edit a model, fit data,</a:t>
            </a:r>
          </a:p>
          <a:p>
            <a:pPr>
              <a:lnSpc>
                <a:spcPct val="124000"/>
              </a:lnSpc>
              <a:spcBef>
                <a:spcPts val="0"/>
              </a:spcBef>
              <a:spcAft>
                <a:spcPts val="0"/>
              </a:spcAft>
              <a:defRPr sz="2700" b="0">
                <a:solidFill>
                  <a:srgbClr val="23252A"/>
                </a:solidFill>
                <a:latin typeface="DejaVu Sans"/>
              </a:defRPr>
            </a:pPr>
            <a:r>
              <a:t>optimize a trajectory</a:t>
            </a:r>
          </a:p>
        </p:txBody>
      </p:sp>
      <p:sp>
        <p:nvSpPr>
          <p:cNvPr id="9" name="Rectangle 8"/>
          <p:cNvSpPr/>
          <p:nvPr/>
        </p:nvSpPr>
        <p:spPr>
          <a:xfrm>
            <a:off x="621792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Apply Rumoca to a problem</a:t>
            </a:r>
          </a:p>
          <a:p>
            <a:pPr>
              <a:lnSpc>
                <a:spcPct val="124000"/>
              </a:lnSpc>
              <a:spcBef>
                <a:spcPts val="0"/>
              </a:spcBef>
              <a:spcAft>
                <a:spcPts val="0"/>
              </a:spcAft>
              <a:defRPr sz="2700" b="0">
                <a:solidFill>
                  <a:srgbClr val="23252A"/>
                </a:solidFill>
                <a:latin typeface="DejaVu Sans"/>
              </a:defRPr>
            </a:pPr>
            <a:r>
              <a:t>you care about</a:t>
            </a:r>
          </a:p>
        </p:txBody>
      </p:sp>
      <p:sp>
        <p:nvSpPr>
          <p:cNvPr id="12" name="Rectangle 11"/>
          <p:cNvSpPr/>
          <p:nvPr/>
        </p:nvSpPr>
        <p:spPr>
          <a:xfrm>
            <a:off x="59436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4747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Optional idea: a Three.js</a:t>
            </a:r>
          </a:p>
          <a:p>
            <a:pPr>
              <a:lnSpc>
                <a:spcPct val="124000"/>
              </a:lnSpc>
              <a:spcBef>
                <a:spcPts val="0"/>
              </a:spcBef>
              <a:spcAft>
                <a:spcPts val="0"/>
              </a:spcAft>
              <a:defRPr sz="2700" b="0">
                <a:solidFill>
                  <a:srgbClr val="23252A"/>
                </a:solidFill>
                <a:latin typeface="DejaVu Sans"/>
              </a:defRPr>
            </a:pPr>
            <a:r>
              <a:t>Artemis-style launch</a:t>
            </a:r>
          </a:p>
        </p:txBody>
      </p:sp>
      <p:sp>
        <p:nvSpPr>
          <p:cNvPr id="15" name="Rectangle 14"/>
          <p:cNvSpPr/>
          <p:nvPr/>
        </p:nvSpPr>
        <p:spPr>
          <a:xfrm>
            <a:off x="621792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4747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Audience favorite wins a</a:t>
            </a:r>
          </a:p>
          <a:p>
            <a:pPr>
              <a:lnSpc>
                <a:spcPct val="124000"/>
              </a:lnSpc>
              <a:spcBef>
                <a:spcPts val="0"/>
              </a:spcBef>
              <a:spcAft>
                <a:spcPts val="0"/>
              </a:spcAft>
              <a:defRPr sz="2700" b="0">
                <a:solidFill>
                  <a:srgbClr val="23252A"/>
                </a:solidFill>
                <a:latin typeface="DejaVu Sans"/>
              </a:defRPr>
            </a:pPr>
            <a:r>
              <a:t>CogniPilot stocking cap</a:t>
            </a:r>
          </a:p>
        </p:txBody>
      </p:sp>
      <p:sp>
        <p:nvSpPr>
          <p:cNvPr id="18" name="TextBox 1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Enter by 12:40 · up to 5 demos · CHALLENGE.md · APP_PROMPT.md</a:t>
            </a:r>
          </a:p>
        </p:txBody>
      </p:sp>
      <p:sp>
        <p:nvSpPr>
          <p:cNvPr id="19" name="TextBox 1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20" name="TextBox 1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Why we built Rumoca</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10:10–10:15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Make declared physics reusable</a:t>
            </a:r>
          </a:p>
        </p:txBody>
      </p:sp>
      <p:sp>
        <p:nvSpPr>
          <p:cNvPr id="6" name="TextBox 5"/>
          <p:cNvSpPr txBox="1"/>
          <p:nvPr/>
        </p:nvSpPr>
        <p:spPr>
          <a:xfrm>
            <a:off x="685800" y="1828800"/>
            <a:ext cx="10844784" cy="60045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A physical model should travel with the question.</a:t>
            </a:r>
          </a:p>
        </p:txBody>
      </p:sp>
      <p:sp>
        <p:nvSpPr>
          <p:cNvPr id="7" name="TextBox 6"/>
          <p:cNvSpPr txBox="1"/>
          <p:nvPr/>
        </p:nvSpPr>
        <p:spPr>
          <a:xfrm>
            <a:off x="685800" y="2767583"/>
            <a:ext cx="10844784" cy="60045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Simulation → identification → control → experiment</a:t>
            </a:r>
          </a:p>
        </p:txBody>
      </p:sp>
      <p:sp>
        <p:nvSpPr>
          <p:cNvPr id="8" name="TextBox 7"/>
          <p:cNvSpPr txBox="1"/>
          <p:nvPr/>
        </p:nvSpPr>
        <p:spPr>
          <a:xfrm>
            <a:off x="685800" y="3706367"/>
            <a:ext cx="10844784" cy="107289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Open tools and explicit mathematics help us compare</a:t>
            </a:r>
          </a:p>
          <a:p>
            <a:pPr>
              <a:lnSpc>
                <a:spcPct val="124000"/>
              </a:lnSpc>
              <a:spcBef>
                <a:spcPts val="0"/>
              </a:spcBef>
              <a:spcAft>
                <a:spcPts val="0"/>
              </a:spcAft>
              <a:defRPr sz="3000" b="0">
                <a:solidFill>
                  <a:srgbClr val="23252A"/>
                </a:solidFill>
                <a:latin typeface="DejaVu Sans"/>
              </a:defRPr>
            </a:pPr>
            <a:r>
              <a:t>results.</a:t>
            </a:r>
          </a:p>
        </p:txBody>
      </p:sp>
      <p:sp>
        <p:nvSpPr>
          <p:cNvPr id="9" name="TextBox 8"/>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Rumoca connects Modelica to modern computational tools.</a:t>
            </a:r>
          </a:p>
        </p:txBody>
      </p:sp>
      <p:sp>
        <p:nvSpPr>
          <p:cNvPr id="10" name="TextBox 9"/>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1" name="TextBox 10"/>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Verified workshop architecture</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10:15–10:20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Declare once. Ask different questions.</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Same Quadrotor.mo equations, two generated Python representations</a:t>
            </a:r>
          </a:p>
        </p:txBody>
      </p:sp>
      <p:pic>
        <p:nvPicPr>
          <p:cNvPr id="7" name="Picture 6" descr="architecture.png"/>
          <p:cNvPicPr>
            <a:picLocks noChangeAspect="1"/>
          </p:cNvPicPr>
          <p:nvPr/>
        </p:nvPicPr>
        <p:blipFill>
          <a:blip r:embed="rId2"/>
          <a:stretch>
            <a:fillRect/>
          </a:stretch>
        </p:blipFill>
        <p:spPr>
          <a:xfrm>
            <a:off x="640080" y="1932473"/>
            <a:ext cx="10881360" cy="3894752"/>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Modelica declares physics · Rumoca compiles · backends compute.</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LIVE DEMO · zero-install modeling</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10:20–10:25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Everyone gets a browser plot</a:t>
            </a:r>
          </a:p>
        </p:txBody>
      </p:sp>
      <p:sp>
        <p:nvSpPr>
          <p:cNvPr id="6" name="TextBox 5"/>
          <p:cNvSpPr txBox="1"/>
          <p:nvPr/>
        </p:nvSpPr>
        <p:spPr>
          <a:xfrm>
            <a:off x="640080" y="1645920"/>
            <a:ext cx="3986783" cy="553211"/>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Open the playground</a:t>
            </a:r>
          </a:p>
        </p:txBody>
      </p:sp>
      <p:sp>
        <p:nvSpPr>
          <p:cNvPr id="7" name="TextBox 6"/>
          <p:cNvSpPr txBox="1"/>
          <p:nvPr/>
        </p:nvSpPr>
        <p:spPr>
          <a:xfrm>
            <a:off x="640080" y="2436876"/>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Paste the complete</a:t>
            </a:r>
          </a:p>
          <a:p>
            <a:pPr>
              <a:lnSpc>
                <a:spcPct val="124000"/>
              </a:lnSpc>
              <a:spcBef>
                <a:spcPts val="0"/>
              </a:spcBef>
              <a:spcAft>
                <a:spcPts val="0"/>
              </a:spcAft>
              <a:defRPr sz="2700" b="0">
                <a:solidFill>
                  <a:srgbClr val="23252A"/>
                </a:solidFill>
                <a:latin typeface="DejaVu Sans"/>
              </a:defRPr>
            </a:pPr>
            <a:r>
              <a:t>browser bundle</a:t>
            </a:r>
          </a:p>
        </p:txBody>
      </p:sp>
      <p:sp>
        <p:nvSpPr>
          <p:cNvPr id="8" name="TextBox 7"/>
          <p:cNvSpPr txBox="1"/>
          <p:nvPr/>
        </p:nvSpPr>
        <p:spPr>
          <a:xfrm>
            <a:off x="640080" y="3653028"/>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Gear → BrowserFlight</a:t>
            </a:r>
          </a:p>
          <a:p>
            <a:pPr>
              <a:lnSpc>
                <a:spcPct val="124000"/>
              </a:lnSpc>
              <a:spcBef>
                <a:spcPts val="0"/>
              </a:spcBef>
              <a:spcAft>
                <a:spcPts val="0"/>
              </a:spcAft>
              <a:defRPr sz="2700" b="0">
                <a:solidFill>
                  <a:srgbClr val="23252A"/>
                </a:solidFill>
                <a:latin typeface="DejaVu Sans"/>
              </a:defRPr>
            </a:pPr>
            <a:r>
              <a:t>→ Play</a:t>
            </a:r>
          </a:p>
        </p:txBody>
      </p:sp>
      <p:pic>
        <p:nvPicPr>
          <p:cNvPr id="9" name="Picture 8" descr="browser-drag-linear.png"/>
          <p:cNvPicPr>
            <a:picLocks noChangeAspect="1"/>
          </p:cNvPicPr>
          <p:nvPr/>
        </p:nvPicPr>
        <p:blipFill>
          <a:blip r:embed="rId2"/>
          <a:stretch>
            <a:fillRect/>
          </a:stretch>
        </p:blipFill>
        <p:spPr>
          <a:xfrm>
            <a:off x="4965192" y="1417320"/>
            <a:ext cx="6437376" cy="4023360"/>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You should see BrowserFlight Results and a plot.</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Setup decision · worksheet has every link</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10:25–10:30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Choose a full-workshop route</a:t>
            </a:r>
          </a:p>
        </p:txBody>
      </p:sp>
      <p:sp>
        <p:nvSpPr>
          <p:cNvPr id="6" name="Rectangle 5"/>
          <p:cNvSpPr/>
          <p:nvPr/>
        </p:nvSpPr>
        <p:spPr>
          <a:xfrm>
            <a:off x="59436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459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Browser: modeling and</a:t>
            </a:r>
          </a:p>
          <a:p>
            <a:pPr>
              <a:lnSpc>
                <a:spcPct val="124000"/>
              </a:lnSpc>
              <a:spcBef>
                <a:spcPts val="0"/>
              </a:spcBef>
              <a:spcAft>
                <a:spcPts val="0"/>
              </a:spcAft>
              <a:defRPr sz="2700" b="0">
                <a:solidFill>
                  <a:srgbClr val="23252A"/>
                </a:solidFill>
                <a:latin typeface="DejaVu Sans"/>
              </a:defRPr>
            </a:pPr>
            <a:r>
              <a:t>predictions; no account</a:t>
            </a:r>
          </a:p>
        </p:txBody>
      </p:sp>
      <p:sp>
        <p:nvSpPr>
          <p:cNvPr id="9" name="Rectangle 8"/>
          <p:cNvSpPr/>
          <p:nvPr/>
        </p:nvSpPr>
        <p:spPr>
          <a:xfrm>
            <a:off x="621792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Codespaces: Python + VS</a:t>
            </a:r>
          </a:p>
          <a:p>
            <a:pPr>
              <a:lnSpc>
                <a:spcPct val="124000"/>
              </a:lnSpc>
              <a:spcBef>
                <a:spcPts val="0"/>
              </a:spcBef>
              <a:spcAft>
                <a:spcPts val="0"/>
              </a:spcAft>
              <a:defRPr sz="2700" b="0">
                <a:solidFill>
                  <a:srgbClr val="23252A"/>
                </a:solidFill>
                <a:latin typeface="DejaVu Sans"/>
              </a:defRPr>
            </a:pPr>
            <a:r>
              <a:t>Code; login and allowance</a:t>
            </a:r>
          </a:p>
        </p:txBody>
      </p:sp>
      <p:sp>
        <p:nvSpPr>
          <p:cNvPr id="12" name="Rectangle 11"/>
          <p:cNvSpPr/>
          <p:nvPr/>
        </p:nvSpPr>
        <p:spPr>
          <a:xfrm>
            <a:off x="59436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4747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Local uv: Python + VS</a:t>
            </a:r>
          </a:p>
          <a:p>
            <a:pPr>
              <a:lnSpc>
                <a:spcPct val="124000"/>
              </a:lnSpc>
              <a:spcBef>
                <a:spcPts val="0"/>
              </a:spcBef>
              <a:spcAft>
                <a:spcPts val="0"/>
              </a:spcAft>
              <a:defRPr sz="2700" b="0">
                <a:solidFill>
                  <a:srgbClr val="23252A"/>
                </a:solidFill>
                <a:latin typeface="DejaVu Sans"/>
              </a:defRPr>
            </a:pPr>
            <a:r>
              <a:t>Code; pinned CPU packages</a:t>
            </a:r>
          </a:p>
        </p:txBody>
      </p:sp>
      <p:sp>
        <p:nvSpPr>
          <p:cNvPr id="15" name="Rectangle 14"/>
          <p:cNvSpPr/>
          <p:nvPr/>
        </p:nvSpPr>
        <p:spPr>
          <a:xfrm>
            <a:off x="621792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4747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Pair or screenshare: keep</a:t>
            </a:r>
          </a:p>
          <a:p>
            <a:pPr>
              <a:lnSpc>
                <a:spcPct val="124000"/>
              </a:lnSpc>
              <a:spcBef>
                <a:spcPts val="0"/>
              </a:spcBef>
              <a:spcAft>
                <a:spcPts val="0"/>
              </a:spcAft>
              <a:defRPr sz="2700" b="0">
                <a:solidFill>
                  <a:srgbClr val="23252A"/>
                </a:solidFill>
                <a:latin typeface="DejaVu Sans"/>
              </a:defRPr>
            </a:pPr>
            <a:r>
              <a:t>working if setup fails</a:t>
            </a:r>
          </a:p>
        </p:txBody>
      </p:sp>
      <p:sp>
        <p:nvSpPr>
          <p:cNvPr id="18" name="TextBox 1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Switch route after ten minutes of setup trouble.</a:t>
            </a:r>
          </a:p>
        </p:txBody>
      </p:sp>
      <p:sp>
        <p:nvSpPr>
          <p:cNvPr id="19" name="TextBox 1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20" name="TextBox 1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HANDS-ON · released LSP verified on four platforms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10:30–10:40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Edit with feedback. Check the pipeline.</a:t>
            </a:r>
          </a:p>
        </p:txBody>
      </p:sp>
      <p:sp>
        <p:nvSpPr>
          <p:cNvPr id="6" name="TextBox 5"/>
          <p:cNvSpPr txBox="1"/>
          <p:nvPr/>
        </p:nvSpPr>
        <p:spPr>
          <a:xfrm>
            <a:off x="640080" y="1645920"/>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Open</a:t>
            </a:r>
          </a:p>
          <a:p>
            <a:pPr>
              <a:lnSpc>
                <a:spcPct val="124000"/>
              </a:lnSpc>
              <a:spcBef>
                <a:spcPts val="0"/>
              </a:spcBef>
              <a:spcAft>
                <a:spcPts val="0"/>
              </a:spcAft>
              <a:defRPr sz="2700" b="0">
                <a:solidFill>
                  <a:srgbClr val="23252A"/>
                </a:solidFill>
                <a:latin typeface="DejaVu Sans"/>
              </a:defRPr>
            </a:pPr>
            <a:r>
              <a:t>models/Quadrotor.mo</a:t>
            </a:r>
          </a:p>
        </p:txBody>
      </p:sp>
      <p:sp>
        <p:nvSpPr>
          <p:cNvPr id="7" name="TextBox 6"/>
          <p:cNvSpPr txBox="1"/>
          <p:nvPr/>
        </p:nvSpPr>
        <p:spPr>
          <a:xfrm>
            <a:off x="640080" y="2862072"/>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Hover m; try sin</a:t>
            </a:r>
          </a:p>
          <a:p>
            <a:pPr>
              <a:lnSpc>
                <a:spcPct val="124000"/>
              </a:lnSpc>
              <a:spcBef>
                <a:spcPts val="0"/>
              </a:spcBef>
              <a:spcAft>
                <a:spcPts val="0"/>
              </a:spcAft>
              <a:defRPr sz="2700" b="0">
                <a:solidFill>
                  <a:srgbClr val="23252A"/>
                </a:solidFill>
                <a:latin typeface="DejaVu Sans"/>
              </a:defRPr>
            </a:pPr>
            <a:r>
              <a:t>completion</a:t>
            </a:r>
          </a:p>
        </p:txBody>
      </p:sp>
      <p:sp>
        <p:nvSpPr>
          <p:cNvPr id="8" name="TextBox 7"/>
          <p:cNvSpPr txBox="1"/>
          <p:nvPr/>
        </p:nvSpPr>
        <p:spPr>
          <a:xfrm>
            <a:off x="640080" y="4078224"/>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Run the smoke test;</a:t>
            </a:r>
          </a:p>
          <a:p>
            <a:pPr>
              <a:lnSpc>
                <a:spcPct val="124000"/>
              </a:lnSpc>
              <a:spcBef>
                <a:spcPts val="0"/>
              </a:spcBef>
              <a:spcAft>
                <a:spcPts val="0"/>
              </a:spcAft>
              <a:defRPr sz="2700" b="0">
                <a:solidFill>
                  <a:srgbClr val="23252A"/>
                </a:solidFill>
                <a:latin typeface="DejaVu Sans"/>
              </a:defRPr>
            </a:pPr>
            <a:r>
              <a:t>open results/live</a:t>
            </a:r>
          </a:p>
        </p:txBody>
      </p:sp>
      <p:pic>
        <p:nvPicPr>
          <p:cNvPr id="9" name="Picture 8" descr="vscode-quadrotor.png"/>
          <p:cNvPicPr>
            <a:picLocks noChangeAspect="1"/>
          </p:cNvPicPr>
          <p:nvPr/>
        </p:nvPicPr>
        <p:blipFill>
          <a:blip r:embed="rId2"/>
          <a:stretch>
            <a:fillRect/>
          </a:stretch>
        </p:blipFill>
        <p:spPr>
          <a:xfrm>
            <a:off x="4965192" y="1417320"/>
            <a:ext cx="6437376" cy="4023360"/>
          </a:xfrm>
          <a:prstGeom prst="rect">
            <a:avLst/>
          </a:prstGeom>
        </p:spPr>
      </p:pic>
      <p:sp>
        <p:nvSpPr>
          <p:cNvPr id="10" name="Rectangle 9"/>
          <p:cNvSpPr/>
          <p:nvPr/>
        </p:nvSpPr>
        <p:spPr>
          <a:xfrm>
            <a:off x="594360" y="5650992"/>
            <a:ext cx="11018520" cy="457200"/>
          </a:xfrm>
          <a:prstGeom prst="rect">
            <a:avLst/>
          </a:prstGeom>
          <a:solidFill>
            <a:srgbClr val="232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33288"/>
            <a:ext cx="10753344" cy="442976"/>
          </a:xfrm>
          <a:prstGeom prst="rect">
            <a:avLst/>
          </a:prstGeom>
          <a:noFill/>
        </p:spPr>
        <p:txBody>
          <a:bodyPr wrap="none" lIns="0" rIns="0" tIns="0" bIns="0">
            <a:spAutoFit/>
          </a:bodyPr>
          <a:lstStyle/>
          <a:p>
            <a:pPr>
              <a:lnSpc>
                <a:spcPct val="124000"/>
              </a:lnSpc>
              <a:spcBef>
                <a:spcPts val="0"/>
              </a:spcBef>
              <a:spcAft>
                <a:spcPts val="0"/>
              </a:spcAft>
              <a:defRPr sz="2000" b="0">
                <a:solidFill>
                  <a:srgbClr val="FFFFFF"/>
                </a:solidFill>
                <a:latin typeface="DejaVu Sans Mono"/>
              </a:defRPr>
            </a:pPr>
            <a:r>
              <a:t>uv run --frozen python scripts/smoke_test.py</a:t>
            </a:r>
          </a:p>
        </p:txBody>
      </p:sp>
      <p:sp>
        <p:nvSpPr>
          <p:cNvPr id="12" name="TextBox 11"/>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WORKSHOP PASS · model editor ready</a:t>
            </a:r>
          </a:p>
        </p:txBody>
      </p:sp>
      <p:sp>
        <p:nvSpPr>
          <p:cNvPr id="13" name="TextBox 12"/>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4" name="TextBox 13"/>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Six states · two aggregate inputs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10:40–10:45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A planar quadrotor we can inspect</a:t>
            </a:r>
          </a:p>
        </p:txBody>
      </p:sp>
      <p:sp>
        <p:nvSpPr>
          <p:cNvPr id="6" name="TextBox 5"/>
          <p:cNvSpPr txBox="1"/>
          <p:nvPr/>
        </p:nvSpPr>
        <p:spPr>
          <a:xfrm>
            <a:off x="640080" y="1645920"/>
            <a:ext cx="3986783" cy="553211"/>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World x right; z up</a:t>
            </a:r>
          </a:p>
        </p:txBody>
      </p:sp>
      <p:sp>
        <p:nvSpPr>
          <p:cNvPr id="7" name="TextBox 6"/>
          <p:cNvSpPr txBox="1"/>
          <p:nvPr/>
        </p:nvSpPr>
        <p:spPr>
          <a:xfrm>
            <a:off x="640080" y="2436876"/>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Positive pitch tilts</a:t>
            </a:r>
          </a:p>
          <a:p>
            <a:pPr>
              <a:lnSpc>
                <a:spcPct val="124000"/>
              </a:lnSpc>
              <a:spcBef>
                <a:spcPts val="0"/>
              </a:spcBef>
              <a:spcAft>
                <a:spcPts val="0"/>
              </a:spcAft>
              <a:defRPr sz="2700" b="0">
                <a:solidFill>
                  <a:srgbClr val="23252A"/>
                </a:solidFill>
                <a:latin typeface="DejaVu Sans"/>
              </a:defRPr>
            </a:pPr>
            <a:r>
              <a:t>thrust toward +x</a:t>
            </a:r>
          </a:p>
        </p:txBody>
      </p:sp>
      <p:sp>
        <p:nvSpPr>
          <p:cNvPr id="8" name="TextBox 7"/>
          <p:cNvSpPr txBox="1"/>
          <p:nvPr/>
        </p:nvSpPr>
        <p:spPr>
          <a:xfrm>
            <a:off x="640080" y="3653028"/>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Hover: T = mg =</a:t>
            </a:r>
          </a:p>
          <a:p>
            <a:pPr>
              <a:lnSpc>
                <a:spcPct val="124000"/>
              </a:lnSpc>
              <a:spcBef>
                <a:spcPts val="0"/>
              </a:spcBef>
              <a:spcAft>
                <a:spcPts val="0"/>
              </a:spcAft>
              <a:defRPr sz="2700" b="0">
                <a:solidFill>
                  <a:srgbClr val="23252A"/>
                </a:solidFill>
                <a:latin typeface="DejaVu Sans"/>
              </a:defRPr>
            </a:pPr>
            <a:r>
              <a:t>11.772 N</a:t>
            </a:r>
          </a:p>
        </p:txBody>
      </p:sp>
      <p:pic>
        <p:nvPicPr>
          <p:cNvPr id="9" name="Picture 8" descr="quadrotor.png"/>
          <p:cNvPicPr>
            <a:picLocks noChangeAspect="1"/>
          </p:cNvPicPr>
          <p:nvPr/>
        </p:nvPicPr>
        <p:blipFill>
          <a:blip r:embed="rId2"/>
          <a:stretch>
            <a:fillRect/>
          </a:stretch>
        </p:blipFill>
        <p:spPr>
          <a:xfrm>
            <a:off x="4754880" y="2024108"/>
            <a:ext cx="6857999" cy="2809782"/>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Find velocities, pitch rate, thrust and torque in the model.</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HANDS-ON · predict before running</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10:45–10:55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Your first engineering change: drag</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Change k_quad = 0.0 to 0.08, save, then simulate.</a:t>
            </a:r>
          </a:p>
        </p:txBody>
      </p:sp>
      <p:pic>
        <p:nvPicPr>
          <p:cNvPr id="7" name="Picture 6" descr="drag-law.png"/>
          <p:cNvPicPr>
            <a:picLocks noChangeAspect="1"/>
          </p:cNvPicPr>
          <p:nvPr/>
        </p:nvPicPr>
        <p:blipFill>
          <a:blip r:embed="rId2"/>
          <a:stretch>
            <a:fillRect/>
          </a:stretch>
        </p:blipFill>
        <p:spPr>
          <a:xfrm>
            <a:off x="640080" y="2063005"/>
            <a:ext cx="10881360" cy="3267929"/>
          </a:xfrm>
          <a:prstGeom prst="rect">
            <a:avLst/>
          </a:prstGeom>
        </p:spPr>
      </p:pic>
      <p:sp>
        <p:nvSpPr>
          <p:cNvPr id="8" name="Rectangle 7"/>
          <p:cNvSpPr/>
          <p:nvPr/>
        </p:nvSpPr>
        <p:spPr>
          <a:xfrm>
            <a:off x="594360" y="5650992"/>
            <a:ext cx="11018520" cy="457200"/>
          </a:xfrm>
          <a:prstGeom prst="rect">
            <a:avLst/>
          </a:prstGeom>
          <a:solidFill>
            <a:srgbClr val="232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733288"/>
            <a:ext cx="10753344" cy="442976"/>
          </a:xfrm>
          <a:prstGeom prst="rect">
            <a:avLst/>
          </a:prstGeom>
          <a:noFill/>
        </p:spPr>
        <p:txBody>
          <a:bodyPr wrap="none" lIns="0" rIns="0" tIns="0" bIns="0">
            <a:spAutoFit/>
          </a:bodyPr>
          <a:lstStyle/>
          <a:p>
            <a:pPr>
              <a:lnSpc>
                <a:spcPct val="124000"/>
              </a:lnSpc>
              <a:spcBef>
                <a:spcPts val="0"/>
              </a:spcBef>
              <a:spcAft>
                <a:spcPts val="0"/>
              </a:spcAft>
              <a:defRPr sz="2000" b="0">
                <a:solidFill>
                  <a:srgbClr val="FFFFFF"/>
                </a:solidFill>
                <a:latin typeface="DejaVu Sans Mono"/>
              </a:defRPr>
            </a:pPr>
            <a:r>
              <a:t>uv run --frozen python scripts/simulate.py</a:t>
            </a:r>
          </a:p>
        </p:txBody>
      </p:sp>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What changes at high speed? What about negative velocity?</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HANDS-ON · same prescribed Python inputs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10:55–11:00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More drag, less distance</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Reference at 8 s: 41.60 m → 17.97 m</a:t>
            </a:r>
          </a:p>
        </p:txBody>
      </p:sp>
      <p:pic>
        <p:nvPicPr>
          <p:cNvPr id="7" name="Picture 6" descr="simulation-hero.png"/>
          <p:cNvPicPr>
            <a:picLocks noChangeAspect="1"/>
          </p:cNvPicPr>
          <p:nvPr/>
        </p:nvPicPr>
        <p:blipFill>
          <a:blip r:embed="rId2"/>
          <a:stretch>
            <a:fillRect/>
          </a:stretch>
        </p:blipFill>
        <p:spPr>
          <a:xfrm>
            <a:off x="670680" y="1907540"/>
            <a:ext cx="10820158" cy="3944620"/>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Compare your current default with the two reference cases.</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Ten full minutes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11:00–11:10</a:t>
            </a:r>
          </a:p>
        </p:txBody>
      </p:sp>
      <p:sp>
        <p:nvSpPr>
          <p:cNvPr id="5" name="TextBox 4"/>
          <p:cNvSpPr txBox="1"/>
          <p:nvPr/>
        </p:nvSpPr>
        <p:spPr>
          <a:xfrm>
            <a:off x="594360" y="1097280"/>
            <a:ext cx="11027664" cy="915416"/>
          </a:xfrm>
          <a:prstGeom prst="rect">
            <a:avLst/>
          </a:prstGeom>
          <a:noFill/>
        </p:spPr>
        <p:txBody>
          <a:bodyPr wrap="none" lIns="0" rIns="0" tIns="0" bIns="0">
            <a:spAutoFit/>
          </a:bodyPr>
          <a:lstStyle/>
          <a:p>
            <a:pPr>
              <a:lnSpc>
                <a:spcPct val="124000"/>
              </a:lnSpc>
              <a:spcBef>
                <a:spcPts val="0"/>
              </a:spcBef>
              <a:spcAft>
                <a:spcPts val="0"/>
              </a:spcAft>
              <a:defRPr sz="5000" b="1">
                <a:solidFill>
                  <a:srgbClr val="23252A"/>
                </a:solidFill>
                <a:latin typeface="DejaVu Sans"/>
              </a:defRPr>
            </a:pPr>
            <a:r>
              <a:t>Break · back at 11:10</a:t>
            </a:r>
          </a:p>
        </p:txBody>
      </p:sp>
      <p:sp>
        <p:nvSpPr>
          <p:cNvPr id="6" name="TextBox 5"/>
          <p:cNvSpPr txBox="1"/>
          <p:nvPr/>
        </p:nvSpPr>
        <p:spPr>
          <a:xfrm>
            <a:off x="640080" y="2743200"/>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Keep your editor and terminal open.</a:t>
            </a:r>
          </a:p>
        </p:txBody>
      </p:sp>
      <p:sp>
        <p:nvSpPr>
          <p:cNvPr id="7" name="TextBox 6"/>
          <p:cNvSpPr txBox="1"/>
          <p:nvPr/>
        </p:nvSpPr>
        <p:spPr>
          <a:xfrm>
            <a:off x="640080" y="3513328"/>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Recovery: results/reference/simulation.png</a:t>
            </a:r>
          </a:p>
        </p:txBody>
      </p:sp>
      <p:sp>
        <p:nvSpPr>
          <p:cNvPr id="8" name="TextBox 7"/>
          <p:cNvSpPr txBox="1"/>
          <p:nvPr/>
        </p:nvSpPr>
        <p:spPr>
          <a:xfrm>
            <a:off x="640080" y="4283456"/>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Next: fit drag from noisy flight data.</a:t>
            </a:r>
          </a:p>
        </p:txBody>
      </p:sp>
      <p:sp>
        <p:nvSpPr>
          <p:cNvPr id="9" name="TextBox 8"/>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Worksheet and commands: WORKSHOP.md · scan the opening QR.</a:t>
            </a:r>
          </a:p>
        </p:txBody>
      </p:sp>
      <p:sp>
        <p:nvSpPr>
          <p:cNvPr id="10" name="TextBox 9"/>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1" name="TextBox 10"/>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Synthetic data · seed 20261012</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11:10–11:20</a:t>
            </a:r>
          </a:p>
        </p:txBody>
      </p:sp>
      <p:sp>
        <p:nvSpPr>
          <p:cNvPr id="5" name="TextBox 4"/>
          <p:cNvSpPr txBox="1"/>
          <p:nvPr/>
        </p:nvSpPr>
        <p:spPr>
          <a:xfrm>
            <a:off x="594360" y="713232"/>
            <a:ext cx="11027664" cy="698017"/>
          </a:xfrm>
          <a:prstGeom prst="rect">
            <a:avLst/>
          </a:prstGeom>
          <a:noFill/>
        </p:spPr>
        <p:txBody>
          <a:bodyPr wrap="none" lIns="0" rIns="0" tIns="0" bIns="0">
            <a:spAutoFit/>
          </a:bodyPr>
          <a:lstStyle/>
          <a:p>
            <a:pPr>
              <a:lnSpc>
                <a:spcPct val="124000"/>
              </a:lnSpc>
              <a:spcBef>
                <a:spcPts val="0"/>
              </a:spcBef>
              <a:spcAft>
                <a:spcPts val="0"/>
              </a:spcAft>
              <a:defRPr sz="3619" b="1">
                <a:solidFill>
                  <a:srgbClr val="23252A"/>
                </a:solidFill>
                <a:latin typeface="DejaVu Sans"/>
              </a:defRPr>
            </a:pPr>
            <a:r>
              <a:t>Known experiment. Unknown coefficients.</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Three training flights; one held-out flight. 20 Hz, 8 s each.</a:t>
            </a:r>
          </a:p>
        </p:txBody>
      </p:sp>
      <p:pic>
        <p:nvPicPr>
          <p:cNvPr id="7" name="Picture 6" descr="data-hero.png"/>
          <p:cNvPicPr>
            <a:picLocks noChangeAspect="1"/>
          </p:cNvPicPr>
          <p:nvPr/>
        </p:nvPicPr>
        <p:blipFill>
          <a:blip r:embed="rId2"/>
          <a:stretch>
            <a:fillRect/>
          </a:stretch>
        </p:blipFill>
        <p:spPr>
          <a:xfrm>
            <a:off x="640080" y="1940707"/>
            <a:ext cx="10881360" cy="3878285"/>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Speed variation helps separate linear and quadratic drag.</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JAX autodiff through generated physics + RK4</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11:20–11:30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Differentiate the prediction error</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Positive parameters; noise-scaled loss; bounded optimization</a:t>
            </a:r>
          </a:p>
        </p:txBody>
      </p:sp>
      <p:pic>
        <p:nvPicPr>
          <p:cNvPr id="7" name="Picture 6" descr="fit-workflow.png"/>
          <p:cNvPicPr>
            <a:picLocks noChangeAspect="1"/>
          </p:cNvPicPr>
          <p:nvPr/>
        </p:nvPicPr>
        <p:blipFill>
          <a:blip r:embed="rId2"/>
          <a:stretch>
            <a:fillRect/>
          </a:stretch>
        </p:blipFill>
        <p:spPr>
          <a:xfrm>
            <a:off x="781248" y="1907540"/>
            <a:ext cx="10599022" cy="3944620"/>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JAX provides gradients. SciPy updates the coefficients.</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HANDS-ON · estimates ≈ 0.18042 and 0.07991</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11:30–11:50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Run the fit. Test the held-out flight.</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Open fit_drag.png and fit_drag.json; compare before and after.</a:t>
            </a:r>
          </a:p>
        </p:txBody>
      </p:sp>
      <p:pic>
        <p:nvPicPr>
          <p:cNvPr id="7" name="Picture 6" descr="fit-hero.png"/>
          <p:cNvPicPr>
            <a:picLocks noChangeAspect="1"/>
          </p:cNvPicPr>
          <p:nvPr/>
        </p:nvPicPr>
        <p:blipFill>
          <a:blip r:embed="rId2"/>
          <a:stretch>
            <a:fillRect/>
          </a:stretch>
        </p:blipFill>
        <p:spPr>
          <a:xfrm>
            <a:off x="1279611" y="1907540"/>
            <a:ext cx="9602296" cy="3578859"/>
          </a:xfrm>
          <a:prstGeom prst="rect">
            <a:avLst/>
          </a:prstGeom>
        </p:spPr>
      </p:pic>
      <p:sp>
        <p:nvSpPr>
          <p:cNvPr id="8" name="Rectangle 7"/>
          <p:cNvSpPr/>
          <p:nvPr/>
        </p:nvSpPr>
        <p:spPr>
          <a:xfrm>
            <a:off x="594360" y="5650992"/>
            <a:ext cx="11018520" cy="457200"/>
          </a:xfrm>
          <a:prstGeom prst="rect">
            <a:avLst/>
          </a:prstGeom>
          <a:solidFill>
            <a:srgbClr val="232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733288"/>
            <a:ext cx="10753344" cy="442976"/>
          </a:xfrm>
          <a:prstGeom prst="rect">
            <a:avLst/>
          </a:prstGeom>
          <a:noFill/>
        </p:spPr>
        <p:txBody>
          <a:bodyPr wrap="none" lIns="0" rIns="0" tIns="0" bIns="0">
            <a:spAutoFit/>
          </a:bodyPr>
          <a:lstStyle/>
          <a:p>
            <a:pPr>
              <a:lnSpc>
                <a:spcPct val="124000"/>
              </a:lnSpc>
              <a:spcBef>
                <a:spcPts val="0"/>
              </a:spcBef>
              <a:spcAft>
                <a:spcPts val="0"/>
              </a:spcAft>
              <a:defRPr sz="2000" b="0">
                <a:solidFill>
                  <a:srgbClr val="FFFFFF"/>
                </a:solidFill>
                <a:latin typeface="DejaVu Sans Mono"/>
              </a:defRPr>
            </a:pPr>
            <a:r>
              <a:t>uv run --frozen python scripts/fit_drag_jax.py</a:t>
            </a:r>
          </a:p>
        </p:txBody>
      </p:sp>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Two coefficients · lower loss · improved held-out prediction</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Checkpoint · go deeper at your own pace</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11:50–12:00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Check your result. Keep building.</a:t>
            </a:r>
          </a:p>
        </p:txBody>
      </p:sp>
      <p:sp>
        <p:nvSpPr>
          <p:cNvPr id="6" name="Rectangle 5"/>
          <p:cNvSpPr/>
          <p:nvPr/>
        </p:nvSpPr>
        <p:spPr>
          <a:xfrm>
            <a:off x="59436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459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Open your before-and-after</a:t>
            </a:r>
          </a:p>
          <a:p>
            <a:pPr>
              <a:lnSpc>
                <a:spcPct val="124000"/>
              </a:lnSpc>
              <a:spcBef>
                <a:spcPts val="0"/>
              </a:spcBef>
              <a:spcAft>
                <a:spcPts val="0"/>
              </a:spcAft>
              <a:defRPr sz="2700" b="0">
                <a:solidFill>
                  <a:srgbClr val="23252A"/>
                </a:solidFill>
                <a:latin typeface="DejaVu Sans"/>
              </a:defRPr>
            </a:pPr>
            <a:r>
              <a:t>prediction plot</a:t>
            </a:r>
          </a:p>
        </p:txBody>
      </p:sp>
      <p:sp>
        <p:nvSpPr>
          <p:cNvPr id="9" name="Rectangle 8"/>
          <p:cNvSpPr/>
          <p:nvPr/>
        </p:nvSpPr>
        <p:spPr>
          <a:xfrm>
            <a:off x="621792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Compare the held-out flight</a:t>
            </a:r>
          </a:p>
          <a:p>
            <a:pPr>
              <a:lnSpc>
                <a:spcPct val="124000"/>
              </a:lnSpc>
              <a:spcBef>
                <a:spcPts val="0"/>
              </a:spcBef>
              <a:spcAft>
                <a:spcPts val="0"/>
              </a:spcAft>
              <a:defRPr sz="2700" b="0">
                <a:solidFill>
                  <a:srgbClr val="23252A"/>
                </a:solidFill>
                <a:latin typeface="DejaVu Sans"/>
              </a:defRPr>
            </a:pPr>
            <a:r>
              <a:t>and fitted values</a:t>
            </a:r>
          </a:p>
        </p:txBody>
      </p:sp>
      <p:sp>
        <p:nvSpPr>
          <p:cNvPr id="12" name="Rectangle 11"/>
          <p:cNvSpPr/>
          <p:nvPr/>
        </p:nvSpPr>
        <p:spPr>
          <a:xfrm>
            <a:off x="59436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4747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Stretch: rerun from another</a:t>
            </a:r>
          </a:p>
          <a:p>
            <a:pPr>
              <a:lnSpc>
                <a:spcPct val="124000"/>
              </a:lnSpc>
              <a:spcBef>
                <a:spcPts val="0"/>
              </a:spcBef>
              <a:spcAft>
                <a:spcPts val="0"/>
              </a:spcAft>
              <a:defRPr sz="2700" b="0">
                <a:solidFill>
                  <a:srgbClr val="23252A"/>
                </a:solidFill>
                <a:latin typeface="DejaVu Sans"/>
              </a:defRPr>
            </a:pPr>
            <a:r>
              <a:t>starting guess</a:t>
            </a:r>
          </a:p>
        </p:txBody>
      </p:sp>
      <p:sp>
        <p:nvSpPr>
          <p:cNvPr id="15" name="Rectangle 14"/>
          <p:cNvSpPr/>
          <p:nvPr/>
        </p:nvSpPr>
        <p:spPr>
          <a:xfrm>
            <a:off x="621792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4747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App builders: keep your</a:t>
            </a:r>
          </a:p>
          <a:p>
            <a:pPr>
              <a:lnSpc>
                <a:spcPct val="124000"/>
              </a:lnSpc>
              <a:spcBef>
                <a:spcPts val="0"/>
              </a:spcBef>
              <a:spcAft>
                <a:spcPts val="0"/>
              </a:spcAft>
              <a:defRPr sz="2700" b="0">
                <a:solidFill>
                  <a:srgbClr val="23252A"/>
                </a:solidFill>
                <a:latin typeface="DejaVu Sans"/>
              </a:defRPr>
            </a:pPr>
            <a:r>
              <a:t>prototype moving</a:t>
            </a:r>
          </a:p>
        </p:txBody>
      </p:sp>
      <p:sp>
        <p:nvSpPr>
          <p:cNvPr id="18" name="TextBox 1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Fit complete? Continue your app or explore the optional checks.</a:t>
            </a:r>
          </a:p>
        </p:txBody>
      </p:sp>
      <p:sp>
        <p:nvSpPr>
          <p:cNvPr id="19" name="TextBox 1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20" name="TextBox 1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Ten full minutes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12:00–12:10</a:t>
            </a:r>
          </a:p>
        </p:txBody>
      </p:sp>
      <p:sp>
        <p:nvSpPr>
          <p:cNvPr id="5" name="TextBox 4"/>
          <p:cNvSpPr txBox="1"/>
          <p:nvPr/>
        </p:nvSpPr>
        <p:spPr>
          <a:xfrm>
            <a:off x="594360" y="1097280"/>
            <a:ext cx="11027664" cy="915416"/>
          </a:xfrm>
          <a:prstGeom prst="rect">
            <a:avLst/>
          </a:prstGeom>
          <a:noFill/>
        </p:spPr>
        <p:txBody>
          <a:bodyPr wrap="none" lIns="0" rIns="0" tIns="0" bIns="0">
            <a:spAutoFit/>
          </a:bodyPr>
          <a:lstStyle/>
          <a:p>
            <a:pPr>
              <a:lnSpc>
                <a:spcPct val="124000"/>
              </a:lnSpc>
              <a:spcBef>
                <a:spcPts val="0"/>
              </a:spcBef>
              <a:spcAft>
                <a:spcPts val="0"/>
              </a:spcAft>
              <a:defRPr sz="5000" b="1">
                <a:solidFill>
                  <a:srgbClr val="23252A"/>
                </a:solidFill>
                <a:latin typeface="DejaVu Sans"/>
              </a:defRPr>
            </a:pPr>
            <a:r>
              <a:t>Break · back at 12:10</a:t>
            </a:r>
          </a:p>
        </p:txBody>
      </p:sp>
      <p:sp>
        <p:nvSpPr>
          <p:cNvPr id="6" name="TextBox 5"/>
          <p:cNvSpPr txBox="1"/>
          <p:nvPr/>
        </p:nvSpPr>
        <p:spPr>
          <a:xfrm>
            <a:off x="640080" y="2743200"/>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Keep results/live/fit_drag.json.</a:t>
            </a:r>
          </a:p>
        </p:txBody>
      </p:sp>
      <p:sp>
        <p:nvSpPr>
          <p:cNvPr id="7" name="TextBox 6"/>
          <p:cNvSpPr txBox="1"/>
          <p:nvPr/>
        </p:nvSpPr>
        <p:spPr>
          <a:xfrm>
            <a:off x="640080" y="3513328"/>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Next: use your coefficients to optimize a flight.</a:t>
            </a:r>
          </a:p>
        </p:txBody>
      </p:sp>
      <p:sp>
        <p:nvSpPr>
          <p:cNvPr id="8" name="TextBox 7"/>
          <p:cNvSpPr txBox="1"/>
          <p:nvPr/>
        </p:nvSpPr>
        <p:spPr>
          <a:xfrm>
            <a:off x="640080" y="4283456"/>
            <a:ext cx="10753344" cy="568959"/>
          </a:xfrm>
          <a:prstGeom prst="rect">
            <a:avLst/>
          </a:prstGeom>
          <a:noFill/>
        </p:spPr>
        <p:txBody>
          <a:bodyPr wrap="none" lIns="0" rIns="0" tIns="0" bIns="0">
            <a:spAutoFit/>
          </a:bodyPr>
          <a:lstStyle/>
          <a:p>
            <a:pPr>
              <a:lnSpc>
                <a:spcPct val="124000"/>
              </a:lnSpc>
              <a:spcBef>
                <a:spcPts val="0"/>
              </a:spcBef>
              <a:spcAft>
                <a:spcPts val="0"/>
              </a:spcAft>
              <a:defRPr sz="2800" b="0">
                <a:solidFill>
                  <a:srgbClr val="23252A"/>
                </a:solidFill>
                <a:latin typeface="DejaVu Sans"/>
              </a:defRPr>
            </a:pPr>
            <a:r>
              <a:t>Recovery: results/reference/fit_drag.png</a:t>
            </a:r>
          </a:p>
        </p:txBody>
      </p:sp>
      <p:sp>
        <p:nvSpPr>
          <p:cNvPr id="9" name="TextBox 8"/>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Same Modelica source; now compile to CasADi.</a:t>
            </a:r>
          </a:p>
        </p:txBody>
      </p:sp>
      <p:sp>
        <p:nvSpPr>
          <p:cNvPr id="10" name="TextBox 9"/>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1" name="TextBox 10"/>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CasADi symbolic dynamics · IPOPT local NLP</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12:10–12:20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Move between hovers, respect limits</a:t>
            </a:r>
          </a:p>
        </p:txBody>
      </p:sp>
      <p:sp>
        <p:nvSpPr>
          <p:cNvPr id="6" name="TextBox 5"/>
          <p:cNvSpPr txBox="1"/>
          <p:nvPr/>
        </p:nvSpPr>
        <p:spPr>
          <a:xfrm>
            <a:off x="640080" y="1645920"/>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(0, 1) m → (4, 2) m in</a:t>
            </a:r>
          </a:p>
          <a:p>
            <a:pPr>
              <a:lnSpc>
                <a:spcPct val="124000"/>
              </a:lnSpc>
              <a:spcBef>
                <a:spcPts val="0"/>
              </a:spcBef>
              <a:spcAft>
                <a:spcPts val="0"/>
              </a:spcAft>
              <a:defRPr sz="2700" b="0">
                <a:solidFill>
                  <a:srgbClr val="23252A"/>
                </a:solidFill>
                <a:latin typeface="DejaVu Sans"/>
              </a:defRPr>
            </a:pPr>
            <a:r>
              <a:t>6 s</a:t>
            </a:r>
          </a:p>
        </p:txBody>
      </p:sp>
      <p:sp>
        <p:nvSpPr>
          <p:cNvPr id="7" name="TextBox 6"/>
          <p:cNvSpPr txBox="1"/>
          <p:nvPr/>
        </p:nvSpPr>
        <p:spPr>
          <a:xfrm>
            <a:off x="640080" y="2862072"/>
            <a:ext cx="3986783" cy="1403604"/>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Track target; limit</a:t>
            </a:r>
          </a:p>
          <a:p>
            <a:pPr>
              <a:lnSpc>
                <a:spcPct val="124000"/>
              </a:lnSpc>
              <a:spcBef>
                <a:spcPts val="0"/>
              </a:spcBef>
              <a:spcAft>
                <a:spcPts val="0"/>
              </a:spcAft>
              <a:defRPr sz="2700" b="0">
                <a:solidFill>
                  <a:srgbClr val="23252A"/>
                </a:solidFill>
                <a:latin typeface="DejaVu Sans"/>
              </a:defRPr>
            </a:pPr>
            <a:r>
              <a:t>effort and control</a:t>
            </a:r>
          </a:p>
          <a:p>
            <a:pPr>
              <a:lnSpc>
                <a:spcPct val="124000"/>
              </a:lnSpc>
              <a:spcBef>
                <a:spcPts val="0"/>
              </a:spcBef>
              <a:spcAft>
                <a:spcPts val="0"/>
              </a:spcAft>
              <a:defRPr sz="2700" b="0">
                <a:solidFill>
                  <a:srgbClr val="23252A"/>
                </a:solidFill>
                <a:latin typeface="DejaVu Sans"/>
              </a:defRPr>
            </a:pPr>
            <a:r>
              <a:t>changes</a:t>
            </a:r>
          </a:p>
        </p:txBody>
      </p:sp>
      <p:sp>
        <p:nvSpPr>
          <p:cNvPr id="8" name="TextBox 7"/>
          <p:cNvSpPr txBox="1"/>
          <p:nvPr/>
        </p:nvSpPr>
        <p:spPr>
          <a:xfrm>
            <a:off x="640080" y="4503420"/>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Bound thrust, torque,</a:t>
            </a:r>
          </a:p>
          <a:p>
            <a:pPr>
              <a:lnSpc>
                <a:spcPct val="124000"/>
              </a:lnSpc>
              <a:spcBef>
                <a:spcPts val="0"/>
              </a:spcBef>
              <a:spcAft>
                <a:spcPts val="0"/>
              </a:spcAft>
              <a:defRPr sz="2700" b="0">
                <a:solidFill>
                  <a:srgbClr val="23252A"/>
                </a:solidFill>
                <a:latin typeface="DejaVu Sans"/>
              </a:defRPr>
            </a:pPr>
            <a:r>
              <a:t>pitch and altitude</a:t>
            </a:r>
          </a:p>
        </p:txBody>
      </p:sp>
      <p:pic>
        <p:nvPicPr>
          <p:cNvPr id="9" name="Picture 8" descr="control-problem.png"/>
          <p:cNvPicPr>
            <a:picLocks noChangeAspect="1"/>
          </p:cNvPicPr>
          <p:nvPr/>
        </p:nvPicPr>
        <p:blipFill>
          <a:blip r:embed="rId2"/>
          <a:stretch>
            <a:fillRect/>
          </a:stretch>
        </p:blipFill>
        <p:spPr>
          <a:xfrm>
            <a:off x="4754880" y="2070716"/>
            <a:ext cx="6857999" cy="2716566"/>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Identified drag is an input to this optimization.</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HANDS-ON · fitted physics, constrained trajectory</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12:20–12:40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Solve. Inspect. Explain the braking.</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Open optimization.png and optimization.json.</a:t>
            </a:r>
          </a:p>
        </p:txBody>
      </p:sp>
      <p:pic>
        <p:nvPicPr>
          <p:cNvPr id="7" name="Picture 6" descr="control-hero.png"/>
          <p:cNvPicPr>
            <a:picLocks noChangeAspect="1"/>
          </p:cNvPicPr>
          <p:nvPr/>
        </p:nvPicPr>
        <p:blipFill>
          <a:blip r:embed="rId2"/>
          <a:stretch>
            <a:fillRect/>
          </a:stretch>
        </p:blipFill>
        <p:spPr>
          <a:xfrm>
            <a:off x="1279611" y="1907540"/>
            <a:ext cx="9602296" cy="3578859"/>
          </a:xfrm>
          <a:prstGeom prst="rect">
            <a:avLst/>
          </a:prstGeom>
        </p:spPr>
      </p:pic>
      <p:sp>
        <p:nvSpPr>
          <p:cNvPr id="8" name="Rectangle 7"/>
          <p:cNvSpPr/>
          <p:nvPr/>
        </p:nvSpPr>
        <p:spPr>
          <a:xfrm>
            <a:off x="594360" y="5650992"/>
            <a:ext cx="11018520" cy="457200"/>
          </a:xfrm>
          <a:prstGeom prst="rect">
            <a:avLst/>
          </a:prstGeom>
          <a:solidFill>
            <a:srgbClr val="232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733288"/>
            <a:ext cx="10753344" cy="442976"/>
          </a:xfrm>
          <a:prstGeom prst="rect">
            <a:avLst/>
          </a:prstGeom>
          <a:noFill/>
        </p:spPr>
        <p:txBody>
          <a:bodyPr wrap="none" lIns="0" rIns="0" tIns="0" bIns="0">
            <a:spAutoFit/>
          </a:bodyPr>
          <a:lstStyle/>
          <a:p>
            <a:pPr>
              <a:lnSpc>
                <a:spcPct val="124000"/>
              </a:lnSpc>
              <a:spcBef>
                <a:spcPts val="0"/>
              </a:spcBef>
              <a:spcAft>
                <a:spcPts val="0"/>
              </a:spcAft>
              <a:defRPr sz="2000" b="0">
                <a:solidFill>
                  <a:srgbClr val="FFFFFF"/>
                </a:solidFill>
                <a:latin typeface="DejaVu Sans Mono"/>
              </a:defRPr>
            </a:pPr>
            <a:r>
              <a:t>uv run --frozen python scripts/optimize_casadi.py</a:t>
            </a:r>
          </a:p>
        </p:txBody>
      </p:sp>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Solve_Succeeded · limits respected · arrive near rest</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Public Purdue / CogniPilot work · separate from today’s demo</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12:40–12:45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Bring the model back to the experiment</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PURT: aircraft experiments, racing and security applications</a:t>
            </a:r>
          </a:p>
        </p:txBody>
      </p:sp>
      <p:pic>
        <p:nvPicPr>
          <p:cNvPr id="7" name="Picture 6" descr="research-loop.png"/>
          <p:cNvPicPr>
            <a:picLocks noChangeAspect="1"/>
          </p:cNvPicPr>
          <p:nvPr/>
        </p:nvPicPr>
        <p:blipFill>
          <a:blip r:embed="rId2"/>
          <a:stretch>
            <a:fillRect/>
          </a:stretch>
        </p:blipFill>
        <p:spPr>
          <a:xfrm>
            <a:off x="640080" y="2073332"/>
            <a:ext cx="10881360" cy="3613034"/>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Experimental validation is the next engineering step.</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AGENT-BUILT APPS · try fixed-wing or finish your own demo</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12:45–12:50</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Explore the fixed-wing workbench</a:t>
            </a:r>
          </a:p>
        </p:txBody>
      </p:sp>
      <p:sp>
        <p:nvSpPr>
          <p:cNvPr id="6" name="TextBox 5"/>
          <p:cNvSpPr txBox="1"/>
          <p:nvPr/>
        </p:nvSpPr>
        <p:spPr>
          <a:xfrm>
            <a:off x="640080" y="1645920"/>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Modelica flight</a:t>
            </a:r>
          </a:p>
          <a:p>
            <a:pPr>
              <a:lnSpc>
                <a:spcPct val="124000"/>
              </a:lnSpc>
              <a:spcBef>
                <a:spcPts val="0"/>
              </a:spcBef>
              <a:spcAft>
                <a:spcPts val="0"/>
              </a:spcAft>
              <a:defRPr sz="2700" b="0">
                <a:solidFill>
                  <a:srgbClr val="23252A"/>
                </a:solidFill>
                <a:latin typeface="DejaVu Sans"/>
              </a:defRPr>
            </a:pPr>
            <a:r>
              <a:t>simulation + autopilot</a:t>
            </a:r>
          </a:p>
        </p:txBody>
      </p:sp>
      <p:sp>
        <p:nvSpPr>
          <p:cNvPr id="7" name="TextBox 6"/>
          <p:cNvSpPr txBox="1"/>
          <p:nvPr/>
        </p:nvSpPr>
        <p:spPr>
          <a:xfrm>
            <a:off x="640080" y="2862072"/>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Try 50 Hz → 20 Hz,</a:t>
            </a:r>
          </a:p>
          <a:p>
            <a:pPr>
              <a:lnSpc>
                <a:spcPct val="124000"/>
              </a:lnSpc>
              <a:spcBef>
                <a:spcPts val="0"/>
              </a:spcBef>
              <a:spcAft>
                <a:spcPts val="0"/>
              </a:spcAft>
              <a:defRPr sz="2700" b="0">
                <a:solidFill>
                  <a:srgbClr val="23252A"/>
                </a:solidFill>
                <a:latin typeface="DejaVu Sans"/>
              </a:defRPr>
            </a:pPr>
            <a:r>
              <a:t>restart, then observe</a:t>
            </a:r>
          </a:p>
        </p:txBody>
      </p:sp>
      <p:sp>
        <p:nvSpPr>
          <p:cNvPr id="8" name="TextBox 7"/>
          <p:cNvSpPr txBox="1"/>
          <p:nvPr/>
        </p:nvSpPr>
        <p:spPr>
          <a:xfrm>
            <a:off x="640080" y="4078224"/>
            <a:ext cx="3986783" cy="1403604"/>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Also: slam_web (in</a:t>
            </a:r>
          </a:p>
          <a:p>
            <a:pPr>
              <a:lnSpc>
                <a:spcPct val="124000"/>
              </a:lnSpc>
              <a:spcBef>
                <a:spcPts val="0"/>
              </a:spcBef>
              <a:spcAft>
                <a:spcPts val="0"/>
              </a:spcAft>
              <a:defRPr sz="2700" b="0">
                <a:solidFill>
                  <a:srgbClr val="23252A"/>
                </a:solidFill>
                <a:latin typeface="DejaVu Sans"/>
              </a:defRPr>
            </a:pPr>
            <a:r>
              <a:t>development),</a:t>
            </a:r>
          </a:p>
          <a:p>
            <a:pPr>
              <a:lnSpc>
                <a:spcPct val="124000"/>
              </a:lnSpc>
              <a:spcBef>
                <a:spcPts val="0"/>
              </a:spcBef>
              <a:spcAft>
                <a:spcPts val="0"/>
              </a:spcAft>
              <a:defRPr sz="2700" b="0">
                <a:solidFill>
                  <a:srgbClr val="23252A"/>
                </a:solidFill>
                <a:latin typeface="DejaVu Sans"/>
              </a:defRPr>
            </a:pPr>
            <a:r>
              <a:t>mocap_sysid</a:t>
            </a:r>
          </a:p>
        </p:txBody>
      </p:sp>
      <p:pic>
        <p:nvPicPr>
          <p:cNvPr id="9" name="Picture 8" descr="app-rumoca_fixed_wing.png"/>
          <p:cNvPicPr>
            <a:picLocks noChangeAspect="1"/>
          </p:cNvPicPr>
          <p:nvPr/>
        </p:nvPicPr>
        <p:blipFill>
          <a:blip r:embed="rId2"/>
          <a:stretch>
            <a:fillRect/>
          </a:stretch>
        </p:blipFill>
        <p:spPr>
          <a:xfrm>
            <a:off x="4965192" y="1417320"/>
            <a:ext cx="6437376" cy="4023360"/>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Live links + short experiments: BROWSER_APPS.md</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OPEN CHALLENGE · short demos · audience show of hands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12:50–12:55</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Show your app. Vote for the cap.</a:t>
            </a:r>
          </a:p>
        </p:txBody>
      </p:sp>
      <p:sp>
        <p:nvSpPr>
          <p:cNvPr id="6" name="TextBox 5"/>
          <p:cNvSpPr txBox="1"/>
          <p:nvPr/>
        </p:nvSpPr>
        <p:spPr>
          <a:xfrm>
            <a:off x="685800" y="1828800"/>
            <a:ext cx="10844784" cy="60045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Up to 5 demos · 45 seconds each · your GitHub</a:t>
            </a:r>
          </a:p>
        </p:txBody>
      </p:sp>
      <p:sp>
        <p:nvSpPr>
          <p:cNvPr id="7" name="TextBox 6"/>
          <p:cNvSpPr txBox="1"/>
          <p:nvPr/>
        </p:nvSpPr>
        <p:spPr>
          <a:xfrm>
            <a:off x="685800" y="2767583"/>
            <a:ext cx="10844784" cy="60045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One checked result · agent used · elapsed build time</a:t>
            </a:r>
          </a:p>
        </p:txBody>
      </p:sp>
      <p:sp>
        <p:nvSpPr>
          <p:cNvPr id="8" name="TextBox 7"/>
          <p:cNvSpPr txBox="1"/>
          <p:nvPr/>
        </p:nvSpPr>
        <p:spPr>
          <a:xfrm>
            <a:off x="685800" y="3706367"/>
            <a:ext cx="10844784" cy="60045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Audience favorite wins a free CogniPilot stocking cap</a:t>
            </a:r>
          </a:p>
        </p:txBody>
      </p:sp>
      <p:sp>
        <p:nvSpPr>
          <p:cNvPr id="9" name="TextBox 8"/>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Random draw if more than 5 ready entries → audience hand vote</a:t>
            </a:r>
          </a:p>
        </p:txBody>
      </p:sp>
      <p:sp>
        <p:nvSpPr>
          <p:cNvPr id="10" name="TextBox 9"/>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1" name="TextBox 10"/>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Keep the model. Change the question.</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12:55–13:00</a:t>
            </a:r>
          </a:p>
        </p:txBody>
      </p:sp>
      <p:sp>
        <p:nvSpPr>
          <p:cNvPr id="5" name="TextBox 4"/>
          <p:cNvSpPr txBox="1"/>
          <p:nvPr/>
        </p:nvSpPr>
        <p:spPr>
          <a:xfrm>
            <a:off x="594360" y="1051560"/>
            <a:ext cx="10021824" cy="1765808"/>
          </a:xfrm>
          <a:prstGeom prst="rect">
            <a:avLst/>
          </a:prstGeom>
          <a:noFill/>
        </p:spPr>
        <p:txBody>
          <a:bodyPr wrap="none" lIns="0" rIns="0" tIns="0" bIns="0">
            <a:spAutoFit/>
          </a:bodyPr>
          <a:lstStyle/>
          <a:p>
            <a:pPr>
              <a:lnSpc>
                <a:spcPct val="124000"/>
              </a:lnSpc>
              <a:spcBef>
                <a:spcPts val="0"/>
              </a:spcBef>
              <a:spcAft>
                <a:spcPts val="0"/>
              </a:spcAft>
              <a:defRPr sz="5200" b="1">
                <a:solidFill>
                  <a:srgbClr val="23252A"/>
                </a:solidFill>
                <a:latin typeface="DejaVu Sans"/>
              </a:defRPr>
            </a:pPr>
            <a:r>
              <a:t>Questions + your next</a:t>
            </a:r>
          </a:p>
          <a:p>
            <a:pPr>
              <a:lnSpc>
                <a:spcPct val="124000"/>
              </a:lnSpc>
              <a:spcBef>
                <a:spcPts val="0"/>
              </a:spcBef>
              <a:spcAft>
                <a:spcPts val="0"/>
              </a:spcAft>
              <a:defRPr sz="5200" b="1">
                <a:solidFill>
                  <a:srgbClr val="23252A"/>
                </a:solidFill>
                <a:latin typeface="DejaVu Sans"/>
              </a:defRPr>
            </a:pPr>
            <a:r>
              <a:t>problem</a:t>
            </a:r>
          </a:p>
        </p:txBody>
      </p:sp>
      <p:sp>
        <p:nvSpPr>
          <p:cNvPr id="6" name="TextBox 5"/>
          <p:cNvSpPr txBox="1"/>
          <p:nvPr/>
        </p:nvSpPr>
        <p:spPr>
          <a:xfrm>
            <a:off x="640080" y="3018536"/>
            <a:ext cx="7918704" cy="9154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Bring a modeling, identification or optimization</a:t>
            </a:r>
          </a:p>
          <a:p>
            <a:pPr>
              <a:lnSpc>
                <a:spcPct val="124000"/>
              </a:lnSpc>
              <a:spcBef>
                <a:spcPts val="0"/>
              </a:spcBef>
              <a:spcAft>
                <a:spcPts val="0"/>
              </a:spcAft>
              <a:defRPr sz="2500" b="0">
                <a:solidFill>
                  <a:srgbClr val="23252A"/>
                </a:solidFill>
                <a:latin typeface="DejaVu Sans"/>
              </a:defRPr>
            </a:pPr>
            <a:r>
              <a:t>problem</a:t>
            </a:r>
          </a:p>
        </p:txBody>
      </p:sp>
      <p:sp>
        <p:nvSpPr>
          <p:cNvPr id="7" name="TextBox 6"/>
          <p:cNvSpPr txBox="1"/>
          <p:nvPr/>
        </p:nvSpPr>
        <p:spPr>
          <a:xfrm>
            <a:off x="640080" y="4061968"/>
            <a:ext cx="7918704" cy="9154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Share a reproducible model and a measurable</a:t>
            </a:r>
          </a:p>
          <a:p>
            <a:pPr>
              <a:lnSpc>
                <a:spcPct val="124000"/>
              </a:lnSpc>
              <a:spcBef>
                <a:spcPts val="0"/>
              </a:spcBef>
              <a:spcAft>
                <a:spcPts val="0"/>
              </a:spcAft>
              <a:defRPr sz="2500" b="0">
                <a:solidFill>
                  <a:srgbClr val="23252A"/>
                </a:solidFill>
                <a:latin typeface="DejaVu Sans"/>
              </a:defRPr>
            </a:pPr>
            <a:r>
              <a:t>result</a:t>
            </a:r>
          </a:p>
        </p:txBody>
      </p:sp>
      <p:sp>
        <p:nvSpPr>
          <p:cNvPr id="8" name="TextBox 7"/>
          <p:cNvSpPr txBox="1"/>
          <p:nvPr/>
        </p:nvSpPr>
        <p:spPr>
          <a:xfrm>
            <a:off x="640080" y="5105400"/>
            <a:ext cx="7918704" cy="915416"/>
          </a:xfrm>
          <a:prstGeom prst="rect">
            <a:avLst/>
          </a:prstGeom>
          <a:noFill/>
        </p:spPr>
        <p:txBody>
          <a:bodyPr wrap="none" lIns="0" rIns="0" tIns="0" bIns="0">
            <a:spAutoFit/>
          </a:bodyPr>
          <a:lstStyle/>
          <a:p>
            <a:pPr>
              <a:lnSpc>
                <a:spcPct val="124000"/>
              </a:lnSpc>
              <a:spcBef>
                <a:spcPts val="0"/>
              </a:spcBef>
              <a:spcAft>
                <a:spcPts val="0"/>
              </a:spcAft>
              <a:defRPr sz="2500" b="0">
                <a:solidFill>
                  <a:srgbClr val="23252A"/>
                </a:solidFill>
                <a:latin typeface="DejaVu Sans"/>
              </a:defRPr>
            </a:pPr>
            <a:r>
              <a:t>Collaborate with Purdue and the open-source</a:t>
            </a:r>
          </a:p>
          <a:p>
            <a:pPr>
              <a:lnSpc>
                <a:spcPct val="124000"/>
              </a:lnSpc>
              <a:spcBef>
                <a:spcPts val="0"/>
              </a:spcBef>
              <a:spcAft>
                <a:spcPts val="0"/>
              </a:spcAft>
              <a:defRPr sz="2500" b="0">
                <a:solidFill>
                  <a:srgbClr val="23252A"/>
                </a:solidFill>
                <a:latin typeface="DejaVu Sans"/>
              </a:defRPr>
            </a:pPr>
            <a:r>
              <a:t>community</a:t>
            </a:r>
          </a:p>
        </p:txBody>
      </p:sp>
      <p:pic>
        <p:nvPicPr>
          <p:cNvPr id="9" name="Picture 8" descr="repo-qr.png"/>
          <p:cNvPicPr>
            <a:picLocks noChangeAspect="1"/>
          </p:cNvPicPr>
          <p:nvPr/>
        </p:nvPicPr>
        <p:blipFill>
          <a:blip r:embed="rId2"/>
          <a:stretch>
            <a:fillRect/>
          </a:stretch>
        </p:blipFill>
        <p:spPr>
          <a:xfrm>
            <a:off x="9144000" y="2743200"/>
            <a:ext cx="2148840" cy="2148840"/>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github.com/CogniPilot/rumoca_workshop_amc2026</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Scope matters · MATH_REVIEW.md</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Appendix</a:t>
            </a:r>
          </a:p>
        </p:txBody>
      </p:sp>
      <p:sp>
        <p:nvSpPr>
          <p:cNvPr id="5" name="TextBox 4"/>
          <p:cNvSpPr txBox="1"/>
          <p:nvPr/>
        </p:nvSpPr>
        <p:spPr>
          <a:xfrm>
            <a:off x="594360" y="713232"/>
            <a:ext cx="11027664" cy="708828"/>
          </a:xfrm>
          <a:prstGeom prst="rect">
            <a:avLst/>
          </a:prstGeom>
          <a:noFill/>
        </p:spPr>
        <p:txBody>
          <a:bodyPr wrap="none" lIns="0" rIns="0" tIns="0" bIns="0">
            <a:spAutoFit/>
          </a:bodyPr>
          <a:lstStyle/>
          <a:p>
            <a:pPr>
              <a:lnSpc>
                <a:spcPct val="124000"/>
              </a:lnSpc>
              <a:spcBef>
                <a:spcPts val="0"/>
              </a:spcBef>
              <a:spcAft>
                <a:spcPts val="0"/>
              </a:spcAft>
              <a:defRPr sz="3688" b="1">
                <a:solidFill>
                  <a:srgbClr val="23252A"/>
                </a:solidFill>
                <a:latin typeface="DejaVu Sans"/>
              </a:defRPr>
            </a:pPr>
            <a:r>
              <a:t>Exact-real proofs and numerical evidence</a:t>
            </a:r>
          </a:p>
        </p:txBody>
      </p:sp>
      <p:sp>
        <p:nvSpPr>
          <p:cNvPr id="6" name="TextBox 5"/>
          <p:cNvSpPr txBox="1"/>
          <p:nvPr/>
        </p:nvSpPr>
        <p:spPr>
          <a:xfrm>
            <a:off x="640080" y="1645920"/>
            <a:ext cx="3986783" cy="1403604"/>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Lean: equation</a:t>
            </a:r>
          </a:p>
          <a:p>
            <a:pPr>
              <a:lnSpc>
                <a:spcPct val="124000"/>
              </a:lnSpc>
              <a:spcBef>
                <a:spcPts val="0"/>
              </a:spcBef>
              <a:spcAft>
                <a:spcPts val="0"/>
              </a:spcAft>
              <a:defRPr sz="2700" b="0">
                <a:solidFill>
                  <a:srgbClr val="23252A"/>
                </a:solidFill>
                <a:latin typeface="DejaVu Sans"/>
              </a:defRPr>
            </a:pPr>
            <a:r>
              <a:t>equality and</a:t>
            </a:r>
          </a:p>
          <a:p>
            <a:pPr>
              <a:lnSpc>
                <a:spcPct val="124000"/>
              </a:lnSpc>
              <a:spcBef>
                <a:spcPts val="0"/>
              </a:spcBef>
              <a:spcAft>
                <a:spcPts val="0"/>
              </a:spcAft>
              <a:defRPr sz="2700" b="0">
                <a:solidFill>
                  <a:srgbClr val="23252A"/>
                </a:solidFill>
                <a:latin typeface="DejaVu Sans"/>
              </a:defRPr>
            </a:pPr>
            <a:r>
              <a:t>invariants</a:t>
            </a:r>
          </a:p>
        </p:txBody>
      </p:sp>
      <p:sp>
        <p:nvSpPr>
          <p:cNvPr id="7" name="TextBox 6"/>
          <p:cNvSpPr txBox="1"/>
          <p:nvPr/>
        </p:nvSpPr>
        <p:spPr>
          <a:xfrm>
            <a:off x="640080" y="3287268"/>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Audit: gradients,</a:t>
            </a:r>
          </a:p>
          <a:p>
            <a:pPr>
              <a:lnSpc>
                <a:spcPct val="124000"/>
              </a:lnSpc>
              <a:spcBef>
                <a:spcPts val="0"/>
              </a:spcBef>
              <a:spcAft>
                <a:spcPts val="0"/>
              </a:spcAft>
              <a:defRPr sz="2700" b="0">
                <a:solidFill>
                  <a:srgbClr val="23252A"/>
                </a:solidFill>
                <a:latin typeface="DejaVu Sans"/>
              </a:defRPr>
            </a:pPr>
            <a:r>
              <a:t>profiles, integration</a:t>
            </a:r>
          </a:p>
        </p:txBody>
      </p:sp>
      <p:sp>
        <p:nvSpPr>
          <p:cNvPr id="8" name="TextBox 7"/>
          <p:cNvSpPr txBox="1"/>
          <p:nvPr/>
        </p:nvSpPr>
        <p:spPr>
          <a:xfrm>
            <a:off x="640080" y="4503420"/>
            <a:ext cx="39867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Papers: model and</a:t>
            </a:r>
          </a:p>
          <a:p>
            <a:pPr>
              <a:lnSpc>
                <a:spcPct val="124000"/>
              </a:lnSpc>
              <a:spcBef>
                <a:spcPts val="0"/>
              </a:spcBef>
              <a:spcAft>
                <a:spcPts val="0"/>
              </a:spcAft>
              <a:defRPr sz="2700" b="0">
                <a:solidFill>
                  <a:srgbClr val="23252A"/>
                </a:solidFill>
                <a:latin typeface="DejaVu Sans"/>
              </a:defRPr>
            </a:pPr>
            <a:r>
              <a:t>method choices</a:t>
            </a:r>
          </a:p>
        </p:txBody>
      </p:sp>
      <p:pic>
        <p:nvPicPr>
          <p:cNvPr id="9" name="Picture 8" descr="math_audit.png"/>
          <p:cNvPicPr>
            <a:picLocks noChangeAspect="1"/>
          </p:cNvPicPr>
          <p:nvPr/>
        </p:nvPicPr>
        <p:blipFill>
          <a:blip r:embed="rId2"/>
          <a:stretch>
            <a:fillRect/>
          </a:stretch>
        </p:blipFill>
        <p:spPr>
          <a:xfrm>
            <a:off x="4754880" y="2373923"/>
            <a:ext cx="6858000" cy="2110153"/>
          </a:xfrm>
          <a:prstGeom prst="rect">
            <a:avLst/>
          </a:prstGeom>
        </p:spPr>
      </p:pic>
      <p:sp>
        <p:nvSpPr>
          <p:cNvPr id="10" name="TextBox 9"/>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None of these certify arbitrary edits or real flight.</a:t>
            </a:r>
          </a:p>
        </p:txBody>
      </p:sp>
      <p:sp>
        <p:nvSpPr>
          <p:cNvPr id="11" name="TextBox 10"/>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2" name="TextBox 11"/>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A1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Full citations and checked equations: MATH_REVIEW.md</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Appendix</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Primary papers behind the approach</a:t>
            </a:r>
          </a:p>
        </p:txBody>
      </p:sp>
      <p:sp>
        <p:nvSpPr>
          <p:cNvPr id="6" name="TextBox 5"/>
          <p:cNvSpPr txBox="1"/>
          <p:nvPr/>
        </p:nvSpPr>
        <p:spPr>
          <a:xfrm>
            <a:off x="685800" y="1828800"/>
            <a:ext cx="10844784" cy="107289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Faessler et al., RA-L 2018: rotor-drag physics and</a:t>
            </a:r>
          </a:p>
          <a:p>
            <a:pPr>
              <a:lnSpc>
                <a:spcPct val="124000"/>
              </a:lnSpc>
              <a:spcBef>
                <a:spcPts val="0"/>
              </a:spcBef>
              <a:spcAft>
                <a:spcPts val="0"/>
              </a:spcAft>
              <a:defRPr sz="3000" b="0">
                <a:solidFill>
                  <a:srgbClr val="23252A"/>
                </a:solidFill>
                <a:latin typeface="DejaVu Sans"/>
              </a:defRPr>
            </a:pPr>
            <a:r>
              <a:t>excitation</a:t>
            </a:r>
          </a:p>
        </p:txBody>
      </p:sp>
      <p:sp>
        <p:nvSpPr>
          <p:cNvPr id="7" name="TextBox 6"/>
          <p:cNvSpPr txBox="1"/>
          <p:nvPr/>
        </p:nvSpPr>
        <p:spPr>
          <a:xfrm>
            <a:off x="685800" y="3240024"/>
            <a:ext cx="10844784" cy="107289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Andersson et al., 2019: CasADi AD and multiple</a:t>
            </a:r>
          </a:p>
          <a:p>
            <a:pPr>
              <a:lnSpc>
                <a:spcPct val="124000"/>
              </a:lnSpc>
              <a:spcBef>
                <a:spcPts val="0"/>
              </a:spcBef>
              <a:spcAft>
                <a:spcPts val="0"/>
              </a:spcAft>
              <a:defRPr sz="3000" b="0">
                <a:solidFill>
                  <a:srgbClr val="23252A"/>
                </a:solidFill>
                <a:latin typeface="DejaVu Sans"/>
              </a:defRPr>
            </a:pPr>
            <a:r>
              <a:t>shooting</a:t>
            </a:r>
          </a:p>
        </p:txBody>
      </p:sp>
      <p:sp>
        <p:nvSpPr>
          <p:cNvPr id="8" name="TextBox 7"/>
          <p:cNvSpPr txBox="1"/>
          <p:nvPr/>
        </p:nvSpPr>
        <p:spPr>
          <a:xfrm>
            <a:off x="685800" y="4651248"/>
            <a:ext cx="10844784" cy="1072896"/>
          </a:xfrm>
          <a:prstGeom prst="rect">
            <a:avLst/>
          </a:prstGeom>
          <a:noFill/>
        </p:spPr>
        <p:txBody>
          <a:bodyPr wrap="none" lIns="0" rIns="0" tIns="0" bIns="0">
            <a:spAutoFit/>
          </a:bodyPr>
          <a:lstStyle/>
          <a:p>
            <a:pPr>
              <a:lnSpc>
                <a:spcPct val="124000"/>
              </a:lnSpc>
              <a:spcBef>
                <a:spcPts val="0"/>
              </a:spcBef>
              <a:spcAft>
                <a:spcPts val="0"/>
              </a:spcAft>
              <a:defRPr sz="3000" b="0">
                <a:solidFill>
                  <a:srgbClr val="23252A"/>
                </a:solidFill>
                <a:latin typeface="DejaVu Sans"/>
              </a:defRPr>
            </a:pPr>
            <a:r>
              <a:t>Raue 2009; Wieland 2021: practical identifiability and</a:t>
            </a:r>
          </a:p>
          <a:p>
            <a:pPr>
              <a:lnSpc>
                <a:spcPct val="124000"/>
              </a:lnSpc>
              <a:spcBef>
                <a:spcPts val="0"/>
              </a:spcBef>
              <a:spcAft>
                <a:spcPts val="0"/>
              </a:spcAft>
              <a:defRPr sz="3000" b="0">
                <a:solidFill>
                  <a:srgbClr val="23252A"/>
                </a:solidFill>
                <a:latin typeface="DejaVu Sans"/>
              </a:defRPr>
            </a:pPr>
            <a:r>
              <a:t>profiles</a:t>
            </a:r>
          </a:p>
        </p:txBody>
      </p:sp>
      <p:sp>
        <p:nvSpPr>
          <p:cNvPr id="9" name="TextBox 8"/>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World-axis teaching drag differs from body-axis rotor aerodynamics.</a:t>
            </a:r>
          </a:p>
        </p:txBody>
      </p:sp>
      <p:sp>
        <p:nvSpPr>
          <p:cNvPr id="10" name="TextBox 9"/>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1" name="TextBox 10"/>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A2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FUTURE WORK · beyond the tested app experiments</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Appendix</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Research questions worth exploring</a:t>
            </a:r>
          </a:p>
        </p:txBody>
      </p:sp>
      <p:sp>
        <p:nvSpPr>
          <p:cNvPr id="6" name="Rectangle 5"/>
          <p:cNvSpPr/>
          <p:nvPr/>
        </p:nvSpPr>
        <p:spPr>
          <a:xfrm>
            <a:off x="59436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6459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01183" cy="1403604"/>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Vision + SLAM + estimation</a:t>
            </a:r>
          </a:p>
          <a:p>
            <a:pPr>
              <a:lnSpc>
                <a:spcPct val="124000"/>
              </a:lnSpc>
              <a:spcBef>
                <a:spcPts val="0"/>
              </a:spcBef>
              <a:spcAft>
                <a:spcPts val="0"/>
              </a:spcAft>
              <a:defRPr sz="2700" b="0">
                <a:solidFill>
                  <a:srgbClr val="23252A"/>
                </a:solidFill>
                <a:latin typeface="DejaVu Sans"/>
              </a:defRPr>
            </a:pPr>
            <a:r>
              <a:t>+ physics in one declared</a:t>
            </a:r>
          </a:p>
          <a:p>
            <a:pPr>
              <a:lnSpc>
                <a:spcPct val="124000"/>
              </a:lnSpc>
              <a:spcBef>
                <a:spcPts val="0"/>
              </a:spcBef>
              <a:spcAft>
                <a:spcPts val="0"/>
              </a:spcAft>
              <a:defRPr sz="2700" b="0">
                <a:solidFill>
                  <a:srgbClr val="23252A"/>
                </a:solidFill>
                <a:latin typeface="DejaVu Sans"/>
              </a:defRPr>
            </a:pPr>
            <a:r>
              <a:t>system</a:t>
            </a:r>
          </a:p>
        </p:txBody>
      </p:sp>
      <p:sp>
        <p:nvSpPr>
          <p:cNvPr id="9" name="Rectangle 8"/>
          <p:cNvSpPr/>
          <p:nvPr/>
        </p:nvSpPr>
        <p:spPr>
          <a:xfrm>
            <a:off x="6217920" y="16459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6459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Richer browser / FMI /</a:t>
            </a:r>
          </a:p>
          <a:p>
            <a:pPr>
              <a:lnSpc>
                <a:spcPct val="124000"/>
              </a:lnSpc>
              <a:spcBef>
                <a:spcPts val="0"/>
              </a:spcBef>
              <a:spcAft>
                <a:spcPts val="0"/>
              </a:spcAft>
              <a:defRPr sz="2700" b="0">
                <a:solidFill>
                  <a:srgbClr val="23252A"/>
                </a:solidFill>
                <a:latin typeface="DejaVu Sans"/>
              </a:defRPr>
            </a:pPr>
            <a:r>
              <a:t>WebAssembly workflows</a:t>
            </a:r>
          </a:p>
        </p:txBody>
      </p:sp>
      <p:sp>
        <p:nvSpPr>
          <p:cNvPr id="12" name="Rectangle 11"/>
          <p:cNvSpPr/>
          <p:nvPr/>
        </p:nvSpPr>
        <p:spPr>
          <a:xfrm>
            <a:off x="59436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3474720"/>
            <a:ext cx="59436" cy="1572768"/>
          </a:xfrm>
          <a:prstGeom prst="rect">
            <a:avLst/>
          </a:prstGeom>
          <a:solidFill>
            <a:srgbClr val="007C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749039"/>
            <a:ext cx="4901183" cy="978408"/>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Compiler differentiation and</a:t>
            </a:r>
          </a:p>
          <a:p>
            <a:pPr>
              <a:lnSpc>
                <a:spcPct val="124000"/>
              </a:lnSpc>
              <a:spcBef>
                <a:spcPts val="0"/>
              </a:spcBef>
              <a:spcAft>
                <a:spcPts val="0"/>
              </a:spcAft>
              <a:defRPr sz="2700" b="0">
                <a:solidFill>
                  <a:srgbClr val="23252A"/>
                </a:solidFill>
                <a:latin typeface="DejaVu Sans"/>
              </a:defRPr>
            </a:pPr>
            <a:r>
              <a:t>larger symbolic systems</a:t>
            </a:r>
          </a:p>
        </p:txBody>
      </p:sp>
      <p:sp>
        <p:nvSpPr>
          <p:cNvPr id="15" name="Rectangle 14"/>
          <p:cNvSpPr/>
          <p:nvPr/>
        </p:nvSpPr>
        <p:spPr>
          <a:xfrm>
            <a:off x="6217920" y="3474720"/>
            <a:ext cx="534924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474720"/>
            <a:ext cx="59436" cy="1572768"/>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749039"/>
            <a:ext cx="4901183" cy="1403604"/>
          </a:xfrm>
          <a:prstGeom prst="rect">
            <a:avLst/>
          </a:prstGeom>
          <a:noFill/>
        </p:spPr>
        <p:txBody>
          <a:bodyPr wrap="none" lIns="0" rIns="0" tIns="0" bIns="0">
            <a:spAutoFit/>
          </a:bodyPr>
          <a:lstStyle/>
          <a:p>
            <a:pPr>
              <a:lnSpc>
                <a:spcPct val="124000"/>
              </a:lnSpc>
              <a:spcBef>
                <a:spcPts val="0"/>
              </a:spcBef>
              <a:spcAft>
                <a:spcPts val="0"/>
              </a:spcAft>
              <a:defRPr sz="2700" b="0">
                <a:solidFill>
                  <a:srgbClr val="23252A"/>
                </a:solidFill>
                <a:latin typeface="DejaVu Sans"/>
              </a:defRPr>
            </a:pPr>
            <a:r>
              <a:t>Partition work across CPU,</a:t>
            </a:r>
          </a:p>
          <a:p>
            <a:pPr>
              <a:lnSpc>
                <a:spcPct val="124000"/>
              </a:lnSpc>
              <a:spcBef>
                <a:spcPts val="0"/>
              </a:spcBef>
              <a:spcAft>
                <a:spcPts val="0"/>
              </a:spcAft>
              <a:defRPr sz="2700" b="0">
                <a:solidFill>
                  <a:srgbClr val="23252A"/>
                </a:solidFill>
                <a:latin typeface="DejaVu Sans"/>
              </a:defRPr>
            </a:pPr>
            <a:r>
              <a:t>GPU and embedded</a:t>
            </a:r>
          </a:p>
          <a:p>
            <a:pPr>
              <a:lnSpc>
                <a:spcPct val="124000"/>
              </a:lnSpc>
              <a:spcBef>
                <a:spcPts val="0"/>
              </a:spcBef>
              <a:spcAft>
                <a:spcPts val="0"/>
              </a:spcAft>
              <a:defRPr sz="2700" b="0">
                <a:solidFill>
                  <a:srgbClr val="23252A"/>
                </a:solidFill>
                <a:latin typeface="DejaVu Sans"/>
              </a:defRPr>
            </a:pPr>
            <a:r>
              <a:t>hardware</a:t>
            </a:r>
          </a:p>
        </p:txBody>
      </p:sp>
      <p:sp>
        <p:nvSpPr>
          <p:cNvPr id="18" name="TextBox 1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Bring a falsifiable question and a measurable benchmark.</a:t>
            </a:r>
          </a:p>
        </p:txBody>
      </p:sp>
      <p:sp>
        <p:nvSpPr>
          <p:cNvPr id="19" name="TextBox 1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20" name="TextBox 1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A3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B59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28600"/>
            <a:ext cx="9747504" cy="332740"/>
          </a:xfrm>
          <a:prstGeom prst="rect">
            <a:avLst/>
          </a:prstGeom>
          <a:noFill/>
        </p:spPr>
        <p:txBody>
          <a:bodyPr wrap="none" lIns="0" rIns="0" tIns="0" bIns="0">
            <a:spAutoFit/>
          </a:bodyPr>
          <a:lstStyle/>
          <a:p>
            <a:pPr>
              <a:lnSpc>
                <a:spcPct val="124000"/>
              </a:lnSpc>
              <a:spcBef>
                <a:spcPts val="0"/>
              </a:spcBef>
              <a:spcAft>
                <a:spcPts val="0"/>
              </a:spcAft>
              <a:defRPr sz="1300" b="1">
                <a:solidFill>
                  <a:srgbClr val="007C91"/>
                </a:solidFill>
                <a:latin typeface="DejaVu Sans"/>
              </a:defRPr>
            </a:pPr>
            <a:r>
              <a:t>Node solution ≠ exact continuous-time flight</a:t>
            </a:r>
          </a:p>
        </p:txBody>
      </p:sp>
      <p:sp>
        <p:nvSpPr>
          <p:cNvPr id="4" name="TextBox 3"/>
          <p:cNvSpPr txBox="1"/>
          <p:nvPr/>
        </p:nvSpPr>
        <p:spPr>
          <a:xfrm>
            <a:off x="10241280" y="228600"/>
            <a:ext cx="147218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23252A"/>
                </a:solidFill>
                <a:latin typeface="DejaVu Sans"/>
              </a:defRPr>
            </a:pPr>
            <a:r>
              <a:t>Appendix</a:t>
            </a:r>
          </a:p>
        </p:txBody>
      </p:sp>
      <p:sp>
        <p:nvSpPr>
          <p:cNvPr id="5" name="TextBox 4"/>
          <p:cNvSpPr txBox="1"/>
          <p:nvPr/>
        </p:nvSpPr>
        <p:spPr>
          <a:xfrm>
            <a:off x="594360" y="713232"/>
            <a:ext cx="11027664" cy="710691"/>
          </a:xfrm>
          <a:prstGeom prst="rect">
            <a:avLst/>
          </a:prstGeom>
          <a:noFill/>
        </p:spPr>
        <p:txBody>
          <a:bodyPr wrap="none" lIns="0" rIns="0" tIns="0" bIns="0">
            <a:spAutoFit/>
          </a:bodyPr>
          <a:lstStyle/>
          <a:p>
            <a:pPr>
              <a:lnSpc>
                <a:spcPct val="124000"/>
              </a:lnSpc>
              <a:spcBef>
                <a:spcPts val="0"/>
              </a:spcBef>
              <a:spcAft>
                <a:spcPts val="0"/>
              </a:spcAft>
              <a:defRPr sz="3700" b="1">
                <a:solidFill>
                  <a:srgbClr val="23252A"/>
                </a:solidFill>
                <a:latin typeface="DejaVu Sans"/>
              </a:defRPr>
            </a:pPr>
            <a:r>
              <a:t>Numerical constraints need validation</a:t>
            </a:r>
          </a:p>
        </p:txBody>
      </p:sp>
      <p:sp>
        <p:nvSpPr>
          <p:cNvPr id="6" name="TextBox 5"/>
          <p:cNvSpPr txBox="1"/>
          <p:nvPr/>
        </p:nvSpPr>
        <p:spPr>
          <a:xfrm>
            <a:off x="640080" y="1353312"/>
            <a:ext cx="10936224" cy="490220"/>
          </a:xfrm>
          <a:prstGeom prst="rect">
            <a:avLst/>
          </a:prstGeom>
          <a:noFill/>
        </p:spPr>
        <p:txBody>
          <a:bodyPr wrap="none" lIns="0" rIns="0" tIns="0" bIns="0">
            <a:spAutoFit/>
          </a:bodyPr>
          <a:lstStyle/>
          <a:p>
            <a:pPr>
              <a:lnSpc>
                <a:spcPct val="124000"/>
              </a:lnSpc>
              <a:spcBef>
                <a:spcPts val="0"/>
              </a:spcBef>
              <a:spcAft>
                <a:spcPts val="0"/>
              </a:spcAft>
              <a:defRPr sz="2300" b="0">
                <a:solidFill>
                  <a:srgbClr val="23252A"/>
                </a:solidFill>
                <a:latin typeface="DejaVu Sans"/>
              </a:defRPr>
            </a:pPr>
            <a:r>
              <a:t>Reintegrate the inputs independently; inspect errors by physical unit.</a:t>
            </a:r>
          </a:p>
        </p:txBody>
      </p:sp>
      <p:pic>
        <p:nvPicPr>
          <p:cNvPr id="7" name="Picture 6" descr="optimization.png"/>
          <p:cNvPicPr>
            <a:picLocks noChangeAspect="1"/>
          </p:cNvPicPr>
          <p:nvPr/>
        </p:nvPicPr>
        <p:blipFill>
          <a:blip r:embed="rId2"/>
          <a:stretch>
            <a:fillRect/>
          </a:stretch>
        </p:blipFill>
        <p:spPr>
          <a:xfrm>
            <a:off x="2981415" y="1907540"/>
            <a:ext cx="6198688" cy="3944620"/>
          </a:xfrm>
          <a:prstGeom prst="rect">
            <a:avLst/>
          </a:prstGeom>
        </p:spPr>
      </p:pic>
      <p:sp>
        <p:nvSpPr>
          <p:cNvPr id="8" name="TextBox 7"/>
          <p:cNvSpPr txBox="1"/>
          <p:nvPr/>
        </p:nvSpPr>
        <p:spPr>
          <a:xfrm>
            <a:off x="640080" y="6199632"/>
            <a:ext cx="11027664" cy="442976"/>
          </a:xfrm>
          <a:prstGeom prst="rect">
            <a:avLst/>
          </a:prstGeom>
          <a:noFill/>
        </p:spPr>
        <p:txBody>
          <a:bodyPr wrap="none" lIns="0" rIns="0" tIns="0" bIns="0">
            <a:spAutoFit/>
          </a:bodyPr>
          <a:lstStyle/>
          <a:p>
            <a:pPr>
              <a:lnSpc>
                <a:spcPct val="124000"/>
              </a:lnSpc>
              <a:spcBef>
                <a:spcPts val="0"/>
              </a:spcBef>
              <a:spcAft>
                <a:spcPts val="0"/>
              </a:spcAft>
              <a:defRPr sz="2000" b="1">
                <a:solidFill>
                  <a:srgbClr val="007C91"/>
                </a:solidFill>
                <a:latin typeface="DejaVu Sans"/>
              </a:defRPr>
            </a:pPr>
            <a:r>
              <a:t>Small defects, pitch margin and fine rollout are separate checks.</a:t>
            </a:r>
          </a:p>
        </p:txBody>
      </p:sp>
      <p:sp>
        <p:nvSpPr>
          <p:cNvPr id="9" name="TextBox 8"/>
          <p:cNvSpPr txBox="1"/>
          <p:nvPr/>
        </p:nvSpPr>
        <p:spPr>
          <a:xfrm>
            <a:off x="640080" y="6510528"/>
            <a:ext cx="10936224" cy="269748"/>
          </a:xfrm>
          <a:prstGeom prst="rect">
            <a:avLst/>
          </a:prstGeom>
          <a:noFill/>
        </p:spPr>
        <p:txBody>
          <a:bodyPr wrap="none" lIns="0" rIns="0" tIns="0" bIns="0">
            <a:spAutoFit/>
          </a:bodyPr>
          <a:lstStyle/>
          <a:p>
            <a:pPr>
              <a:lnSpc>
                <a:spcPct val="124000"/>
              </a:lnSpc>
              <a:spcBef>
                <a:spcPts val="0"/>
              </a:spcBef>
              <a:spcAft>
                <a:spcPts val="0"/>
              </a:spcAft>
              <a:defRPr sz="900" b="0">
                <a:solidFill>
                  <a:srgbClr val="23252A"/>
                </a:solidFill>
                <a:latin typeface="DejaVu Sans"/>
              </a:defRPr>
            </a:pPr>
            <a:r>
              <a:t>PURDUE · AERONAUTICS &amp; ASTRONAUTICS / GEORGIA TECH · AMC 2026</a:t>
            </a:r>
          </a:p>
        </p:txBody>
      </p:sp>
      <p:sp>
        <p:nvSpPr>
          <p:cNvPr id="10" name="TextBox 9"/>
          <p:cNvSpPr txBox="1"/>
          <p:nvPr/>
        </p:nvSpPr>
        <p:spPr>
          <a:xfrm>
            <a:off x="11247120" y="6492240"/>
            <a:ext cx="512064" cy="316992"/>
          </a:xfrm>
          <a:prstGeom prst="rect">
            <a:avLst/>
          </a:prstGeom>
          <a:noFill/>
        </p:spPr>
        <p:txBody>
          <a:bodyPr wrap="none" lIns="0" rIns="0" tIns="0" bIns="0">
            <a:spAutoFit/>
          </a:bodyPr>
          <a:lstStyle/>
          <a:p>
            <a:pPr>
              <a:lnSpc>
                <a:spcPct val="124000"/>
              </a:lnSpc>
              <a:spcBef>
                <a:spcPts val="0"/>
              </a:spcBef>
              <a:spcAft>
                <a:spcPts val="0"/>
              </a:spcAft>
              <a:defRPr sz="1200" b="0">
                <a:solidFill>
                  <a:srgbClr val="007C91"/>
                </a:solidFill>
                <a:latin typeface="DejaVu Sans"/>
              </a:defRPr>
            </a:pPr>
            <a:r>
              <a:t>A4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with Rumoca</dc:title>
  <dc:subject>American Modelica Conference · Georgia Tech · October 12, 2026</dc:subject>
  <dc:creator>James Goppert · Purdue University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