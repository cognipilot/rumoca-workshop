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10:00–10:05</a:t>
            </a:r>
          </a:p>
          <a:p>
            <a:r>
              <a:t>Welcome to Hands-On with Rumoca. Lead with the reason to care: “We want your declared physics to travel into simulation, identification, optimization and verification without silently becoming different models. Today you will take one small Modelica model through simulation, fitting and a constrained flight plan.” Introduce presenters James Goppert and Micah Condie, Purdue University, School of Aeronautics and Astronautics, and the Georgia Tech venue. Point to the QR and ask attendees to keep the participant worksheet open. No aerospace background is required. Welcome models and expertise from other disciplines; the closing slide has concrete ways to join the work. Allow five minutes for arrivals and orientation; announce the optional app challenge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10:05–10:10</a:t>
            </a:r>
          </a:p>
          <a:p>
            <a:r>
              <a:t>Announce the challenge now: “Explore a question you care about with Rumoca. Change an existing model, controller or interactive simulator during downtime. Show the effect and explain one result you checked. The audience favorite wins a free CogniPilot stocking cap.” A new app, WASM build, public GitHub repository, deployment and coding-agent subscription are optional. Power users can work with agents; manual experiments are welcome too. Point to the short experiment prompt in APP_PROMPT.md. An interactive Falcon 9-style landing experience is creative inspiration, not a supplied or qualified rocket starter. Welcome equally small experiments from other domains. Full Three.js apps and AD-based fixed-wing MPC are optional stretches; MPC is ambitious. The core Modelica → JAX → CasADi exercises remain the main activity. Entries close at 12:40: collect name/team, question, starting model/app, original change, tool, elapsed work time and a ready interaction or before/after comparison. A local tab, file or screenshare is enough; public links are voluntary. One entry per participant or team. Up to five ready experiments present at 12:50 for 45 seconds; if more are ready, draw five plus a backup and presentation order. Announce by 12:45. Selection is not a quality judgment. Each demo includes question, change, result, one check, tool used and elapsed time, with estimates labeled. Audience members each vote once by show of hands. Ask for a show of hands for Modelica/JAX/CasADi experience. Today's data are synthetic and the trajectory is open loop.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10:10–10:15</a:t>
            </a:r>
          </a:p>
          <a:p>
            <a:r>
              <a:t>Ask first: “How many versions of the same physics do you maintain?” Independently maintained simulation, fitting and control models drift apart. The payoff is a shared source that lets us compare tools without silently changing the plant. Attendees bring Modelica knowledge and models from domains beyond aerospace; that breadth is valuable to the research community. We are building a unified, declarative modeling and simulation environment for cyberphysical systems. Modelica expresses physical intent as equations, so execution choices can change without rewriting that intent. We want declared physics and mathematical structure to travel across computational tools, so we can inspect equations, compare implementations and check assumptions. Rumoca is our open Modelica compiler for this workflow. Explain our broader uses in plain language: Lie group theory keeps rotations and rigid-body motion geometrically structured; reachable-set computation asks which states may be possible under bounded initial conditions and disturbances; formal software verification connects specified properties to proof obligations; system identification and digital twins connect models with measured behavior and experiments. The CogniPilot modelica_models library includes LieGroups SO(2), SO(3), SE(2), SE(3), SE_2(3), geometric estimation/control, and pure functions intended for verification and reachable-set propagation. These functions are building blocks, not complete safety certificates. Today uses a compact planar model, synthetic data, JAX fitting, CasADi trajectory optimization and a scoped Lean companion proof. It does not demonstrate a full Lie-group vehicle, compute a reachable tube, certify generated machine code or validate a physical digital twin. References: https://github.com/CogniPilot/modelica_models; Solà, Deray and Atchuthan, A micro Lie theory for state estimation in robotics, https://arxiv.org/abs/1812.01537; Althoff, Frehse and Girard, Set Propagation Techniques for Reachability Analysis, https://doi.org/10.1146/annurev-control-071420-081941. These support the mathematical ideas, not a claim that Rumoca implements every cited algorithm. Welcome questions from any discipline; the workshop needs no aerospace background.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10:15–10:20</a:t>
            </a:r>
          </a:p>
          <a:p>
            <a:r>
              <a:t>Explain that VS Code is the authoring/LSP path and the playground is browser modeling/simulation. Python 0.10.2 exports JAX and CasADi; deployed browser 0.8.13 is separate. Common Python code performs integration and builds optimization objectives, not another plant. Full language/backends are not certified by this example. The compiler structure is an extension seam for solver specialization and heterogeneous compute. Fast Monte Carlo and RL, native AD or JAX/CasADi/PyTorch integrations, and extensible targets are research directions. Today's core qualifies particular CPU exports; the guide and small Torch target are separate demonstrations, not a general hardware-partitioning or throughput claim.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10:20–10:25</a:t>
            </a:r>
          </a:p>
          <a:p>
            <a:r>
              <a:t>Exact URL https://rumoca.cognipilot.org/playground/. Raw source https://github.com/CogniPilot/rumoca_workshop_amc2026/blob/main/browser/Quadrotor_browser.mo. Select all inside editor, paste; gear next to Play opens simulation settings; select BrowserFlight and close settings. Screenshot records a real run. Browser is not Python/JAX/CasADi. If offline, label the screenshot as backup and continue local/demo path. Five-minute guided demo.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10:25–10:30</a:t>
            </a:r>
          </a:p>
          <a:p>
            <a:r>
              <a:t>Codespaces URL https://codespaces.new/CogniPilot/rumoca_workshop_amc2026?quickstart=1. Codespaces requires an account with allowance or billing enabled. Cloud qualification is recorded in VERIFICATION.md; account availability varies. Local: download/extract ZIP, install uv/extension, uv sync --frozen. Python and released editor are qualified on Linux/Windows x64 and macOS Intel/Apple Silicon. The local route uses uv and CPU packages.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10:30–10:35</a:t>
            </a:r>
          </a:p>
          <a:p>
            <a:r>
              <a:t>Give participants most of these five minutes. Verify extension ID JamesGoppert.rumoca-modelica; choose Modelica language, trust workspace per policy. Show a temporary broken expression then undo for actual syntax diagnostics. Hover, completion and diagnostics passed in real VS Code 1.119.0 hosts on all four supported OS/architecture targets; Codespaces remote hover, completion and diagnostics are qualified separately. Smoke runs all three commands, checks gradient/backend agreement, fits, constraints and outputs. Local measured total about 12 seconds after setup. At 10:35 move to the user-guide showcase; use pair or demo recovery if setup is incomplete. App builders can begin their independent challenge once ready.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10:35–10:40</a:t>
            </a:r>
          </a:p>
          <a:p>
            <a:r>
              <a:t>Use the deployed user guide as a workshop resource, not only a reference manual. Open https://cognipilot.github.io/rumoca/user-guide/language/arrays-pde.html#2-d-navierstokes-flow-over-a-naca-2412-airfoil. This page embeds Monaco editors, simulation controls, plots and custom visualizations; it also has turkey heating and a vibrating membrane for other domains. Find AirfoilFlow, change StopTime = 30 to 2, leave NX=30 and NY=18, keep GPU checked and Interactive off, then Simulate. Move the time slider to the final frame and switch Field between Vorticity and Pressure. Our rehearsal used Chromium with a software WebGPU adapter; it demonstrates execution and UI, not a hardware speed claim. The NACA contour and coarse artificial-compressibility/penalization flow field make declared array equations visible; this is a qualitative teaching model, not a validated lift/drag or aircraft design calculation. If WebGPU is unavailable or the short run fails, show the labeled saved capture and continue. Do not try the unqualified CPU NACA route during this five-minute segment. The browser guide is a separately deployed compiler/runtime from the pinned Python release. Keep the warm successful tab ready before class; participants can revisit these editors during downtime.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10:40–10:45</a:t>
            </a:r>
          </a:p>
          <a:p>
            <a:r>
              <a:t>States x,z,theta,vx,vz,omega; inputs T and tau. m=1.2 kg,Iyy=.025 kg m²,g=9.81. Diagram is generated from our convention, not a borrowed paper figure. Simplified world-axis drag; no roll/yaw/motors/wind/contact. The compact planar example keeps the equations inspectable and the computations short. Introduce pitch as the angle that directs the thrust; specialist aerodynamics is optional.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10:45–10:55</a:t>
            </a:r>
          </a:p>
          <a:p>
            <a:r>
              <a:t>Explain units kl N s/m,kq N s²/m²,epsilon .01 m/s. Smooth componentwise law approximates |v|v and never adds energy for nonnegative coefficients; Lean proves the signs and smoothing bound. It differs from Faessler et al.'s body-frame rotor-drag model; do not claim their flatness theorem. Allow 7–8 minutes editing/predicting. Browser users make the same coefficient change and Play again. Default parameter changes affect simulation; fitting estimates parameters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10:55–11:00</a:t>
            </a:r>
          </a:p>
          <a:p>
            <a:r>
              <a:t>Open the actual live plot and ask participants to explain the sign. The slide plot uses emitted JAX equations and reference parameters; not real flight data. Browser wrapper coasts at level hover, so its numbers differ. Optional kl=.30 then restore .18. Presenter solution is an inheritance override, not a second dynamics implementation. Take two questions. End on time for break.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11:00–11:10</a:t>
            </a:r>
          </a:p>
          <a:p>
            <a:r>
              <a:t>Actually pause for ten minutes. Help only small recovery questions; avoid turning the break into a lecture. Browser-only attendees can pair for the next exercise. Keep the next command in the worksheet, not a wall of terminal text.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11:10–11:20</a:t>
            </a:r>
          </a:p>
          <a:p>
            <a:r>
              <a:t>Data generated by Rumoca CasADi + independent adaptive DOP853; JAX fit uses RK4. Position noise .025 m; velocity .035 m/s; angles/rates also noisy, but only exact initial angles/rates enter the fit. Commands and initial state assumed known. Holdout has different excitation and negative initial speed. The data are synthetic. Explain how real logs would bring actuator timing, wind and sensor bias. Truth is reporting only.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11:20–11:30</a:t>
            </a:r>
          </a:p>
          <a:p>
            <a:r>
              <a:t>Show fit script's p_from_log, residual, value_and_grad, minimize. Each coefficient divided by one native SI unit equals exp(log parameter), so the logarithm is dimensionless; fitted bounds .001..2 in native units. Mean residual² divided by known noise variance is dimensionless, over x,z,vx,vz. Avoid differentiating noisy acceleration estimates. JAX derivative is of the implemented discrete rollout; finite differences are checks. The system ID is not an autodiff proof of model correctness. Participants can run the next command and inspect the provided algorithm.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11:30–11:50</a:t>
            </a:r>
          </a:p>
          <a:p>
            <a:r>
              <a:t>Give at least 15 minutes for running the fit, inspecting outputs and individual questions. Participants who finish can return to the app challenge. Reference truth kl=.18 N s/m, kq=.08 N s²/m². Loss roughly 26932→1.073, about 25000×. Read rms_by_state with separate units or noise_scaled_rms; avoid calling mixed-unit legacy RMS metres. Recovery --one-coefficient assumes known kl=.18. Stretch: different initial guess; audit already checks six. Do not use holdout to tune parameters during this exercise. If live fails, label reference plot honestly.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11:50–11:55</a:t>
            </a:r>
          </a:p>
          <a:p>
            <a:r>
              <a:t>Spend one minute showing where the result files are and four minutes on independent work and questions. Ask whether the held-out prediction improved; no aerospace background is needed. App builders can continue the open challenge. Offer detailed gradient, excitation and proof discussion only when requested, using MATH_REVIEW.md and Appendix A1–A2. The audit checks six starting guesses, twelve noise seeds, Jacobians, analytic coasting and re-optimized profiles. Lean checks scoped exact-real equation equality and invariants; numerical and statistical claims have separate evidence.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11:55–12:00</a:t>
            </a:r>
          </a:p>
          <a:p>
            <a:r>
              <a:t>Show templates/torch-ode/target.toml: ir="solve", explicit capabilities and output template. Open rhs.py.jinja and the generated/torch-ode/Quadrotor_torch.py output. The small external target maps the actual scalar Solve operations to Torch; it does not handwrite the vehicle dynamics or require a Rust compiler change. The target passes 101-point batched RHS comparisons, JAX/CasADi Jacobians, forward/reverse AD, finite differences and rejection gates. Use the optional preinstalled Torch environment in the Codespace; do not ask all attendees to download the extra CPU package during the five-minute demonstration. Run or show learn_hover_torch.py: two positive feedback gains learned through the same generated six-state vehicle's RK4 rollout, restricted to vertical hover with zero torque. Sixty Adam updates on 64 initial conditions; test on 128 new initial conditions. The dimensionless held-out cost drops about .116 to .021; complete objective gradients and fixed-sampling finer-integration checks pass. Call this differentiable model-based policy optimization, a bridge to RL, not PPO/DQN or full-flight autonomy. Known fixed drag coefficients are used for this separate teaching task. Source/template provenance is saved with results. The full target supports a small scalar ODE subset and rejects events/unsupported primitives. Invite compiler contributors to add one primitive and compare its derivatives before declaring support. This is one concrete extension seam toward fast Monte Carlo/RL, native AD or JAX/CasADi/PyTorch integrations and solver specialization for heterogeneous compute. Broad automatic partitioning and performance scaling remain research directions. Primary context: Heess et al. 2015 https://arxiv.org/abs/1510.09142. Stop at noon for a full break.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12:00–12:10</a:t>
            </a:r>
          </a:p>
          <a:p>
            <a:r>
              <a:t>Ten-minute break. Confirm most pairs have fit outputs. Do not edit the model again after fitting; a source hash will require refitting if it changes. Presenters have successful reference fit and primal trajectory warm start. No Mathlib or extra packages are needed for next exercise.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12:10–12:20</a:t>
            </a:r>
          </a:p>
          <a:p>
            <a:r>
              <a:t>Explain 60 constant-input intervals and RK4 direct multiple shooting: decision states at each node, linked by continuity constraints. Bounds: thrust 0–20 N, torque ±0.35 N m, altitude 0.25–4 m, physical pitch ±0.55 rad, node pitch ±0.54 rad. Illustrative rotor pairs: each 0–10 N, arm 0.2 m. Normalize cost with physical reference scales before choosing weights. A stored successful primal solution warm-starts the default problem. Andersson et al. 2019, section 5.4 supports the transcription; their DAE/IDAS example differs from our ODE/RK4. Local feasible result; no global-optimality, electrical-energy or real-flight claim.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12:20–12:40</a:t>
            </a:r>
          </a:p>
          <a:p>
            <a:r>
              <a:t>Allow about 15 minutes to run and inspect plots/JSON, with the remaining time for questions or app development. Live computation takes about 1–2 seconds locally. Show acceleration tilt and opposite tilt for braking. Confirm drag matches JAX values, defects near 1e−14, exact endpoint constraints at nodes, and about 2 mm altitude error under finer/adaptive integration. Analytic interval pitch extrema are about 0.542 rad, below 0.55. Checks allow 1e−6 numerical tolerance. Explain continuous/discretized differences and the absence of an all-time formal certificate. A source hash requires refitting after edits. Recover with canonical source/reference fit, then a clearly labeled reference figure. Optional --target-x 3 was separately rehearsed; its receipt is in verification/. MPC would repeat optimization online; it is not demonstrated.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12:40–12:45</a:t>
            </a:r>
          </a:p>
          <a:p>
            <a:r>
              <a:t>Advertise the upcoming autonomous fixed-wing pylon racing competition at Purdue UAS Research and Test Facility (PURT). Say: “The next competition will leverage Rumoca. Build your autonomy, learn in a digital twin, and bring it to the experiment.” Point attendees to https://pylon-racing.geddes.rcac.purdue.edu/ for announcements and information. The published competition format connects software-in-the-loop digital-twin simulation with physical flight tests; current public dated details are for the April 2026 edition, so do not announce those dates as upcoming. Future-event dates, registration, rules and exact Rumoca integration will be announced by the organizers. The race-course graphic is illustrative, not an official course or safety envelope. Official facility source: https://engineering.purdue.edu/PURT. Public CogniPilot workspace https://github.com/CogniPilot/cognipilot_workspace documents pure Modelica, host Zephyr SIL and FastDyn/QEMU Cortex-M7 binary-in-the-loop; those paths were not executed here. Synthetic fitting does not establish real-aircraft validity. Briefly connect today's model → identify → optimize workflow with racing and physical validation. Collect challenge entries at 12:40, draw if more than five are ready, and announce presenters/order by 12:45. Move to the fixed-wing workbench at 12:45.</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12:45–12:50</a:t>
            </a:r>
          </a:p>
          <a:p>
            <a:r>
              <a:t>Lead with rumoca_fixed_wing, the more complete app example. Coding agents helped build the interface and experiments; engineers review models and validate output. Briefly show Autopilot → Start sim, waypoint progress, then 50 to 20 Hz → Start sim again → pause. Invite participants to try that interaction or finish their challenge app. SLAM Lab is an additional example in development; only its inertial baseline and filter variant were rehearsed, not the complete visual-SLAM pipeline. Mocap is a viewer for stored benchmark results, not browser retraining. Fixed-wing and SLAM use WASM; the tested mocap viewer interaction does not. No login, agent account or API key is needed to explore these examples manually. They use different models from the core exercise and are outside its Lean proof scope. Keep the recorded screenshots available for network/graphics recovery. At 12:50 move to participant demos.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12:50–12:55</a:t>
            </a:r>
          </a:p>
          <a:p>
            <a:r>
              <a:t>Use up to five 45-second demos, selected by the announced readiness check and random draw if needed. Draw order and a backup in advance. Each entrant shows a question Rumoca helps explore, their original change, a working interaction or before/after comparison, one checked result, tool used and elapsed work time. Local files, browser tabs and screenshares are acceptable; public source links are optional. Manual experiments are welcome; name the agent if used and label estimated times. Have tabs/files ready and use the same limit for everyone. Five demos leave 75 seconds for a hand vote and award. Each attendee votes for one entry; count visibly. If tied, run a quick vote between the tied entries; if still tied, draw among them. Award one stocking cap; a team chooses its recipient. Share voluntary links from all entries, including those not drawn. If no entries are ready, take a brief question and continue. CHALLENGE.md carries the same rules. Keep the core exercise as the workshop's main focus.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12:55–13:00</a:t>
            </a:r>
          </a:p>
          <a:p>
            <a:r>
              <a:t>Use a concrete invitation: “You already bring Modelica knowledge we need. Bring a model from your domain, one scientific question, and one result we can check together. Help us make declared mathematics reusable across simulation, identification, optimization and verification.” The community QR opens COMMUNITY.md, with a research/model collaboration issue form and links to the compiler and model library. Modelers can contribute small models with units and expected behavior; researchers can propose a measurable identification, geometry or verification question; software contributors can share a minimal compiler/backend reproduction or improvement. No aerospace background or coding-agent subscription is needed. Invite attendees to speak with James Goppert or Micah Condie before leaving, then continue through the public collaboration form. Ask: “Which model from your work would you try next?” Allow answers and questions rather than reading the bullets. The first step is a small shared check, not an implied promise of a certified full-system workflow. Point to today's tested source/results and MATH_REVIEW.md as an example of evidence we can build together. Stop at 13:00. Appendix A3 covers research directions if asked.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a:t>
            </a:r>
          </a:p>
          <a:p>
            <a:r>
              <a:t>Lean 4.29.1 and public Mathlib v4.29.1 are pinned. The proof representation comes from the actual Solve operation program. No admissions or custom axioms; standard propext, Classical.choice and Quot.sound only. The compiler/template/translator and real-arithmetic interpretation remain trusted. Assumptions: nonnegative coefficients, positive smoothing, nonzero mass/inertia for energy algebra. The profile threshold is asymptotic Gaussian; a finite grid does not guarantee confidence coverage.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a:t>
            </a:r>
          </a:p>
          <a:p>
            <a:r>
              <a:t>Faessler DOI 10.1109/LRA.2017.2776353, equation 2: mass-normalized body-frame R D Rᵀ drag; we do not invoke their flatness theorem. CasADi DOI 10.1007/s12532-018-0139-4, sections 2.6 and 5.4: AD and multiple shooting. Journal: Mathematical Programming Computation. Raue DOI 10.1093/bioinformatics/btp358, primary abstract; Wieland arXiv 2102.05100, equation 6/full method checked. No paper figures or extensive quotations are reproduced.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a:t>
            </a:r>
          </a:p>
          <a:p>
            <a:r>
              <a:t>The app gallery demonstrates selected browser interactions; it does not establish complete SLAM, deployable SLAM FMUs, automatic hardware partitioning or million-variable scaling. Agent-assisted development does not supply mathematical validation by itself. Use this appendix for roadmap questions only; no extra scheduled time. Recovery instructions remain in TROUBLESHOOTING.md and REHEARSAL.md.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a:t>
            </a:r>
          </a:p>
          <a:p>
            <a:r>
              <a:t>Default physical constraints: T 0–20 N, torque ±0.35 N m, pitch ±0.55 rad (nodes ±0.54), altitude 0.25–4 m, rotor pairs 0–10 N. Finer/adaptive peak pitch is about 0.542 rad. No interval-bound certificate, actuator dynamics or feedback is provided. IPOPT solves a local NLP. Active bounds can differ by about 1e−8 from floating-point solver tolerance; checks allow 1e−6. RK4 verification uses dt=0.025 s; DOP853 output samples are 0.01 s. These numerical checks are separate from exact-real Lean proofs.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131D2A"/>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94360" y="320040"/>
            <a:ext cx="1011326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AMERICAN MODELICA CONFERENCE · OCTOBER 12, 2026</a:t>
            </a:r>
          </a:p>
        </p:txBody>
      </p:sp>
      <p:sp>
        <p:nvSpPr>
          <p:cNvPr id="5" name="TextBox 4"/>
          <p:cNvSpPr txBox="1"/>
          <p:nvPr/>
        </p:nvSpPr>
        <p:spPr>
          <a:xfrm>
            <a:off x="10378440" y="320040"/>
            <a:ext cx="128930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CFB991"/>
                </a:solidFill>
                <a:latin typeface="DejaVu Sans"/>
              </a:defRPr>
            </a:pPr>
            <a:r>
              <a:t>10:00–10:05</a:t>
            </a:r>
          </a:p>
        </p:txBody>
      </p:sp>
      <p:sp>
        <p:nvSpPr>
          <p:cNvPr id="6" name="TextBox 5"/>
          <p:cNvSpPr txBox="1"/>
          <p:nvPr/>
        </p:nvSpPr>
        <p:spPr>
          <a:xfrm>
            <a:off x="640080" y="1005840"/>
            <a:ext cx="828446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ONE MODEL. SIMULATE. FIT. OPTIMIZE.</a:t>
            </a:r>
          </a:p>
        </p:txBody>
      </p:sp>
      <p:sp>
        <p:nvSpPr>
          <p:cNvPr id="7" name="TextBox 6"/>
          <p:cNvSpPr txBox="1"/>
          <p:nvPr/>
        </p:nvSpPr>
        <p:spPr>
          <a:xfrm>
            <a:off x="594360" y="1463040"/>
            <a:ext cx="8558784" cy="1057148"/>
          </a:xfrm>
          <a:prstGeom prst="rect">
            <a:avLst/>
          </a:prstGeom>
          <a:noFill/>
        </p:spPr>
        <p:txBody>
          <a:bodyPr wrap="none" lIns="0" rIns="0" tIns="0" bIns="0">
            <a:spAutoFit/>
          </a:bodyPr>
          <a:lstStyle/>
          <a:p>
            <a:pPr>
              <a:lnSpc>
                <a:spcPct val="124000"/>
              </a:lnSpc>
              <a:spcBef>
                <a:spcPts val="0"/>
              </a:spcBef>
              <a:spcAft>
                <a:spcPts val="0"/>
              </a:spcAft>
              <a:defRPr sz="5900" b="1">
                <a:solidFill>
                  <a:srgbClr val="FFFFFF"/>
                </a:solidFill>
                <a:latin typeface="DejaVu Sans"/>
              </a:defRPr>
            </a:pPr>
            <a:r>
              <a:t>Hands-On</a:t>
            </a:r>
          </a:p>
        </p:txBody>
      </p:sp>
      <p:sp>
        <p:nvSpPr>
          <p:cNvPr id="8" name="TextBox 7"/>
          <p:cNvSpPr txBox="1"/>
          <p:nvPr/>
        </p:nvSpPr>
        <p:spPr>
          <a:xfrm>
            <a:off x="594360" y="2304288"/>
            <a:ext cx="9015984" cy="1135888"/>
          </a:xfrm>
          <a:prstGeom prst="rect">
            <a:avLst/>
          </a:prstGeom>
          <a:noFill/>
        </p:spPr>
        <p:txBody>
          <a:bodyPr wrap="none" lIns="0" rIns="0" tIns="0" bIns="0">
            <a:spAutoFit/>
          </a:bodyPr>
          <a:lstStyle/>
          <a:p>
            <a:pPr>
              <a:lnSpc>
                <a:spcPct val="124000"/>
              </a:lnSpc>
              <a:spcBef>
                <a:spcPts val="0"/>
              </a:spcBef>
              <a:spcAft>
                <a:spcPts val="0"/>
              </a:spcAft>
              <a:defRPr sz="6400" b="1">
                <a:solidFill>
                  <a:srgbClr val="CFB991"/>
                </a:solidFill>
                <a:latin typeface="DejaVu Sans"/>
              </a:defRPr>
            </a:pPr>
            <a:r>
              <a:t>with Rumoca</a:t>
            </a:r>
          </a:p>
        </p:txBody>
      </p:sp>
      <p:sp>
        <p:nvSpPr>
          <p:cNvPr id="9" name="TextBox 8"/>
          <p:cNvSpPr txBox="1"/>
          <p:nvPr/>
        </p:nvSpPr>
        <p:spPr>
          <a:xfrm>
            <a:off x="640080" y="3538728"/>
            <a:ext cx="8833104" cy="521716"/>
          </a:xfrm>
          <a:prstGeom prst="rect">
            <a:avLst/>
          </a:prstGeom>
          <a:noFill/>
        </p:spPr>
        <p:txBody>
          <a:bodyPr wrap="none" lIns="0" rIns="0" tIns="0" bIns="0">
            <a:spAutoFit/>
          </a:bodyPr>
          <a:lstStyle/>
          <a:p>
            <a:pPr>
              <a:lnSpc>
                <a:spcPct val="124000"/>
              </a:lnSpc>
              <a:spcBef>
                <a:spcPts val="0"/>
              </a:spcBef>
              <a:spcAft>
                <a:spcPts val="0"/>
              </a:spcAft>
              <a:defRPr sz="2500" b="1">
                <a:solidFill>
                  <a:srgbClr val="FFFFFF"/>
                </a:solidFill>
                <a:latin typeface="DejaVu Sans"/>
              </a:defRPr>
            </a:pPr>
            <a:r>
              <a:t>James Goppert · Micah Condie</a:t>
            </a:r>
          </a:p>
        </p:txBody>
      </p:sp>
      <p:sp>
        <p:nvSpPr>
          <p:cNvPr id="10" name="TextBox 9"/>
          <p:cNvSpPr txBox="1"/>
          <p:nvPr/>
        </p:nvSpPr>
        <p:spPr>
          <a:xfrm>
            <a:off x="640080" y="4023360"/>
            <a:ext cx="8695944" cy="411480"/>
          </a:xfrm>
          <a:prstGeom prst="rect">
            <a:avLst/>
          </a:prstGeom>
          <a:noFill/>
        </p:spPr>
        <p:txBody>
          <a:bodyPr wrap="none" lIns="0" rIns="0" tIns="0" bIns="0">
            <a:spAutoFit/>
          </a:bodyPr>
          <a:lstStyle/>
          <a:p>
            <a:pPr>
              <a:lnSpc>
                <a:spcPct val="124000"/>
              </a:lnSpc>
              <a:spcBef>
                <a:spcPts val="0"/>
              </a:spcBef>
              <a:spcAft>
                <a:spcPts val="0"/>
              </a:spcAft>
              <a:defRPr sz="1800" b="0">
                <a:solidFill>
                  <a:srgbClr val="D1D7DF"/>
                </a:solidFill>
                <a:latin typeface="DejaVu Sans"/>
              </a:defRPr>
            </a:pPr>
            <a:r>
              <a:t>Purdue University · School of Aeronautics and Astronautics</a:t>
            </a:r>
          </a:p>
        </p:txBody>
      </p:sp>
      <p:sp>
        <p:nvSpPr>
          <p:cNvPr id="11" name="TextBox 10"/>
          <p:cNvSpPr txBox="1"/>
          <p:nvPr/>
        </p:nvSpPr>
        <p:spPr>
          <a:xfrm>
            <a:off x="640080" y="4434840"/>
            <a:ext cx="8650224" cy="411480"/>
          </a:xfrm>
          <a:prstGeom prst="rect">
            <a:avLst/>
          </a:prstGeom>
          <a:noFill/>
        </p:spPr>
        <p:txBody>
          <a:bodyPr wrap="none" lIns="0" rIns="0" tIns="0" bIns="0">
            <a:spAutoFit/>
          </a:bodyPr>
          <a:lstStyle/>
          <a:p>
            <a:pPr>
              <a:lnSpc>
                <a:spcPct val="124000"/>
              </a:lnSpc>
              <a:spcBef>
                <a:spcPts val="0"/>
              </a:spcBef>
              <a:spcAft>
                <a:spcPts val="0"/>
              </a:spcAft>
              <a:defRPr sz="1800" b="0">
                <a:solidFill>
                  <a:srgbClr val="D1D7DF"/>
                </a:solidFill>
                <a:latin typeface="DejaVu Sans"/>
              </a:defRPr>
            </a:pPr>
            <a:r>
              <a:t>Georgia Tech · 10:00–13:00</a:t>
            </a:r>
          </a:p>
        </p:txBody>
      </p:sp>
      <p:sp>
        <p:nvSpPr>
          <p:cNvPr id="12" name="TextBox 11"/>
          <p:cNvSpPr txBox="1"/>
          <p:nvPr/>
        </p:nvSpPr>
        <p:spPr>
          <a:xfrm>
            <a:off x="640080" y="4764024"/>
            <a:ext cx="8650224" cy="316992"/>
          </a:xfrm>
          <a:prstGeom prst="rect">
            <a:avLst/>
          </a:prstGeom>
          <a:noFill/>
        </p:spPr>
        <p:txBody>
          <a:bodyPr wrap="none" lIns="0" rIns="0" tIns="0" bIns="0">
            <a:spAutoFit/>
          </a:bodyPr>
          <a:lstStyle/>
          <a:p>
            <a:pPr>
              <a:lnSpc>
                <a:spcPct val="124000"/>
              </a:lnSpc>
              <a:spcBef>
                <a:spcPts val="0"/>
              </a:spcBef>
              <a:spcAft>
                <a:spcPts val="0"/>
              </a:spcAft>
              <a:defRPr sz="1200" b="0">
                <a:solidFill>
                  <a:srgbClr val="CFB991"/>
                </a:solidFill>
                <a:latin typeface="DejaVu Sans"/>
              </a:defRPr>
            </a:pPr>
            <a:r>
              <a:t>Any modeling domain welcome · no aerospace background needed</a:t>
            </a:r>
          </a:p>
        </p:txBody>
      </p:sp>
      <p:sp>
        <p:nvSpPr>
          <p:cNvPr id="13" name="Rounded Rectangle 12"/>
          <p:cNvSpPr/>
          <p:nvPr/>
        </p:nvSpPr>
        <p:spPr>
          <a:xfrm>
            <a:off x="640080" y="5029200"/>
            <a:ext cx="2651760" cy="804672"/>
          </a:xfrm>
          <a:prstGeom prst="roundRect">
            <a:avLst>
              <a:gd name="adj" fmla="val 8000"/>
            </a:avLst>
          </a:prstGeom>
          <a:solidFill>
            <a:srgbClr val="007E87"/>
          </a:solidFill>
          <a:ln>
            <a:noFill/>
          </a:ln>
        </p:spPr>
        <p:txBody>
          <a:bodyPr rtlCol="0" anchor="ctr"/>
          <a:lstStyle/>
          <a:p>
            <a:pPr algn="ctr"/>
          </a:p>
        </p:txBody>
      </p:sp>
      <p:sp>
        <p:nvSpPr>
          <p:cNvPr id="14" name="TextBox 13"/>
          <p:cNvSpPr txBox="1"/>
          <p:nvPr/>
        </p:nvSpPr>
        <p:spPr>
          <a:xfrm>
            <a:off x="786384" y="5148072"/>
            <a:ext cx="2340864" cy="364236"/>
          </a:xfrm>
          <a:prstGeom prst="rect">
            <a:avLst/>
          </a:prstGeom>
          <a:noFill/>
        </p:spPr>
        <p:txBody>
          <a:bodyPr wrap="none" lIns="0" rIns="0" tIns="0" bIns="0">
            <a:spAutoFit/>
          </a:bodyPr>
          <a:lstStyle/>
          <a:p>
            <a:pPr>
              <a:lnSpc>
                <a:spcPct val="124000"/>
              </a:lnSpc>
              <a:spcBef>
                <a:spcPts val="0"/>
              </a:spcBef>
              <a:spcAft>
                <a:spcPts val="0"/>
              </a:spcAft>
              <a:defRPr sz="1500" b="1">
                <a:solidFill>
                  <a:srgbClr val="FFFFFF"/>
                </a:solidFill>
                <a:latin typeface="DejaVu Sans"/>
              </a:defRPr>
            </a:pPr>
            <a:r>
              <a:t>MODEL</a:t>
            </a:r>
          </a:p>
        </p:txBody>
      </p:sp>
      <p:sp>
        <p:nvSpPr>
          <p:cNvPr id="15" name="TextBox 14"/>
          <p:cNvSpPr txBox="1"/>
          <p:nvPr/>
        </p:nvSpPr>
        <p:spPr>
          <a:xfrm>
            <a:off x="786384" y="5468112"/>
            <a:ext cx="238658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FFFFFF"/>
                </a:solidFill>
                <a:latin typeface="DejaVu Sans"/>
              </a:defRPr>
            </a:pPr>
            <a:r>
              <a:t>Declare the physics</a:t>
            </a:r>
          </a:p>
        </p:txBody>
      </p:sp>
      <p:sp>
        <p:nvSpPr>
          <p:cNvPr id="16" name="Rounded Rectangle 15"/>
          <p:cNvSpPr/>
          <p:nvPr/>
        </p:nvSpPr>
        <p:spPr>
          <a:xfrm>
            <a:off x="3493008" y="5029200"/>
            <a:ext cx="2651760" cy="804672"/>
          </a:xfrm>
          <a:prstGeom prst="roundRect">
            <a:avLst>
              <a:gd name="adj" fmla="val 8000"/>
            </a:avLst>
          </a:prstGeom>
          <a:solidFill>
            <a:srgbClr val="345FB5"/>
          </a:solidFill>
          <a:ln>
            <a:noFill/>
          </a:ln>
        </p:spPr>
        <p:txBody>
          <a:bodyPr rtlCol="0" anchor="ctr"/>
          <a:lstStyle/>
          <a:p>
            <a:pPr algn="ctr"/>
          </a:p>
        </p:txBody>
      </p:sp>
      <p:sp>
        <p:nvSpPr>
          <p:cNvPr id="17" name="TextBox 16"/>
          <p:cNvSpPr txBox="1"/>
          <p:nvPr/>
        </p:nvSpPr>
        <p:spPr>
          <a:xfrm>
            <a:off x="3639312" y="5148072"/>
            <a:ext cx="2340864" cy="364236"/>
          </a:xfrm>
          <a:prstGeom prst="rect">
            <a:avLst/>
          </a:prstGeom>
          <a:noFill/>
        </p:spPr>
        <p:txBody>
          <a:bodyPr wrap="none" lIns="0" rIns="0" tIns="0" bIns="0">
            <a:spAutoFit/>
          </a:bodyPr>
          <a:lstStyle/>
          <a:p>
            <a:pPr>
              <a:lnSpc>
                <a:spcPct val="124000"/>
              </a:lnSpc>
              <a:spcBef>
                <a:spcPts val="0"/>
              </a:spcBef>
              <a:spcAft>
                <a:spcPts val="0"/>
              </a:spcAft>
              <a:defRPr sz="1500" b="1">
                <a:solidFill>
                  <a:srgbClr val="FFFFFF"/>
                </a:solidFill>
                <a:latin typeface="DejaVu Sans"/>
              </a:defRPr>
            </a:pPr>
            <a:r>
              <a:t>FIT</a:t>
            </a:r>
          </a:p>
        </p:txBody>
      </p:sp>
      <p:sp>
        <p:nvSpPr>
          <p:cNvPr id="18" name="TextBox 17"/>
          <p:cNvSpPr txBox="1"/>
          <p:nvPr/>
        </p:nvSpPr>
        <p:spPr>
          <a:xfrm>
            <a:off x="3639312" y="5468112"/>
            <a:ext cx="238658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FFFFFF"/>
                </a:solidFill>
                <a:latin typeface="DejaVu Sans"/>
              </a:defRPr>
            </a:pPr>
            <a:r>
              <a:t>Learn from data</a:t>
            </a:r>
          </a:p>
        </p:txBody>
      </p:sp>
      <p:sp>
        <p:nvSpPr>
          <p:cNvPr id="19" name="Rounded Rectangle 18"/>
          <p:cNvSpPr/>
          <p:nvPr/>
        </p:nvSpPr>
        <p:spPr>
          <a:xfrm>
            <a:off x="6345936" y="5029200"/>
            <a:ext cx="2651760" cy="804672"/>
          </a:xfrm>
          <a:prstGeom prst="roundRect">
            <a:avLst>
              <a:gd name="adj" fmla="val 8000"/>
            </a:avLst>
          </a:prstGeom>
          <a:solidFill>
            <a:srgbClr val="B65131"/>
          </a:solidFill>
          <a:ln>
            <a:noFill/>
          </a:ln>
        </p:spPr>
        <p:txBody>
          <a:bodyPr rtlCol="0" anchor="ctr"/>
          <a:lstStyle/>
          <a:p>
            <a:pPr algn="ctr"/>
          </a:p>
        </p:txBody>
      </p:sp>
      <p:sp>
        <p:nvSpPr>
          <p:cNvPr id="20" name="TextBox 19"/>
          <p:cNvSpPr txBox="1"/>
          <p:nvPr/>
        </p:nvSpPr>
        <p:spPr>
          <a:xfrm>
            <a:off x="6492240" y="5148072"/>
            <a:ext cx="2340864" cy="364236"/>
          </a:xfrm>
          <a:prstGeom prst="rect">
            <a:avLst/>
          </a:prstGeom>
          <a:noFill/>
        </p:spPr>
        <p:txBody>
          <a:bodyPr wrap="none" lIns="0" rIns="0" tIns="0" bIns="0">
            <a:spAutoFit/>
          </a:bodyPr>
          <a:lstStyle/>
          <a:p>
            <a:pPr>
              <a:lnSpc>
                <a:spcPct val="124000"/>
              </a:lnSpc>
              <a:spcBef>
                <a:spcPts val="0"/>
              </a:spcBef>
              <a:spcAft>
                <a:spcPts val="0"/>
              </a:spcAft>
              <a:defRPr sz="1500" b="1">
                <a:solidFill>
                  <a:srgbClr val="FFFFFF"/>
                </a:solidFill>
                <a:latin typeface="DejaVu Sans"/>
              </a:defRPr>
            </a:pPr>
            <a:r>
              <a:t>OPTIMIZE</a:t>
            </a:r>
          </a:p>
        </p:txBody>
      </p:sp>
      <p:sp>
        <p:nvSpPr>
          <p:cNvPr id="21" name="TextBox 20"/>
          <p:cNvSpPr txBox="1"/>
          <p:nvPr/>
        </p:nvSpPr>
        <p:spPr>
          <a:xfrm>
            <a:off x="6492240" y="5468112"/>
            <a:ext cx="238658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FFFFFF"/>
                </a:solidFill>
                <a:latin typeface="DejaVu Sans"/>
              </a:defRPr>
            </a:pPr>
            <a:r>
              <a:t>Plan the motion</a:t>
            </a:r>
          </a:p>
        </p:txBody>
      </p:sp>
      <p:sp>
        <p:nvSpPr>
          <p:cNvPr id="22" name="Rounded Rectangle 21"/>
          <p:cNvSpPr/>
          <p:nvPr/>
        </p:nvSpPr>
        <p:spPr>
          <a:xfrm>
            <a:off x="9326880" y="3337560"/>
            <a:ext cx="2240280" cy="2423160"/>
          </a:xfrm>
          <a:prstGeom prst="roundRect">
            <a:avLst>
              <a:gd name="adj" fmla="val 8000"/>
            </a:avLst>
          </a:prstGeom>
          <a:solidFill>
            <a:srgbClr val="FFFFFF"/>
          </a:solidFill>
          <a:ln>
            <a:noFill/>
          </a:ln>
        </p:spPr>
        <p:txBody>
          <a:bodyPr rtlCol="0" anchor="ctr"/>
          <a:lstStyle/>
          <a:p>
            <a:pPr algn="ctr"/>
          </a:p>
        </p:txBody>
      </p:sp>
      <p:pic>
        <p:nvPicPr>
          <p:cNvPr id="23" name="Picture 22" descr="repo-qr.png"/>
          <p:cNvPicPr>
            <a:picLocks noChangeAspect="1"/>
          </p:cNvPicPr>
          <p:nvPr/>
        </p:nvPicPr>
        <p:blipFill>
          <a:blip r:embed="rId2"/>
          <a:stretch>
            <a:fillRect/>
          </a:stretch>
        </p:blipFill>
        <p:spPr>
          <a:xfrm>
            <a:off x="9482328" y="3493008"/>
            <a:ext cx="1929384" cy="1929384"/>
          </a:xfrm>
          <a:prstGeom prst="rect">
            <a:avLst/>
          </a:prstGeom>
        </p:spPr>
      </p:pic>
      <p:sp>
        <p:nvSpPr>
          <p:cNvPr id="24" name="TextBox 23"/>
          <p:cNvSpPr txBox="1"/>
          <p:nvPr/>
        </p:nvSpPr>
        <p:spPr>
          <a:xfrm>
            <a:off x="9491472" y="5504688"/>
            <a:ext cx="1975104" cy="261873"/>
          </a:xfrm>
          <a:prstGeom prst="rect">
            <a:avLst/>
          </a:prstGeom>
          <a:noFill/>
        </p:spPr>
        <p:txBody>
          <a:bodyPr wrap="none" lIns="0" rIns="0" tIns="0" bIns="0">
            <a:spAutoFit/>
          </a:bodyPr>
          <a:lstStyle/>
          <a:p>
            <a:pPr>
              <a:lnSpc>
                <a:spcPct val="124000"/>
              </a:lnSpc>
              <a:spcBef>
                <a:spcPts val="0"/>
              </a:spcBef>
              <a:spcAft>
                <a:spcPts val="0"/>
              </a:spcAft>
              <a:defRPr sz="850" b="1">
                <a:solidFill>
                  <a:srgbClr val="131D2A"/>
                </a:solidFill>
                <a:latin typeface="DejaVu Sans"/>
              </a:defRPr>
            </a:pPr>
            <a:r>
              <a:t>OPEN THE WORKSHOP</a:t>
            </a:r>
          </a:p>
        </p:txBody>
      </p:sp>
      <p:sp>
        <p:nvSpPr>
          <p:cNvPr id="25" name="Rectangle 24"/>
          <p:cNvSpPr/>
          <p:nvPr/>
        </p:nvSpPr>
        <p:spPr>
          <a:xfrm>
            <a:off x="594360" y="6108192"/>
            <a:ext cx="54864" cy="228600"/>
          </a:xfrm>
          <a:prstGeom prst="rect">
            <a:avLst/>
          </a:prstGeom>
          <a:solidFill>
            <a:srgbClr val="CFB991"/>
          </a:solidFill>
          <a:ln>
            <a:noFill/>
          </a:ln>
        </p:spPr>
        <p:txBody>
          <a:bodyPr rtlCol="0" anchor="ctr"/>
          <a:lstStyle/>
          <a:p>
            <a:pPr algn="ctr"/>
          </a:p>
        </p:txBody>
      </p:sp>
      <p:sp>
        <p:nvSpPr>
          <p:cNvPr id="26" name="TextBox 25"/>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CFB991"/>
                </a:solidFill>
                <a:latin typeface="DejaVu Sans"/>
              </a:defRPr>
            </a:pPr>
            <a:r>
              <a:t>github.com/CogniPilot/rumoca_workshop_amc2026</a:t>
            </a:r>
          </a:p>
        </p:txBody>
      </p:sp>
      <p:sp>
        <p:nvSpPr>
          <p:cNvPr id="27" name="Rectangle 26"/>
          <p:cNvSpPr/>
          <p:nvPr/>
        </p:nvSpPr>
        <p:spPr>
          <a:xfrm>
            <a:off x="594360" y="6519672"/>
            <a:ext cx="11000232" cy="13716"/>
          </a:xfrm>
          <a:prstGeom prst="rect">
            <a:avLst/>
          </a:prstGeom>
          <a:solidFill>
            <a:srgbClr val="344153"/>
          </a:solidFill>
          <a:ln>
            <a:noFill/>
          </a:ln>
        </p:spPr>
        <p:txBody>
          <a:bodyPr rtlCol="0" anchor="ctr"/>
          <a:lstStyle/>
          <a:p>
            <a:pPr algn="ctr"/>
          </a:p>
        </p:txBody>
      </p:sp>
      <p:sp>
        <p:nvSpPr>
          <p:cNvPr id="28" name="TextBox 27"/>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D1D7DF"/>
                </a:solidFill>
                <a:latin typeface="DejaVu Sans"/>
              </a:defRPr>
            </a:pPr>
            <a:r>
              <a:t>PURDUE AEROSPACE / GEORGIA TECH / AMC 2026</a:t>
            </a:r>
          </a:p>
        </p:txBody>
      </p:sp>
      <p:sp>
        <p:nvSpPr>
          <p:cNvPr id="29" name="Rectangle 28"/>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30" name="TextBox 29"/>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CFB991"/>
                </a:solidFill>
                <a:latin typeface="DejaVu Sans"/>
              </a:defRPr>
            </a:pPr>
            <a:r>
              <a:t>MODEL</a:t>
            </a:r>
          </a:p>
        </p:txBody>
      </p:sp>
      <p:sp>
        <p:nvSpPr>
          <p:cNvPr id="31" name="Rectangle 30"/>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32" name="TextBox 31"/>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FIT</a:t>
            </a:r>
          </a:p>
        </p:txBody>
      </p:sp>
      <p:sp>
        <p:nvSpPr>
          <p:cNvPr id="33" name="Rectangle 32"/>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34" name="TextBox 33"/>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OPTIMIZE</a:t>
            </a:r>
          </a:p>
        </p:txBody>
      </p:sp>
      <p:sp>
        <p:nvSpPr>
          <p:cNvPr id="35" name="TextBox 34"/>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CFB991"/>
                </a:solidFill>
                <a:latin typeface="DejaVu Sans"/>
              </a:defRPr>
            </a:pPr>
            <a: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131D2A"/>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OPEN EXPERIMENT CHALLENGE · DEMOS + AUDIENCE VOTE AT 12:50</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CFB991"/>
                </a:solidFill>
                <a:latin typeface="DejaVu Sans"/>
              </a:defRPr>
            </a:pPr>
            <a:r>
              <a:t>10:05–10:10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FFFFFF"/>
                </a:solidFill>
                <a:latin typeface="DejaVu Sans"/>
              </a:defRPr>
            </a:pPr>
            <a:r>
              <a:t>Run the core. Explore your own question.</a:t>
            </a:r>
          </a:p>
        </p:txBody>
      </p:sp>
      <p:sp>
        <p:nvSpPr>
          <p:cNvPr id="7" name="TextBox 6"/>
          <p:cNvSpPr txBox="1"/>
          <p:nvPr/>
        </p:nvSpPr>
        <p:spPr>
          <a:xfrm>
            <a:off x="640080" y="1645920"/>
            <a:ext cx="7918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YOUR QUESTION. YOUR EXPERIMENT.</a:t>
            </a:r>
          </a:p>
        </p:txBody>
      </p:sp>
      <p:sp>
        <p:nvSpPr>
          <p:cNvPr id="8" name="TextBox 7"/>
          <p:cNvSpPr txBox="1"/>
          <p:nvPr/>
        </p:nvSpPr>
        <p:spPr>
          <a:xfrm>
            <a:off x="594360" y="2075688"/>
            <a:ext cx="7552944" cy="820927"/>
          </a:xfrm>
          <a:prstGeom prst="rect">
            <a:avLst/>
          </a:prstGeom>
          <a:noFill/>
        </p:spPr>
        <p:txBody>
          <a:bodyPr wrap="none" lIns="0" rIns="0" tIns="0" bIns="0">
            <a:spAutoFit/>
          </a:bodyPr>
          <a:lstStyle/>
          <a:p>
            <a:pPr>
              <a:lnSpc>
                <a:spcPct val="124000"/>
              </a:lnSpc>
              <a:spcBef>
                <a:spcPts val="0"/>
              </a:spcBef>
              <a:spcAft>
                <a:spcPts val="0"/>
              </a:spcAft>
              <a:defRPr sz="4400" b="1">
                <a:solidFill>
                  <a:srgbClr val="FFFFFF"/>
                </a:solidFill>
                <a:latin typeface="DejaVu Sans"/>
              </a:defRPr>
            </a:pPr>
            <a:r>
              <a:t>Make something</a:t>
            </a:r>
          </a:p>
        </p:txBody>
      </p:sp>
      <p:sp>
        <p:nvSpPr>
          <p:cNvPr id="9" name="TextBox 8"/>
          <p:cNvSpPr txBox="1"/>
          <p:nvPr/>
        </p:nvSpPr>
        <p:spPr>
          <a:xfrm>
            <a:off x="594360" y="2761488"/>
            <a:ext cx="7552944" cy="820927"/>
          </a:xfrm>
          <a:prstGeom prst="rect">
            <a:avLst/>
          </a:prstGeom>
          <a:noFill/>
        </p:spPr>
        <p:txBody>
          <a:bodyPr wrap="none" lIns="0" rIns="0" tIns="0" bIns="0">
            <a:spAutoFit/>
          </a:bodyPr>
          <a:lstStyle/>
          <a:p>
            <a:pPr>
              <a:lnSpc>
                <a:spcPct val="124000"/>
              </a:lnSpc>
              <a:spcBef>
                <a:spcPts val="0"/>
              </a:spcBef>
              <a:spcAft>
                <a:spcPts val="0"/>
              </a:spcAft>
              <a:defRPr sz="4400" b="1">
                <a:solidFill>
                  <a:srgbClr val="CFB991"/>
                </a:solidFill>
                <a:latin typeface="DejaVu Sans"/>
              </a:defRPr>
            </a:pPr>
            <a:r>
              <a:t>you care about.</a:t>
            </a:r>
          </a:p>
        </p:txBody>
      </p:sp>
      <p:sp>
        <p:nvSpPr>
          <p:cNvPr id="10" name="TextBox 9"/>
          <p:cNvSpPr txBox="1"/>
          <p:nvPr/>
        </p:nvSpPr>
        <p:spPr>
          <a:xfrm>
            <a:off x="640080" y="3703320"/>
            <a:ext cx="7552944" cy="490220"/>
          </a:xfrm>
          <a:prstGeom prst="rect">
            <a:avLst/>
          </a:prstGeom>
          <a:noFill/>
        </p:spPr>
        <p:txBody>
          <a:bodyPr wrap="none" lIns="0" rIns="0" tIns="0" bIns="0">
            <a:spAutoFit/>
          </a:bodyPr>
          <a:lstStyle/>
          <a:p>
            <a:pPr>
              <a:lnSpc>
                <a:spcPct val="124000"/>
              </a:lnSpc>
              <a:spcBef>
                <a:spcPts val="0"/>
              </a:spcBef>
              <a:spcAft>
                <a:spcPts val="0"/>
              </a:spcAft>
              <a:defRPr sz="2300" b="0">
                <a:solidFill>
                  <a:srgbClr val="FFFFFF"/>
                </a:solidFill>
                <a:latin typeface="DejaVu Sans"/>
              </a:defRPr>
            </a:pPr>
            <a:r>
              <a:t>Experiment in a model or simulator.</a:t>
            </a:r>
          </a:p>
        </p:txBody>
      </p:sp>
      <p:sp>
        <p:nvSpPr>
          <p:cNvPr id="11" name="TextBox 10"/>
          <p:cNvSpPr txBox="1"/>
          <p:nvPr/>
        </p:nvSpPr>
        <p:spPr>
          <a:xfrm>
            <a:off x="640080" y="4617720"/>
            <a:ext cx="7552944" cy="442976"/>
          </a:xfrm>
          <a:prstGeom prst="rect">
            <a:avLst/>
          </a:prstGeom>
          <a:noFill/>
        </p:spPr>
        <p:txBody>
          <a:bodyPr wrap="none" lIns="0" rIns="0" tIns="0" bIns="0">
            <a:spAutoFit/>
          </a:bodyPr>
          <a:lstStyle/>
          <a:p>
            <a:pPr>
              <a:lnSpc>
                <a:spcPct val="124000"/>
              </a:lnSpc>
              <a:spcBef>
                <a:spcPts val="0"/>
              </a:spcBef>
              <a:spcAft>
                <a:spcPts val="0"/>
              </a:spcAft>
              <a:defRPr sz="2000" b="0">
                <a:solidFill>
                  <a:srgbClr val="D1D7DF"/>
                </a:solidFill>
                <a:latin typeface="DejaVu Sans"/>
              </a:defRPr>
            </a:pPr>
            <a:r>
              <a:t>Core: edit a model, fit data, optimize a trajectory</a:t>
            </a:r>
          </a:p>
        </p:txBody>
      </p:sp>
      <p:sp>
        <p:nvSpPr>
          <p:cNvPr id="12" name="TextBox 11"/>
          <p:cNvSpPr txBox="1"/>
          <p:nvPr/>
        </p:nvSpPr>
        <p:spPr>
          <a:xfrm>
            <a:off x="640080" y="5239512"/>
            <a:ext cx="7552944" cy="411480"/>
          </a:xfrm>
          <a:prstGeom prst="rect">
            <a:avLst/>
          </a:prstGeom>
          <a:noFill/>
        </p:spPr>
        <p:txBody>
          <a:bodyPr wrap="none" lIns="0" rIns="0" tIns="0" bIns="0">
            <a:spAutoFit/>
          </a:bodyPr>
          <a:lstStyle/>
          <a:p>
            <a:pPr>
              <a:lnSpc>
                <a:spcPct val="124000"/>
              </a:lnSpc>
              <a:spcBef>
                <a:spcPts val="0"/>
              </a:spcBef>
              <a:spcAft>
                <a:spcPts val="0"/>
              </a:spcAft>
              <a:defRPr sz="1800" b="0">
                <a:solidFill>
                  <a:srgbClr val="D1D7DF"/>
                </a:solidFill>
                <a:latin typeface="DejaVu Sans"/>
              </a:defRPr>
            </a:pPr>
            <a:r>
              <a:t>One change in an existing model or simulator is enough</a:t>
            </a:r>
          </a:p>
        </p:txBody>
      </p:sp>
      <p:sp>
        <p:nvSpPr>
          <p:cNvPr id="13" name="Rounded Rectangle 12"/>
          <p:cNvSpPr/>
          <p:nvPr/>
        </p:nvSpPr>
        <p:spPr>
          <a:xfrm>
            <a:off x="8366760" y="1627632"/>
            <a:ext cx="3246120" cy="4178808"/>
          </a:xfrm>
          <a:prstGeom prst="roundRect">
            <a:avLst>
              <a:gd name="adj" fmla="val 8000"/>
            </a:avLst>
          </a:prstGeom>
          <a:solidFill>
            <a:srgbClr val="203044"/>
          </a:solidFill>
          <a:ln>
            <a:noFill/>
          </a:ln>
        </p:spPr>
        <p:txBody>
          <a:bodyPr rtlCol="0" anchor="ctr"/>
          <a:lstStyle/>
          <a:p>
            <a:pPr algn="ctr"/>
          </a:p>
        </p:txBody>
      </p:sp>
      <p:sp>
        <p:nvSpPr>
          <p:cNvPr id="14" name="TextBox 13"/>
          <p:cNvSpPr txBox="1"/>
          <p:nvPr/>
        </p:nvSpPr>
        <p:spPr>
          <a:xfrm>
            <a:off x="8622792" y="1901952"/>
            <a:ext cx="279806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THE PRIZE</a:t>
            </a:r>
          </a:p>
        </p:txBody>
      </p:sp>
      <p:sp>
        <p:nvSpPr>
          <p:cNvPr id="15" name="TextBox 14"/>
          <p:cNvSpPr txBox="1"/>
          <p:nvPr/>
        </p:nvSpPr>
        <p:spPr>
          <a:xfrm>
            <a:off x="8622792" y="2432304"/>
            <a:ext cx="2798064" cy="773683"/>
          </a:xfrm>
          <a:prstGeom prst="rect">
            <a:avLst/>
          </a:prstGeom>
          <a:noFill/>
        </p:spPr>
        <p:txBody>
          <a:bodyPr wrap="none" lIns="0" rIns="0" tIns="0" bIns="0">
            <a:spAutoFit/>
          </a:bodyPr>
          <a:lstStyle/>
          <a:p>
            <a:pPr>
              <a:lnSpc>
                <a:spcPct val="124000"/>
              </a:lnSpc>
              <a:spcBef>
                <a:spcPts val="0"/>
              </a:spcBef>
              <a:spcAft>
                <a:spcPts val="0"/>
              </a:spcAft>
              <a:defRPr sz="4100" b="1">
                <a:solidFill>
                  <a:srgbClr val="CFB991"/>
                </a:solidFill>
                <a:latin typeface="DejaVu Sans"/>
              </a:defRPr>
            </a:pPr>
            <a:r>
              <a:t>FREE</a:t>
            </a:r>
          </a:p>
        </p:txBody>
      </p:sp>
      <p:sp>
        <p:nvSpPr>
          <p:cNvPr id="16" name="TextBox 15"/>
          <p:cNvSpPr txBox="1"/>
          <p:nvPr/>
        </p:nvSpPr>
        <p:spPr>
          <a:xfrm>
            <a:off x="8622792" y="3136392"/>
            <a:ext cx="2752344" cy="883920"/>
          </a:xfrm>
          <a:prstGeom prst="rect">
            <a:avLst/>
          </a:prstGeom>
          <a:noFill/>
        </p:spPr>
        <p:txBody>
          <a:bodyPr wrap="none" lIns="0" rIns="0" tIns="0" bIns="0">
            <a:spAutoFit/>
          </a:bodyPr>
          <a:lstStyle/>
          <a:p>
            <a:pPr>
              <a:lnSpc>
                <a:spcPct val="124000"/>
              </a:lnSpc>
              <a:spcBef>
                <a:spcPts val="0"/>
              </a:spcBef>
              <a:spcAft>
                <a:spcPts val="0"/>
              </a:spcAft>
              <a:defRPr sz="2400" b="1">
                <a:solidFill>
                  <a:srgbClr val="FFFFFF"/>
                </a:solidFill>
                <a:latin typeface="DejaVu Sans"/>
              </a:defRPr>
            </a:pPr>
            <a:r>
              <a:t>CogniPilot</a:t>
            </a:r>
          </a:p>
          <a:p>
            <a:pPr>
              <a:lnSpc>
                <a:spcPct val="124000"/>
              </a:lnSpc>
              <a:spcBef>
                <a:spcPts val="0"/>
              </a:spcBef>
              <a:spcAft>
                <a:spcPts val="0"/>
              </a:spcAft>
              <a:defRPr sz="2400" b="1">
                <a:solidFill>
                  <a:srgbClr val="FFFFFF"/>
                </a:solidFill>
                <a:latin typeface="DejaVu Sans"/>
              </a:defRPr>
            </a:pPr>
            <a:r>
              <a:t>stocking cap</a:t>
            </a:r>
          </a:p>
        </p:txBody>
      </p:sp>
      <p:sp>
        <p:nvSpPr>
          <p:cNvPr id="17" name="Rectangle 16"/>
          <p:cNvSpPr/>
          <p:nvPr/>
        </p:nvSpPr>
        <p:spPr>
          <a:xfrm>
            <a:off x="8622792" y="4206240"/>
            <a:ext cx="2697480" cy="13716"/>
          </a:xfrm>
          <a:prstGeom prst="rect">
            <a:avLst/>
          </a:prstGeom>
          <a:solidFill>
            <a:srgbClr val="CFB991"/>
          </a:solidFill>
          <a:ln>
            <a:noFill/>
          </a:ln>
        </p:spPr>
        <p:txBody>
          <a:bodyPr rtlCol="0" anchor="ctr"/>
          <a:lstStyle/>
          <a:p>
            <a:pPr algn="ctr"/>
          </a:p>
        </p:txBody>
      </p:sp>
      <p:sp>
        <p:nvSpPr>
          <p:cNvPr id="18" name="TextBox 17"/>
          <p:cNvSpPr txBox="1"/>
          <p:nvPr/>
        </p:nvSpPr>
        <p:spPr>
          <a:xfrm>
            <a:off x="8622792" y="4517136"/>
            <a:ext cx="2752344" cy="726440"/>
          </a:xfrm>
          <a:prstGeom prst="rect">
            <a:avLst/>
          </a:prstGeom>
          <a:noFill/>
        </p:spPr>
        <p:txBody>
          <a:bodyPr wrap="none" lIns="0" rIns="0" tIns="0" bIns="0">
            <a:spAutoFit/>
          </a:bodyPr>
          <a:lstStyle/>
          <a:p>
            <a:pPr>
              <a:lnSpc>
                <a:spcPct val="124000"/>
              </a:lnSpc>
              <a:spcBef>
                <a:spcPts val="0"/>
              </a:spcBef>
              <a:spcAft>
                <a:spcPts val="0"/>
              </a:spcAft>
              <a:defRPr sz="1900" b="0">
                <a:solidFill>
                  <a:srgbClr val="FFFFFF"/>
                </a:solidFill>
                <a:latin typeface="DejaVu Sans"/>
              </a:defRPr>
            </a:pPr>
            <a:r>
              <a:t>Short demos</a:t>
            </a:r>
          </a:p>
          <a:p>
            <a:pPr>
              <a:lnSpc>
                <a:spcPct val="124000"/>
              </a:lnSpc>
              <a:spcBef>
                <a:spcPts val="0"/>
              </a:spcBef>
              <a:spcAft>
                <a:spcPts val="0"/>
              </a:spcAft>
              <a:defRPr sz="1900" b="0">
                <a:solidFill>
                  <a:srgbClr val="FFFFFF"/>
                </a:solidFill>
                <a:latin typeface="DejaVu Sans"/>
              </a:defRPr>
            </a:pPr>
            <a:r>
              <a:t>Audience hand vote</a:t>
            </a:r>
          </a:p>
        </p:txBody>
      </p:sp>
      <p:sp>
        <p:nvSpPr>
          <p:cNvPr id="19" name="Rectangle 18"/>
          <p:cNvSpPr/>
          <p:nvPr/>
        </p:nvSpPr>
        <p:spPr>
          <a:xfrm>
            <a:off x="594360" y="6108192"/>
            <a:ext cx="54864" cy="228600"/>
          </a:xfrm>
          <a:prstGeom prst="rect">
            <a:avLst/>
          </a:prstGeom>
          <a:solidFill>
            <a:srgbClr val="CFB991"/>
          </a:solidFill>
          <a:ln>
            <a:noFill/>
          </a:ln>
        </p:spPr>
        <p:txBody>
          <a:bodyPr rtlCol="0" anchor="ctr"/>
          <a:lstStyle/>
          <a:p>
            <a:pPr algn="ctr"/>
          </a:p>
        </p:txBody>
      </p:sp>
      <p:sp>
        <p:nvSpPr>
          <p:cNvPr id="20" name="TextBox 19"/>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CFB991"/>
                </a:solidFill>
                <a:latin typeface="DejaVu Sans"/>
              </a:defRPr>
            </a:pPr>
            <a:r>
              <a:t>Enter by 12:40 · up to 5 demos · CHALLENGE.md · hosting optional</a:t>
            </a:r>
          </a:p>
        </p:txBody>
      </p:sp>
      <p:sp>
        <p:nvSpPr>
          <p:cNvPr id="21" name="Rectangle 20"/>
          <p:cNvSpPr/>
          <p:nvPr/>
        </p:nvSpPr>
        <p:spPr>
          <a:xfrm>
            <a:off x="594360" y="6519672"/>
            <a:ext cx="11000232" cy="13716"/>
          </a:xfrm>
          <a:prstGeom prst="rect">
            <a:avLst/>
          </a:prstGeom>
          <a:solidFill>
            <a:srgbClr val="344153"/>
          </a:solidFill>
          <a:ln>
            <a:noFill/>
          </a:ln>
        </p:spPr>
        <p:txBody>
          <a:bodyPr rtlCol="0" anchor="ctr"/>
          <a:lstStyle/>
          <a:p>
            <a:pPr algn="ctr"/>
          </a:p>
        </p:txBody>
      </p:sp>
      <p:sp>
        <p:nvSpPr>
          <p:cNvPr id="22" name="TextBox 21"/>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D1D7DF"/>
                </a:solidFill>
                <a:latin typeface="DejaVu Sans"/>
              </a:defRPr>
            </a:pPr>
            <a:r>
              <a:t>PURDUE AEROSPACE / GEORGIA TECH / AMC 2026</a:t>
            </a:r>
          </a:p>
        </p:txBody>
      </p:sp>
      <p:sp>
        <p:nvSpPr>
          <p:cNvPr id="23" name="Rectangle 22"/>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24" name="TextBox 23"/>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CFB991"/>
                </a:solidFill>
                <a:latin typeface="DejaVu Sans"/>
              </a:defRPr>
            </a:pPr>
            <a:r>
              <a:t>MODEL</a:t>
            </a:r>
          </a:p>
        </p:txBody>
      </p:sp>
      <p:sp>
        <p:nvSpPr>
          <p:cNvPr id="25" name="Rectangle 24"/>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6" name="TextBox 25"/>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FIT</a:t>
            </a:r>
          </a:p>
        </p:txBody>
      </p:sp>
      <p:sp>
        <p:nvSpPr>
          <p:cNvPr id="27" name="Rectangle 26"/>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8" name="TextBox 27"/>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OPTIMIZE</a:t>
            </a:r>
          </a:p>
        </p:txBody>
      </p:sp>
      <p:sp>
        <p:nvSpPr>
          <p:cNvPr id="29" name="TextBox 28"/>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CFB991"/>
                </a:solidFill>
                <a:latin typeface="DejaVu Sans"/>
              </a:defRPr>
            </a:pPr>
            <a: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PURDUE + COGNIPILOT · HOW WE ARE USING DECLARED MATHEMATICS</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10:10–10:15</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Why Rumoca? One model, many questions.</a:t>
            </a:r>
          </a:p>
        </p:txBody>
      </p:sp>
      <p:sp>
        <p:nvSpPr>
          <p:cNvPr id="7" name="TextBox 6"/>
          <p:cNvSpPr txBox="1"/>
          <p:nvPr/>
        </p:nvSpPr>
        <p:spPr>
          <a:xfrm>
            <a:off x="640080" y="1417320"/>
            <a:ext cx="10936224" cy="505968"/>
          </a:xfrm>
          <a:prstGeom prst="rect">
            <a:avLst/>
          </a:prstGeom>
          <a:noFill/>
        </p:spPr>
        <p:txBody>
          <a:bodyPr wrap="none" lIns="0" rIns="0" tIns="0" bIns="0">
            <a:spAutoFit/>
          </a:bodyPr>
          <a:lstStyle/>
          <a:p>
            <a:pPr>
              <a:lnSpc>
                <a:spcPct val="124000"/>
              </a:lnSpc>
              <a:spcBef>
                <a:spcPts val="0"/>
              </a:spcBef>
              <a:spcAft>
                <a:spcPts val="0"/>
              </a:spcAft>
              <a:defRPr sz="2400" b="1">
                <a:solidFill>
                  <a:srgbClr val="131D2A"/>
                </a:solidFill>
                <a:latin typeface="DejaVu Sans"/>
              </a:defRPr>
            </a:pPr>
            <a:r>
              <a:t>A unified, declarative foundation for cyberphysical systems.</a:t>
            </a:r>
          </a:p>
        </p:txBody>
      </p:sp>
      <p:sp>
        <p:nvSpPr>
          <p:cNvPr id="8" name="Rounded Rectangle 7"/>
          <p:cNvSpPr/>
          <p:nvPr/>
        </p:nvSpPr>
        <p:spPr>
          <a:xfrm>
            <a:off x="594360" y="2057400"/>
            <a:ext cx="5321808" cy="1536192"/>
          </a:xfrm>
          <a:prstGeom prst="roundRect">
            <a:avLst>
              <a:gd name="adj" fmla="val 8000"/>
            </a:avLst>
          </a:prstGeom>
          <a:solidFill>
            <a:srgbClr val="FFFFFF"/>
          </a:solidFill>
          <a:ln>
            <a:noFill/>
          </a:ln>
        </p:spPr>
        <p:txBody>
          <a:bodyPr rtlCol="0" anchor="ctr"/>
          <a:lstStyle/>
          <a:p>
            <a:pPr algn="ctr"/>
          </a:p>
        </p:txBody>
      </p:sp>
      <p:sp>
        <p:nvSpPr>
          <p:cNvPr id="9" name="Rectangle 8"/>
          <p:cNvSpPr/>
          <p:nvPr/>
        </p:nvSpPr>
        <p:spPr>
          <a:xfrm>
            <a:off x="594360" y="2057400"/>
            <a:ext cx="64008" cy="1536192"/>
          </a:xfrm>
          <a:prstGeom prst="rect">
            <a:avLst/>
          </a:prstGeom>
          <a:solidFill>
            <a:srgbClr val="007E87"/>
          </a:solidFill>
          <a:ln>
            <a:noFill/>
          </a:ln>
        </p:spPr>
        <p:txBody>
          <a:bodyPr rtlCol="0" anchor="ctr"/>
          <a:lstStyle/>
          <a:p>
            <a:pPr algn="ctr"/>
          </a:p>
        </p:txBody>
      </p:sp>
      <p:sp>
        <p:nvSpPr>
          <p:cNvPr id="10" name="TextBox 9"/>
          <p:cNvSpPr txBox="1"/>
          <p:nvPr/>
        </p:nvSpPr>
        <p:spPr>
          <a:xfrm>
            <a:off x="841248" y="2240280"/>
            <a:ext cx="4828031"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007E87"/>
                </a:solidFill>
                <a:latin typeface="DejaVu Sans"/>
              </a:defRPr>
            </a:pPr>
            <a:r>
              <a:t>Lie group theory</a:t>
            </a:r>
          </a:p>
        </p:txBody>
      </p:sp>
      <p:sp>
        <p:nvSpPr>
          <p:cNvPr id="11" name="TextBox 10"/>
          <p:cNvSpPr txBox="1"/>
          <p:nvPr/>
        </p:nvSpPr>
        <p:spPr>
          <a:xfrm>
            <a:off x="841248" y="2788920"/>
            <a:ext cx="4828031" cy="694943"/>
          </a:xfrm>
          <a:prstGeom prst="rect">
            <a:avLst/>
          </a:prstGeom>
          <a:noFill/>
        </p:spPr>
        <p:txBody>
          <a:bodyPr wrap="none" lIns="0" rIns="0" tIns="0" bIns="0">
            <a:spAutoFit/>
          </a:bodyPr>
          <a:lstStyle/>
          <a:p>
            <a:pPr>
              <a:lnSpc>
                <a:spcPct val="124000"/>
              </a:lnSpc>
              <a:spcBef>
                <a:spcPts val="0"/>
              </a:spcBef>
              <a:spcAft>
                <a:spcPts val="0"/>
              </a:spcAft>
              <a:defRPr sz="1800" b="0">
                <a:solidFill>
                  <a:srgbClr val="131D2A"/>
                </a:solidFill>
                <a:latin typeface="DejaVu Sans"/>
              </a:defRPr>
            </a:pPr>
            <a:r>
              <a:t>Represent rotations and motion with</a:t>
            </a:r>
          </a:p>
          <a:p>
            <a:pPr>
              <a:lnSpc>
                <a:spcPct val="124000"/>
              </a:lnSpc>
              <a:spcBef>
                <a:spcPts val="0"/>
              </a:spcBef>
              <a:spcAft>
                <a:spcPts val="0"/>
              </a:spcAft>
              <a:defRPr sz="1800" b="0">
                <a:solidFill>
                  <a:srgbClr val="131D2A"/>
                </a:solidFill>
                <a:latin typeface="DejaVu Sans"/>
              </a:defRPr>
            </a:pPr>
            <a:r>
              <a:t>their geometric structure.</a:t>
            </a:r>
          </a:p>
        </p:txBody>
      </p:sp>
      <p:sp>
        <p:nvSpPr>
          <p:cNvPr id="12" name="Rounded Rectangle 11"/>
          <p:cNvSpPr/>
          <p:nvPr/>
        </p:nvSpPr>
        <p:spPr>
          <a:xfrm>
            <a:off x="6236208" y="2057400"/>
            <a:ext cx="5321808" cy="1536192"/>
          </a:xfrm>
          <a:prstGeom prst="roundRect">
            <a:avLst>
              <a:gd name="adj" fmla="val 8000"/>
            </a:avLst>
          </a:prstGeom>
          <a:solidFill>
            <a:srgbClr val="FFFFFF"/>
          </a:solidFill>
          <a:ln>
            <a:noFill/>
          </a:ln>
        </p:spPr>
        <p:txBody>
          <a:bodyPr rtlCol="0" anchor="ctr"/>
          <a:lstStyle/>
          <a:p>
            <a:pPr algn="ctr"/>
          </a:p>
        </p:txBody>
      </p:sp>
      <p:sp>
        <p:nvSpPr>
          <p:cNvPr id="13" name="Rectangle 12"/>
          <p:cNvSpPr/>
          <p:nvPr/>
        </p:nvSpPr>
        <p:spPr>
          <a:xfrm>
            <a:off x="6236208" y="2057400"/>
            <a:ext cx="64008" cy="1536192"/>
          </a:xfrm>
          <a:prstGeom prst="rect">
            <a:avLst/>
          </a:prstGeom>
          <a:solidFill>
            <a:srgbClr val="345FB5"/>
          </a:solidFill>
          <a:ln>
            <a:noFill/>
          </a:ln>
        </p:spPr>
        <p:txBody>
          <a:bodyPr rtlCol="0" anchor="ctr"/>
          <a:lstStyle/>
          <a:p>
            <a:pPr algn="ctr"/>
          </a:p>
        </p:txBody>
      </p:sp>
      <p:sp>
        <p:nvSpPr>
          <p:cNvPr id="14" name="TextBox 13"/>
          <p:cNvSpPr txBox="1"/>
          <p:nvPr/>
        </p:nvSpPr>
        <p:spPr>
          <a:xfrm>
            <a:off x="6483096" y="2240280"/>
            <a:ext cx="4828031"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345FB5"/>
                </a:solidFill>
                <a:latin typeface="DejaVu Sans"/>
              </a:defRPr>
            </a:pPr>
            <a:r>
              <a:t>Reachable sets</a:t>
            </a:r>
          </a:p>
        </p:txBody>
      </p:sp>
      <p:sp>
        <p:nvSpPr>
          <p:cNvPr id="15" name="TextBox 14"/>
          <p:cNvSpPr txBox="1"/>
          <p:nvPr/>
        </p:nvSpPr>
        <p:spPr>
          <a:xfrm>
            <a:off x="6483096" y="2788920"/>
            <a:ext cx="4828031" cy="694943"/>
          </a:xfrm>
          <a:prstGeom prst="rect">
            <a:avLst/>
          </a:prstGeom>
          <a:noFill/>
        </p:spPr>
        <p:txBody>
          <a:bodyPr wrap="none" lIns="0" rIns="0" tIns="0" bIns="0">
            <a:spAutoFit/>
          </a:bodyPr>
          <a:lstStyle/>
          <a:p>
            <a:pPr>
              <a:lnSpc>
                <a:spcPct val="124000"/>
              </a:lnSpc>
              <a:spcBef>
                <a:spcPts val="0"/>
              </a:spcBef>
              <a:spcAft>
                <a:spcPts val="0"/>
              </a:spcAft>
              <a:defRPr sz="1800" b="0">
                <a:solidFill>
                  <a:srgbClr val="131D2A"/>
                </a:solidFill>
                <a:latin typeface="DejaVu Sans"/>
              </a:defRPr>
            </a:pPr>
            <a:r>
              <a:t>Bound possible behavior of cyberphysical</a:t>
            </a:r>
          </a:p>
          <a:p>
            <a:pPr>
              <a:lnSpc>
                <a:spcPct val="124000"/>
              </a:lnSpc>
              <a:spcBef>
                <a:spcPts val="0"/>
              </a:spcBef>
              <a:spcAft>
                <a:spcPts val="0"/>
              </a:spcAft>
              <a:defRPr sz="1800" b="0">
                <a:solidFill>
                  <a:srgbClr val="131D2A"/>
                </a:solidFill>
                <a:latin typeface="DejaVu Sans"/>
              </a:defRPr>
            </a:pPr>
            <a:r>
              <a:t>systems under uncertainty.</a:t>
            </a:r>
          </a:p>
        </p:txBody>
      </p:sp>
      <p:sp>
        <p:nvSpPr>
          <p:cNvPr id="16" name="Rounded Rectangle 15"/>
          <p:cNvSpPr/>
          <p:nvPr/>
        </p:nvSpPr>
        <p:spPr>
          <a:xfrm>
            <a:off x="594360" y="3794760"/>
            <a:ext cx="5321808" cy="1536192"/>
          </a:xfrm>
          <a:prstGeom prst="roundRect">
            <a:avLst>
              <a:gd name="adj" fmla="val 8000"/>
            </a:avLst>
          </a:prstGeom>
          <a:solidFill>
            <a:srgbClr val="FFFFFF"/>
          </a:solidFill>
          <a:ln>
            <a:noFill/>
          </a:ln>
        </p:spPr>
        <p:txBody>
          <a:bodyPr rtlCol="0" anchor="ctr"/>
          <a:lstStyle/>
          <a:p>
            <a:pPr algn="ctr"/>
          </a:p>
        </p:txBody>
      </p:sp>
      <p:sp>
        <p:nvSpPr>
          <p:cNvPr id="17" name="Rectangle 16"/>
          <p:cNvSpPr/>
          <p:nvPr/>
        </p:nvSpPr>
        <p:spPr>
          <a:xfrm>
            <a:off x="594360" y="3794760"/>
            <a:ext cx="64008" cy="1536192"/>
          </a:xfrm>
          <a:prstGeom prst="rect">
            <a:avLst/>
          </a:prstGeom>
          <a:solidFill>
            <a:srgbClr val="B65131"/>
          </a:solidFill>
          <a:ln>
            <a:noFill/>
          </a:ln>
        </p:spPr>
        <p:txBody>
          <a:bodyPr rtlCol="0" anchor="ctr"/>
          <a:lstStyle/>
          <a:p>
            <a:pPr algn="ctr"/>
          </a:p>
        </p:txBody>
      </p:sp>
      <p:sp>
        <p:nvSpPr>
          <p:cNvPr id="18" name="TextBox 17"/>
          <p:cNvSpPr txBox="1"/>
          <p:nvPr/>
        </p:nvSpPr>
        <p:spPr>
          <a:xfrm>
            <a:off x="841248" y="3977640"/>
            <a:ext cx="4828031"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B65131"/>
                </a:solidFill>
                <a:latin typeface="DejaVu Sans"/>
              </a:defRPr>
            </a:pPr>
            <a:r>
              <a:t>Formal software verification</a:t>
            </a:r>
          </a:p>
        </p:txBody>
      </p:sp>
      <p:sp>
        <p:nvSpPr>
          <p:cNvPr id="19" name="TextBox 18"/>
          <p:cNvSpPr txBox="1"/>
          <p:nvPr/>
        </p:nvSpPr>
        <p:spPr>
          <a:xfrm>
            <a:off x="841248" y="4526280"/>
            <a:ext cx="4828031" cy="694943"/>
          </a:xfrm>
          <a:prstGeom prst="rect">
            <a:avLst/>
          </a:prstGeom>
          <a:noFill/>
        </p:spPr>
        <p:txBody>
          <a:bodyPr wrap="none" lIns="0" rIns="0" tIns="0" bIns="0">
            <a:spAutoFit/>
          </a:bodyPr>
          <a:lstStyle/>
          <a:p>
            <a:pPr>
              <a:lnSpc>
                <a:spcPct val="124000"/>
              </a:lnSpc>
              <a:spcBef>
                <a:spcPts val="0"/>
              </a:spcBef>
              <a:spcAft>
                <a:spcPts val="0"/>
              </a:spcAft>
              <a:defRPr sz="1800" b="0">
                <a:solidFill>
                  <a:srgbClr val="131D2A"/>
                </a:solidFill>
                <a:latin typeface="DejaVu Sans"/>
              </a:defRPr>
            </a:pPr>
            <a:r>
              <a:t>Connect model equations to explicit</a:t>
            </a:r>
          </a:p>
          <a:p>
            <a:pPr>
              <a:lnSpc>
                <a:spcPct val="124000"/>
              </a:lnSpc>
              <a:spcBef>
                <a:spcPts val="0"/>
              </a:spcBef>
              <a:spcAft>
                <a:spcPts val="0"/>
              </a:spcAft>
              <a:defRPr sz="1800" b="0">
                <a:solidFill>
                  <a:srgbClr val="131D2A"/>
                </a:solidFill>
                <a:latin typeface="DejaVu Sans"/>
              </a:defRPr>
            </a:pPr>
            <a:r>
              <a:t>proof obligations.</a:t>
            </a:r>
          </a:p>
        </p:txBody>
      </p:sp>
      <p:sp>
        <p:nvSpPr>
          <p:cNvPr id="20" name="Rounded Rectangle 19"/>
          <p:cNvSpPr/>
          <p:nvPr/>
        </p:nvSpPr>
        <p:spPr>
          <a:xfrm>
            <a:off x="6236208" y="3794760"/>
            <a:ext cx="5321808" cy="1536192"/>
          </a:xfrm>
          <a:prstGeom prst="roundRect">
            <a:avLst>
              <a:gd name="adj" fmla="val 8000"/>
            </a:avLst>
          </a:prstGeom>
          <a:solidFill>
            <a:srgbClr val="FFFFFF"/>
          </a:solidFill>
          <a:ln>
            <a:noFill/>
          </a:ln>
        </p:spPr>
        <p:txBody>
          <a:bodyPr rtlCol="0" anchor="ctr"/>
          <a:lstStyle/>
          <a:p>
            <a:pPr algn="ctr"/>
          </a:p>
        </p:txBody>
      </p:sp>
      <p:sp>
        <p:nvSpPr>
          <p:cNvPr id="21" name="Rectangle 20"/>
          <p:cNvSpPr/>
          <p:nvPr/>
        </p:nvSpPr>
        <p:spPr>
          <a:xfrm>
            <a:off x="6236208" y="3794760"/>
            <a:ext cx="64008" cy="1536192"/>
          </a:xfrm>
          <a:prstGeom prst="rect">
            <a:avLst/>
          </a:prstGeom>
          <a:solidFill>
            <a:srgbClr val="007E87"/>
          </a:solidFill>
          <a:ln>
            <a:noFill/>
          </a:ln>
        </p:spPr>
        <p:txBody>
          <a:bodyPr rtlCol="0" anchor="ctr"/>
          <a:lstStyle/>
          <a:p>
            <a:pPr algn="ctr"/>
          </a:p>
        </p:txBody>
      </p:sp>
      <p:sp>
        <p:nvSpPr>
          <p:cNvPr id="22" name="TextBox 21"/>
          <p:cNvSpPr txBox="1"/>
          <p:nvPr/>
        </p:nvSpPr>
        <p:spPr>
          <a:xfrm>
            <a:off x="6483096" y="3977640"/>
            <a:ext cx="4828031" cy="408557"/>
          </a:xfrm>
          <a:prstGeom prst="rect">
            <a:avLst/>
          </a:prstGeom>
          <a:noFill/>
        </p:spPr>
        <p:txBody>
          <a:bodyPr wrap="none" lIns="0" rIns="0" tIns="0" bIns="0">
            <a:spAutoFit/>
          </a:bodyPr>
          <a:lstStyle/>
          <a:p>
            <a:pPr>
              <a:lnSpc>
                <a:spcPct val="124000"/>
              </a:lnSpc>
              <a:spcBef>
                <a:spcPts val="0"/>
              </a:spcBef>
              <a:spcAft>
                <a:spcPts val="0"/>
              </a:spcAft>
              <a:defRPr sz="1781" b="1">
                <a:solidFill>
                  <a:srgbClr val="007E87"/>
                </a:solidFill>
                <a:latin typeface="DejaVu Sans"/>
              </a:defRPr>
            </a:pPr>
            <a:r>
              <a:t>System identification + digital twins</a:t>
            </a:r>
          </a:p>
        </p:txBody>
      </p:sp>
      <p:sp>
        <p:nvSpPr>
          <p:cNvPr id="23" name="TextBox 22"/>
          <p:cNvSpPr txBox="1"/>
          <p:nvPr/>
        </p:nvSpPr>
        <p:spPr>
          <a:xfrm>
            <a:off x="6483096" y="4526280"/>
            <a:ext cx="4828031" cy="694943"/>
          </a:xfrm>
          <a:prstGeom prst="rect">
            <a:avLst/>
          </a:prstGeom>
          <a:noFill/>
        </p:spPr>
        <p:txBody>
          <a:bodyPr wrap="none" lIns="0" rIns="0" tIns="0" bIns="0">
            <a:spAutoFit/>
          </a:bodyPr>
          <a:lstStyle/>
          <a:p>
            <a:pPr>
              <a:lnSpc>
                <a:spcPct val="124000"/>
              </a:lnSpc>
              <a:spcBef>
                <a:spcPts val="0"/>
              </a:spcBef>
              <a:spcAft>
                <a:spcPts val="0"/>
              </a:spcAft>
              <a:defRPr sz="1800" b="0">
                <a:solidFill>
                  <a:srgbClr val="131D2A"/>
                </a:solidFill>
                <a:latin typeface="DejaVu Sans"/>
              </a:defRPr>
            </a:pPr>
            <a:r>
              <a:t>Fit physical parameters; compare</a:t>
            </a:r>
          </a:p>
          <a:p>
            <a:pPr>
              <a:lnSpc>
                <a:spcPct val="124000"/>
              </a:lnSpc>
              <a:spcBef>
                <a:spcPts val="0"/>
              </a:spcBef>
              <a:spcAft>
                <a:spcPts val="0"/>
              </a:spcAft>
              <a:defRPr sz="1800" b="0">
                <a:solidFill>
                  <a:srgbClr val="131D2A"/>
                </a:solidFill>
                <a:latin typeface="DejaVu Sans"/>
              </a:defRPr>
            </a:pPr>
            <a:r>
              <a:t>simulation with experiments.</a:t>
            </a:r>
          </a:p>
        </p:txBody>
      </p:sp>
      <p:sp>
        <p:nvSpPr>
          <p:cNvPr id="24" name="TextBox 23"/>
          <p:cNvSpPr txBox="1"/>
          <p:nvPr/>
        </p:nvSpPr>
        <p:spPr>
          <a:xfrm>
            <a:off x="640080" y="5577840"/>
            <a:ext cx="10936224" cy="379984"/>
          </a:xfrm>
          <a:prstGeom prst="rect">
            <a:avLst/>
          </a:prstGeom>
          <a:noFill/>
        </p:spPr>
        <p:txBody>
          <a:bodyPr wrap="none" lIns="0" rIns="0" tIns="0" bIns="0">
            <a:spAutoFit/>
          </a:bodyPr>
          <a:lstStyle/>
          <a:p>
            <a:pPr>
              <a:lnSpc>
                <a:spcPct val="124000"/>
              </a:lnSpc>
              <a:spcBef>
                <a:spcPts val="0"/>
              </a:spcBef>
              <a:spcAft>
                <a:spcPts val="0"/>
              </a:spcAft>
              <a:defRPr sz="1600" b="0">
                <a:solidFill>
                  <a:srgbClr val="007E87"/>
                </a:solidFill>
                <a:latin typeface="DejaVu Sans"/>
              </a:defRPr>
            </a:pPr>
            <a:r>
              <a:t>Research directions: fast Monte Carlo / RL · native AD · heterogeneous compute</a:t>
            </a:r>
          </a:p>
        </p:txBody>
      </p:sp>
      <p:sp>
        <p:nvSpPr>
          <p:cNvPr id="25" name="Rectangle 24"/>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26" name="TextBox 25"/>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Today: one Modelica model → simulation → identification → optimization.</a:t>
            </a:r>
          </a:p>
        </p:txBody>
      </p:sp>
      <p:sp>
        <p:nvSpPr>
          <p:cNvPr id="27" name="Rectangle 26"/>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28" name="TextBox 27"/>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29" name="Rectangle 28"/>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30" name="TextBox 29"/>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MODEL</a:t>
            </a:r>
          </a:p>
        </p:txBody>
      </p:sp>
      <p:sp>
        <p:nvSpPr>
          <p:cNvPr id="31" name="Rectangle 30"/>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32" name="TextBox 31"/>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33" name="Rectangle 32"/>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34" name="TextBox 33"/>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35" name="TextBox 34"/>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VERIFIED WORKSHOP ARCHITECTURE</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10:15–10:20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Declare once. Ask different questions.</a:t>
            </a:r>
          </a:p>
        </p:txBody>
      </p:sp>
      <p:sp>
        <p:nvSpPr>
          <p:cNvPr id="7" name="Rectangle 6"/>
          <p:cNvSpPr/>
          <p:nvPr/>
        </p:nvSpPr>
        <p:spPr>
          <a:xfrm>
            <a:off x="594360" y="1508760"/>
            <a:ext cx="41148" cy="493776"/>
          </a:xfrm>
          <a:prstGeom prst="rect">
            <a:avLst/>
          </a:prstGeom>
          <a:solidFill>
            <a:srgbClr val="007E87"/>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Quadrotor.mo → JAX + CasADi · the same declared equations</a:t>
            </a:r>
          </a:p>
        </p:txBody>
      </p:sp>
      <p:sp>
        <p:nvSpPr>
          <p:cNvPr id="9" name="Rounded Rectangle 8"/>
          <p:cNvSpPr/>
          <p:nvPr/>
        </p:nvSpPr>
        <p:spPr>
          <a:xfrm>
            <a:off x="594360" y="2167128"/>
            <a:ext cx="11000232" cy="3511296"/>
          </a:xfrm>
          <a:prstGeom prst="roundRect">
            <a:avLst>
              <a:gd name="adj" fmla="val 8000"/>
            </a:avLst>
          </a:prstGeom>
          <a:solidFill>
            <a:srgbClr val="FFFFFF"/>
          </a:solidFill>
          <a:ln>
            <a:noFill/>
          </a:ln>
        </p:spPr>
        <p:txBody>
          <a:bodyPr rtlCol="0" anchor="ctr"/>
          <a:lstStyle/>
          <a:p>
            <a:pPr algn="ctr"/>
          </a:p>
        </p:txBody>
      </p:sp>
      <p:pic>
        <p:nvPicPr>
          <p:cNvPr id="10" name="Picture 9" descr="architecture.png"/>
          <p:cNvPicPr>
            <a:picLocks noChangeAspect="1"/>
          </p:cNvPicPr>
          <p:nvPr/>
        </p:nvPicPr>
        <p:blipFill>
          <a:blip r:embed="rId2"/>
          <a:stretch>
            <a:fillRect/>
          </a:stretch>
        </p:blipFill>
        <p:spPr>
          <a:xfrm>
            <a:off x="1393831" y="2240280"/>
            <a:ext cx="9401288" cy="3364991"/>
          </a:xfrm>
          <a:prstGeom prst="rect">
            <a:avLst/>
          </a:prstGeom>
        </p:spPr>
      </p:pic>
      <p:sp>
        <p:nvSpPr>
          <p:cNvPr id="11" name="Rectangle 10"/>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12" name="TextBox 11"/>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Modelica declares physics · Rumoca compiles · backends compute.</a:t>
            </a:r>
          </a:p>
        </p:txBody>
      </p:sp>
      <p:sp>
        <p:nvSpPr>
          <p:cNvPr id="13" name="Rectangle 12"/>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14" name="TextBox 13"/>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15" name="Rectangle 14"/>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16" name="TextBox 15"/>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MODEL</a:t>
            </a:r>
          </a:p>
        </p:txBody>
      </p:sp>
      <p:sp>
        <p:nvSpPr>
          <p:cNvPr id="17" name="Rectangle 16"/>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18" name="TextBox 17"/>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19" name="Rectangle 18"/>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0" name="TextBox 19"/>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21" name="TextBox 20"/>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LIVE DEMO · ZERO-INSTALL MODELING</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10:20–10:25</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Everyone gets a browser plot</a:t>
            </a:r>
          </a:p>
        </p:txBody>
      </p:sp>
      <p:sp>
        <p:nvSpPr>
          <p:cNvPr id="7" name="Rounded Rectangle 6"/>
          <p:cNvSpPr/>
          <p:nvPr/>
        </p:nvSpPr>
        <p:spPr>
          <a:xfrm>
            <a:off x="4407408" y="1554480"/>
            <a:ext cx="7187184" cy="4069080"/>
          </a:xfrm>
          <a:prstGeom prst="roundRect">
            <a:avLst>
              <a:gd name="adj" fmla="val 8000"/>
            </a:avLst>
          </a:prstGeom>
          <a:solidFill>
            <a:srgbClr val="FFFFFF"/>
          </a:solidFill>
          <a:ln>
            <a:noFill/>
          </a:ln>
        </p:spPr>
        <p:txBody>
          <a:bodyPr rtlCol="0" anchor="ctr"/>
          <a:lstStyle/>
          <a:p>
            <a:pPr algn="ctr"/>
          </a:p>
        </p:txBody>
      </p:sp>
      <p:pic>
        <p:nvPicPr>
          <p:cNvPr id="8" name="Picture 7" descr="browser-drag-linear.png"/>
          <p:cNvPicPr>
            <a:picLocks noChangeAspect="1"/>
          </p:cNvPicPr>
          <p:nvPr/>
        </p:nvPicPr>
        <p:blipFill>
          <a:blip r:embed="rId2"/>
          <a:stretch>
            <a:fillRect/>
          </a:stretch>
        </p:blipFill>
        <p:spPr>
          <a:xfrm>
            <a:off x="4935931" y="1673352"/>
            <a:ext cx="6130137" cy="3831336"/>
          </a:xfrm>
          <a:prstGeom prst="rect">
            <a:avLst/>
          </a:prstGeom>
        </p:spPr>
      </p:pic>
      <p:sp>
        <p:nvSpPr>
          <p:cNvPr id="9" name="TextBox 8"/>
          <p:cNvSpPr txBox="1"/>
          <p:nvPr/>
        </p:nvSpPr>
        <p:spPr>
          <a:xfrm>
            <a:off x="640080" y="1700784"/>
            <a:ext cx="3712463"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TRY THIS</a:t>
            </a:r>
          </a:p>
        </p:txBody>
      </p:sp>
      <p:sp>
        <p:nvSpPr>
          <p:cNvPr id="10" name="Rounded Rectangle 9"/>
          <p:cNvSpPr/>
          <p:nvPr/>
        </p:nvSpPr>
        <p:spPr>
          <a:xfrm>
            <a:off x="640080" y="2171700"/>
            <a:ext cx="338328" cy="338328"/>
          </a:xfrm>
          <a:prstGeom prst="roundRect">
            <a:avLst>
              <a:gd name="adj" fmla="val 8000"/>
            </a:avLst>
          </a:prstGeom>
          <a:solidFill>
            <a:srgbClr val="007E87"/>
          </a:solidFill>
          <a:ln>
            <a:noFill/>
          </a:ln>
        </p:spPr>
        <p:txBody>
          <a:bodyPr rtlCol="0" anchor="ctr"/>
          <a:lstStyle/>
          <a:p>
            <a:pPr algn="ctr"/>
          </a:p>
        </p:txBody>
      </p:sp>
      <p:sp>
        <p:nvSpPr>
          <p:cNvPr id="11" name="TextBox 10"/>
          <p:cNvSpPr txBox="1"/>
          <p:nvPr/>
        </p:nvSpPr>
        <p:spPr>
          <a:xfrm>
            <a:off x="736092" y="219913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12" name="TextBox 11"/>
          <p:cNvSpPr txBox="1"/>
          <p:nvPr/>
        </p:nvSpPr>
        <p:spPr>
          <a:xfrm>
            <a:off x="1143000" y="2148840"/>
            <a:ext cx="3054096" cy="474471"/>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Open the playground</a:t>
            </a:r>
          </a:p>
        </p:txBody>
      </p:sp>
      <p:sp>
        <p:nvSpPr>
          <p:cNvPr id="13" name="Rounded Rectangle 12"/>
          <p:cNvSpPr/>
          <p:nvPr/>
        </p:nvSpPr>
        <p:spPr>
          <a:xfrm>
            <a:off x="640080" y="2920492"/>
            <a:ext cx="338328" cy="338328"/>
          </a:xfrm>
          <a:prstGeom prst="roundRect">
            <a:avLst>
              <a:gd name="adj" fmla="val 8000"/>
            </a:avLst>
          </a:prstGeom>
          <a:solidFill>
            <a:srgbClr val="007E87"/>
          </a:solidFill>
          <a:ln>
            <a:noFill/>
          </a:ln>
        </p:spPr>
        <p:txBody>
          <a:bodyPr rtlCol="0" anchor="ctr"/>
          <a:lstStyle/>
          <a:p>
            <a:pPr algn="ctr"/>
          </a:p>
        </p:txBody>
      </p:sp>
      <p:sp>
        <p:nvSpPr>
          <p:cNvPr id="14" name="TextBox 13"/>
          <p:cNvSpPr txBox="1"/>
          <p:nvPr/>
        </p:nvSpPr>
        <p:spPr>
          <a:xfrm>
            <a:off x="736092" y="2947924"/>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5" name="TextBox 14"/>
          <p:cNvSpPr txBox="1"/>
          <p:nvPr/>
        </p:nvSpPr>
        <p:spPr>
          <a:xfrm>
            <a:off x="1143000" y="2897632"/>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Paste the complete</a:t>
            </a:r>
          </a:p>
          <a:p>
            <a:pPr>
              <a:lnSpc>
                <a:spcPct val="124000"/>
              </a:lnSpc>
              <a:spcBef>
                <a:spcPts val="0"/>
              </a:spcBef>
              <a:spcAft>
                <a:spcPts val="0"/>
              </a:spcAft>
              <a:defRPr sz="2200" b="0">
                <a:solidFill>
                  <a:srgbClr val="131D2A"/>
                </a:solidFill>
                <a:latin typeface="DejaVu Sans"/>
              </a:defRPr>
            </a:pPr>
            <a:r>
              <a:t>browser bundle</a:t>
            </a:r>
          </a:p>
        </p:txBody>
      </p:sp>
      <p:sp>
        <p:nvSpPr>
          <p:cNvPr id="16" name="Rounded Rectangle 15"/>
          <p:cNvSpPr/>
          <p:nvPr/>
        </p:nvSpPr>
        <p:spPr>
          <a:xfrm>
            <a:off x="640080" y="4015740"/>
            <a:ext cx="338328" cy="338328"/>
          </a:xfrm>
          <a:prstGeom prst="roundRect">
            <a:avLst>
              <a:gd name="adj" fmla="val 8000"/>
            </a:avLst>
          </a:prstGeom>
          <a:solidFill>
            <a:srgbClr val="007E87"/>
          </a:solidFill>
          <a:ln>
            <a:noFill/>
          </a:ln>
        </p:spPr>
        <p:txBody>
          <a:bodyPr rtlCol="0" anchor="ctr"/>
          <a:lstStyle/>
          <a:p>
            <a:pPr algn="ctr"/>
          </a:p>
        </p:txBody>
      </p:sp>
      <p:sp>
        <p:nvSpPr>
          <p:cNvPr id="17" name="TextBox 16"/>
          <p:cNvSpPr txBox="1"/>
          <p:nvPr/>
        </p:nvSpPr>
        <p:spPr>
          <a:xfrm>
            <a:off x="736092" y="404317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8" name="TextBox 17"/>
          <p:cNvSpPr txBox="1"/>
          <p:nvPr/>
        </p:nvSpPr>
        <p:spPr>
          <a:xfrm>
            <a:off x="1143000" y="3992880"/>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Gear →</a:t>
            </a:r>
          </a:p>
          <a:p>
            <a:pPr>
              <a:lnSpc>
                <a:spcPct val="124000"/>
              </a:lnSpc>
              <a:spcBef>
                <a:spcPts val="0"/>
              </a:spcBef>
              <a:spcAft>
                <a:spcPts val="0"/>
              </a:spcAft>
              <a:defRPr sz="2200" b="0">
                <a:solidFill>
                  <a:srgbClr val="131D2A"/>
                </a:solidFill>
                <a:latin typeface="DejaVu Sans"/>
              </a:defRPr>
            </a:pPr>
            <a:r>
              <a:t>BrowserFlight → Play</a:t>
            </a:r>
          </a:p>
        </p:txBody>
      </p:sp>
      <p:sp>
        <p:nvSpPr>
          <p:cNvPr id="19" name="Rectangle 18"/>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20" name="TextBox 19"/>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You should see BrowserFlight Results and a plot.</a:t>
            </a:r>
          </a:p>
        </p:txBody>
      </p:sp>
      <p:sp>
        <p:nvSpPr>
          <p:cNvPr id="21" name="Rectangle 20"/>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22" name="TextBox 21"/>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23" name="Rectangle 22"/>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24" name="TextBox 23"/>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MODEL</a:t>
            </a:r>
          </a:p>
        </p:txBody>
      </p:sp>
      <p:sp>
        <p:nvSpPr>
          <p:cNvPr id="25" name="Rectangle 24"/>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6" name="TextBox 25"/>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27" name="Rectangle 26"/>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8" name="TextBox 27"/>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29" name="TextBox 28"/>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SETUP DECISION · WORKSHEET HAS EVERY LINK</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10:25–10:30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Choose a full-workshop route</a:t>
            </a:r>
          </a:p>
        </p:txBody>
      </p:sp>
      <p:sp>
        <p:nvSpPr>
          <p:cNvPr id="7" name="Rounded Rectangle 6"/>
          <p:cNvSpPr/>
          <p:nvPr/>
        </p:nvSpPr>
        <p:spPr>
          <a:xfrm>
            <a:off x="594360" y="1600200"/>
            <a:ext cx="5321808" cy="1783080"/>
          </a:xfrm>
          <a:prstGeom prst="roundRect">
            <a:avLst>
              <a:gd name="adj" fmla="val 8000"/>
            </a:avLst>
          </a:prstGeom>
          <a:solidFill>
            <a:srgbClr val="FFFFFF"/>
          </a:solidFill>
          <a:ln>
            <a:noFill/>
          </a:ln>
        </p:spPr>
        <p:txBody>
          <a:bodyPr rtlCol="0" anchor="ctr"/>
          <a:lstStyle/>
          <a:p>
            <a:pPr algn="ctr"/>
          </a:p>
        </p:txBody>
      </p:sp>
      <p:sp>
        <p:nvSpPr>
          <p:cNvPr id="8" name="TextBox 7"/>
          <p:cNvSpPr txBox="1"/>
          <p:nvPr/>
        </p:nvSpPr>
        <p:spPr>
          <a:xfrm>
            <a:off x="822960" y="181051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007E87"/>
                </a:solidFill>
                <a:latin typeface="DejaVu Sans"/>
              </a:defRPr>
            </a:pPr>
            <a:r>
              <a:t>01</a:t>
            </a:r>
          </a:p>
        </p:txBody>
      </p:sp>
      <p:sp>
        <p:nvSpPr>
          <p:cNvPr id="9" name="TextBox 8"/>
          <p:cNvSpPr txBox="1"/>
          <p:nvPr/>
        </p:nvSpPr>
        <p:spPr>
          <a:xfrm>
            <a:off x="1627631" y="1874519"/>
            <a:ext cx="4078224" cy="883920"/>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Browser: modeling and</a:t>
            </a:r>
          </a:p>
          <a:p>
            <a:pPr>
              <a:lnSpc>
                <a:spcPct val="124000"/>
              </a:lnSpc>
              <a:spcBef>
                <a:spcPts val="0"/>
              </a:spcBef>
              <a:spcAft>
                <a:spcPts val="0"/>
              </a:spcAft>
              <a:defRPr sz="2400" b="0">
                <a:solidFill>
                  <a:srgbClr val="131D2A"/>
                </a:solidFill>
                <a:latin typeface="DejaVu Sans"/>
              </a:defRPr>
            </a:pPr>
            <a:r>
              <a:t>predictions; no account</a:t>
            </a:r>
          </a:p>
        </p:txBody>
      </p:sp>
      <p:sp>
        <p:nvSpPr>
          <p:cNvPr id="10" name="Rectangle 9"/>
          <p:cNvSpPr/>
          <p:nvPr/>
        </p:nvSpPr>
        <p:spPr>
          <a:xfrm>
            <a:off x="822960" y="3081528"/>
            <a:ext cx="438912" cy="50292"/>
          </a:xfrm>
          <a:prstGeom prst="rect">
            <a:avLst/>
          </a:prstGeom>
          <a:solidFill>
            <a:srgbClr val="007E87"/>
          </a:solidFill>
          <a:ln>
            <a:noFill/>
          </a:ln>
        </p:spPr>
        <p:txBody>
          <a:bodyPr rtlCol="0" anchor="ctr"/>
          <a:lstStyle/>
          <a:p>
            <a:pPr algn="ctr"/>
          </a:p>
        </p:txBody>
      </p:sp>
      <p:sp>
        <p:nvSpPr>
          <p:cNvPr id="11" name="Rounded Rectangle 10"/>
          <p:cNvSpPr/>
          <p:nvPr/>
        </p:nvSpPr>
        <p:spPr>
          <a:xfrm>
            <a:off x="6236208" y="1600200"/>
            <a:ext cx="5321808" cy="1783080"/>
          </a:xfrm>
          <a:prstGeom prst="roundRect">
            <a:avLst>
              <a:gd name="adj" fmla="val 8000"/>
            </a:avLst>
          </a:prstGeom>
          <a:solidFill>
            <a:srgbClr val="FFFFFF"/>
          </a:solidFill>
          <a:ln>
            <a:noFill/>
          </a:ln>
        </p:spPr>
        <p:txBody>
          <a:bodyPr rtlCol="0" anchor="ctr"/>
          <a:lstStyle/>
          <a:p>
            <a:pPr algn="ctr"/>
          </a:p>
        </p:txBody>
      </p:sp>
      <p:sp>
        <p:nvSpPr>
          <p:cNvPr id="12" name="TextBox 11"/>
          <p:cNvSpPr txBox="1"/>
          <p:nvPr/>
        </p:nvSpPr>
        <p:spPr>
          <a:xfrm>
            <a:off x="6464808" y="181051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345FB5"/>
                </a:solidFill>
                <a:latin typeface="DejaVu Sans"/>
              </a:defRPr>
            </a:pPr>
            <a:r>
              <a:t>02</a:t>
            </a:r>
          </a:p>
        </p:txBody>
      </p:sp>
      <p:sp>
        <p:nvSpPr>
          <p:cNvPr id="13" name="TextBox 12"/>
          <p:cNvSpPr txBox="1"/>
          <p:nvPr/>
        </p:nvSpPr>
        <p:spPr>
          <a:xfrm>
            <a:off x="7269480" y="1874519"/>
            <a:ext cx="4078224" cy="883920"/>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Codespaces: Python + VS</a:t>
            </a:r>
          </a:p>
          <a:p>
            <a:pPr>
              <a:lnSpc>
                <a:spcPct val="124000"/>
              </a:lnSpc>
              <a:spcBef>
                <a:spcPts val="0"/>
              </a:spcBef>
              <a:spcAft>
                <a:spcPts val="0"/>
              </a:spcAft>
              <a:defRPr sz="2400" b="0">
                <a:solidFill>
                  <a:srgbClr val="131D2A"/>
                </a:solidFill>
                <a:latin typeface="DejaVu Sans"/>
              </a:defRPr>
            </a:pPr>
            <a:r>
              <a:t>Code; login and allowance</a:t>
            </a:r>
          </a:p>
        </p:txBody>
      </p:sp>
      <p:sp>
        <p:nvSpPr>
          <p:cNvPr id="14" name="Rectangle 13"/>
          <p:cNvSpPr/>
          <p:nvPr/>
        </p:nvSpPr>
        <p:spPr>
          <a:xfrm>
            <a:off x="6464808" y="3081528"/>
            <a:ext cx="438912" cy="50292"/>
          </a:xfrm>
          <a:prstGeom prst="rect">
            <a:avLst/>
          </a:prstGeom>
          <a:solidFill>
            <a:srgbClr val="345FB5"/>
          </a:solidFill>
          <a:ln>
            <a:noFill/>
          </a:ln>
        </p:spPr>
        <p:txBody>
          <a:bodyPr rtlCol="0" anchor="ctr"/>
          <a:lstStyle/>
          <a:p>
            <a:pPr algn="ctr"/>
          </a:p>
        </p:txBody>
      </p:sp>
      <p:sp>
        <p:nvSpPr>
          <p:cNvPr id="15" name="Rounded Rectangle 14"/>
          <p:cNvSpPr/>
          <p:nvPr/>
        </p:nvSpPr>
        <p:spPr>
          <a:xfrm>
            <a:off x="594360" y="3566160"/>
            <a:ext cx="5321808" cy="1783080"/>
          </a:xfrm>
          <a:prstGeom prst="roundRect">
            <a:avLst>
              <a:gd name="adj" fmla="val 8000"/>
            </a:avLst>
          </a:prstGeom>
          <a:solidFill>
            <a:srgbClr val="FFFFFF"/>
          </a:solidFill>
          <a:ln>
            <a:noFill/>
          </a:ln>
        </p:spPr>
        <p:txBody>
          <a:bodyPr rtlCol="0" anchor="ctr"/>
          <a:lstStyle/>
          <a:p>
            <a:pPr algn="ctr"/>
          </a:p>
        </p:txBody>
      </p:sp>
      <p:sp>
        <p:nvSpPr>
          <p:cNvPr id="16" name="TextBox 15"/>
          <p:cNvSpPr txBox="1"/>
          <p:nvPr/>
        </p:nvSpPr>
        <p:spPr>
          <a:xfrm>
            <a:off x="822960" y="377647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B65131"/>
                </a:solidFill>
                <a:latin typeface="DejaVu Sans"/>
              </a:defRPr>
            </a:pPr>
            <a:r>
              <a:t>03</a:t>
            </a:r>
          </a:p>
        </p:txBody>
      </p:sp>
      <p:sp>
        <p:nvSpPr>
          <p:cNvPr id="17" name="TextBox 16"/>
          <p:cNvSpPr txBox="1"/>
          <p:nvPr/>
        </p:nvSpPr>
        <p:spPr>
          <a:xfrm>
            <a:off x="1627631" y="3840480"/>
            <a:ext cx="4078224" cy="1261872"/>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Local uv: Python + VS</a:t>
            </a:r>
          </a:p>
          <a:p>
            <a:pPr>
              <a:lnSpc>
                <a:spcPct val="124000"/>
              </a:lnSpc>
              <a:spcBef>
                <a:spcPts val="0"/>
              </a:spcBef>
              <a:spcAft>
                <a:spcPts val="0"/>
              </a:spcAft>
              <a:defRPr sz="2400" b="0">
                <a:solidFill>
                  <a:srgbClr val="131D2A"/>
                </a:solidFill>
                <a:latin typeface="DejaVu Sans"/>
              </a:defRPr>
            </a:pPr>
            <a:r>
              <a:t>Code; pinned CPU</a:t>
            </a:r>
          </a:p>
          <a:p>
            <a:pPr>
              <a:lnSpc>
                <a:spcPct val="124000"/>
              </a:lnSpc>
              <a:spcBef>
                <a:spcPts val="0"/>
              </a:spcBef>
              <a:spcAft>
                <a:spcPts val="0"/>
              </a:spcAft>
              <a:defRPr sz="2400" b="0">
                <a:solidFill>
                  <a:srgbClr val="131D2A"/>
                </a:solidFill>
                <a:latin typeface="DejaVu Sans"/>
              </a:defRPr>
            </a:pPr>
            <a:r>
              <a:t>packages</a:t>
            </a:r>
          </a:p>
        </p:txBody>
      </p:sp>
      <p:sp>
        <p:nvSpPr>
          <p:cNvPr id="18" name="Rectangle 17"/>
          <p:cNvSpPr/>
          <p:nvPr/>
        </p:nvSpPr>
        <p:spPr>
          <a:xfrm>
            <a:off x="822960" y="5047488"/>
            <a:ext cx="438912" cy="50292"/>
          </a:xfrm>
          <a:prstGeom prst="rect">
            <a:avLst/>
          </a:prstGeom>
          <a:solidFill>
            <a:srgbClr val="B65131"/>
          </a:solidFill>
          <a:ln>
            <a:noFill/>
          </a:ln>
        </p:spPr>
        <p:txBody>
          <a:bodyPr rtlCol="0" anchor="ctr"/>
          <a:lstStyle/>
          <a:p>
            <a:pPr algn="ctr"/>
          </a:p>
        </p:txBody>
      </p:sp>
      <p:sp>
        <p:nvSpPr>
          <p:cNvPr id="19" name="Rounded Rectangle 18"/>
          <p:cNvSpPr/>
          <p:nvPr/>
        </p:nvSpPr>
        <p:spPr>
          <a:xfrm>
            <a:off x="6236208" y="3566160"/>
            <a:ext cx="5321808" cy="1783080"/>
          </a:xfrm>
          <a:prstGeom prst="roundRect">
            <a:avLst>
              <a:gd name="adj" fmla="val 8000"/>
            </a:avLst>
          </a:prstGeom>
          <a:solidFill>
            <a:srgbClr val="FFFFFF"/>
          </a:solidFill>
          <a:ln>
            <a:noFill/>
          </a:ln>
        </p:spPr>
        <p:txBody>
          <a:bodyPr rtlCol="0" anchor="ctr"/>
          <a:lstStyle/>
          <a:p>
            <a:pPr algn="ctr"/>
          </a:p>
        </p:txBody>
      </p:sp>
      <p:sp>
        <p:nvSpPr>
          <p:cNvPr id="20" name="TextBox 19"/>
          <p:cNvSpPr txBox="1"/>
          <p:nvPr/>
        </p:nvSpPr>
        <p:spPr>
          <a:xfrm>
            <a:off x="6464808" y="377647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007E87"/>
                </a:solidFill>
                <a:latin typeface="DejaVu Sans"/>
              </a:defRPr>
            </a:pPr>
            <a:r>
              <a:t>04</a:t>
            </a:r>
          </a:p>
        </p:txBody>
      </p:sp>
      <p:sp>
        <p:nvSpPr>
          <p:cNvPr id="21" name="TextBox 20"/>
          <p:cNvSpPr txBox="1"/>
          <p:nvPr/>
        </p:nvSpPr>
        <p:spPr>
          <a:xfrm>
            <a:off x="7269480" y="3840480"/>
            <a:ext cx="4078224" cy="883920"/>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Pair or screenshare: keep</a:t>
            </a:r>
          </a:p>
          <a:p>
            <a:pPr>
              <a:lnSpc>
                <a:spcPct val="124000"/>
              </a:lnSpc>
              <a:spcBef>
                <a:spcPts val="0"/>
              </a:spcBef>
              <a:spcAft>
                <a:spcPts val="0"/>
              </a:spcAft>
              <a:defRPr sz="2400" b="0">
                <a:solidFill>
                  <a:srgbClr val="131D2A"/>
                </a:solidFill>
                <a:latin typeface="DejaVu Sans"/>
              </a:defRPr>
            </a:pPr>
            <a:r>
              <a:t>working if setup fails</a:t>
            </a:r>
          </a:p>
        </p:txBody>
      </p:sp>
      <p:sp>
        <p:nvSpPr>
          <p:cNvPr id="22" name="Rectangle 21"/>
          <p:cNvSpPr/>
          <p:nvPr/>
        </p:nvSpPr>
        <p:spPr>
          <a:xfrm>
            <a:off x="6464808" y="5047488"/>
            <a:ext cx="438912" cy="50292"/>
          </a:xfrm>
          <a:prstGeom prst="rect">
            <a:avLst/>
          </a:prstGeom>
          <a:solidFill>
            <a:srgbClr val="007E87"/>
          </a:solidFill>
          <a:ln>
            <a:noFill/>
          </a:ln>
        </p:spPr>
        <p:txBody>
          <a:bodyPr rtlCol="0" anchor="ctr"/>
          <a:lstStyle/>
          <a:p>
            <a:pPr algn="ctr"/>
          </a:p>
        </p:txBody>
      </p:sp>
      <p:sp>
        <p:nvSpPr>
          <p:cNvPr id="23" name="Rectangle 22"/>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24" name="TextBox 23"/>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Switch route after ten minutes of setup trouble.</a:t>
            </a:r>
          </a:p>
        </p:txBody>
      </p:sp>
      <p:sp>
        <p:nvSpPr>
          <p:cNvPr id="25" name="Rectangle 24"/>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26" name="TextBox 25"/>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27" name="Rectangle 26"/>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28" name="TextBox 27"/>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MODEL</a:t>
            </a:r>
          </a:p>
        </p:txBody>
      </p:sp>
      <p:sp>
        <p:nvSpPr>
          <p:cNvPr id="29" name="Rectangle 28"/>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30" name="TextBox 29"/>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31" name="Rectangle 30"/>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32" name="TextBox 31"/>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33" name="TextBox 32"/>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HANDS-ON · RELEASED LSP VERIFIED ON FOUR PLATFORMS</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10:30–10:35</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Edit with feedback. Check the pipeline.</a:t>
            </a:r>
          </a:p>
        </p:txBody>
      </p:sp>
      <p:sp>
        <p:nvSpPr>
          <p:cNvPr id="7" name="Rounded Rectangle 6"/>
          <p:cNvSpPr/>
          <p:nvPr/>
        </p:nvSpPr>
        <p:spPr>
          <a:xfrm>
            <a:off x="4407408" y="1554480"/>
            <a:ext cx="7187184" cy="3858768"/>
          </a:xfrm>
          <a:prstGeom prst="roundRect">
            <a:avLst>
              <a:gd name="adj" fmla="val 8000"/>
            </a:avLst>
          </a:prstGeom>
          <a:solidFill>
            <a:srgbClr val="FFFFFF"/>
          </a:solidFill>
          <a:ln>
            <a:noFill/>
          </a:ln>
        </p:spPr>
        <p:txBody>
          <a:bodyPr rtlCol="0" anchor="ctr"/>
          <a:lstStyle/>
          <a:p>
            <a:pPr algn="ctr"/>
          </a:p>
        </p:txBody>
      </p:sp>
      <p:pic>
        <p:nvPicPr>
          <p:cNvPr id="8" name="Picture 7" descr="vscode-quadrotor.png"/>
          <p:cNvPicPr>
            <a:picLocks noChangeAspect="1"/>
          </p:cNvPicPr>
          <p:nvPr/>
        </p:nvPicPr>
        <p:blipFill>
          <a:blip r:embed="rId2"/>
          <a:stretch>
            <a:fillRect/>
          </a:stretch>
        </p:blipFill>
        <p:spPr>
          <a:xfrm>
            <a:off x="5104180" y="1673351"/>
            <a:ext cx="5793638" cy="3621024"/>
          </a:xfrm>
          <a:prstGeom prst="rect">
            <a:avLst/>
          </a:prstGeom>
        </p:spPr>
      </p:pic>
      <p:sp>
        <p:nvSpPr>
          <p:cNvPr id="9" name="TextBox 8"/>
          <p:cNvSpPr txBox="1"/>
          <p:nvPr/>
        </p:nvSpPr>
        <p:spPr>
          <a:xfrm>
            <a:off x="640080" y="1700784"/>
            <a:ext cx="3712463"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TRY THIS</a:t>
            </a:r>
          </a:p>
        </p:txBody>
      </p:sp>
      <p:sp>
        <p:nvSpPr>
          <p:cNvPr id="10" name="Rounded Rectangle 9"/>
          <p:cNvSpPr/>
          <p:nvPr/>
        </p:nvSpPr>
        <p:spPr>
          <a:xfrm>
            <a:off x="640080" y="2171700"/>
            <a:ext cx="338328" cy="338328"/>
          </a:xfrm>
          <a:prstGeom prst="roundRect">
            <a:avLst>
              <a:gd name="adj" fmla="val 8000"/>
            </a:avLst>
          </a:prstGeom>
          <a:solidFill>
            <a:srgbClr val="007E87"/>
          </a:solidFill>
          <a:ln>
            <a:noFill/>
          </a:ln>
        </p:spPr>
        <p:txBody>
          <a:bodyPr rtlCol="0" anchor="ctr"/>
          <a:lstStyle/>
          <a:p>
            <a:pPr algn="ctr"/>
          </a:p>
        </p:txBody>
      </p:sp>
      <p:sp>
        <p:nvSpPr>
          <p:cNvPr id="11" name="TextBox 10"/>
          <p:cNvSpPr txBox="1"/>
          <p:nvPr/>
        </p:nvSpPr>
        <p:spPr>
          <a:xfrm>
            <a:off x="736092" y="219913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12" name="TextBox 11"/>
          <p:cNvSpPr txBox="1"/>
          <p:nvPr/>
        </p:nvSpPr>
        <p:spPr>
          <a:xfrm>
            <a:off x="1143000" y="2148840"/>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Open Quadrotor.mo</a:t>
            </a:r>
          </a:p>
          <a:p>
            <a:pPr>
              <a:lnSpc>
                <a:spcPct val="124000"/>
              </a:lnSpc>
              <a:spcBef>
                <a:spcPts val="0"/>
              </a:spcBef>
              <a:spcAft>
                <a:spcPts val="0"/>
              </a:spcAft>
              <a:defRPr sz="2200" b="0">
                <a:solidFill>
                  <a:srgbClr val="131D2A"/>
                </a:solidFill>
                <a:latin typeface="DejaVu Sans"/>
              </a:defRPr>
            </a:pPr>
            <a:r>
              <a:t>in models/</a:t>
            </a:r>
          </a:p>
        </p:txBody>
      </p:sp>
      <p:sp>
        <p:nvSpPr>
          <p:cNvPr id="13" name="Rounded Rectangle 12"/>
          <p:cNvSpPr/>
          <p:nvPr/>
        </p:nvSpPr>
        <p:spPr>
          <a:xfrm>
            <a:off x="640080" y="3266948"/>
            <a:ext cx="338328" cy="338328"/>
          </a:xfrm>
          <a:prstGeom prst="roundRect">
            <a:avLst>
              <a:gd name="adj" fmla="val 8000"/>
            </a:avLst>
          </a:prstGeom>
          <a:solidFill>
            <a:srgbClr val="007E87"/>
          </a:solidFill>
          <a:ln>
            <a:noFill/>
          </a:ln>
        </p:spPr>
        <p:txBody>
          <a:bodyPr rtlCol="0" anchor="ctr"/>
          <a:lstStyle/>
          <a:p>
            <a:pPr algn="ctr"/>
          </a:p>
        </p:txBody>
      </p:sp>
      <p:sp>
        <p:nvSpPr>
          <p:cNvPr id="14" name="TextBox 13"/>
          <p:cNvSpPr txBox="1"/>
          <p:nvPr/>
        </p:nvSpPr>
        <p:spPr>
          <a:xfrm>
            <a:off x="736092" y="3294380"/>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5" name="TextBox 14"/>
          <p:cNvSpPr txBox="1"/>
          <p:nvPr/>
        </p:nvSpPr>
        <p:spPr>
          <a:xfrm>
            <a:off x="1143000" y="3244088"/>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Hover m; try sin</a:t>
            </a:r>
          </a:p>
          <a:p>
            <a:pPr>
              <a:lnSpc>
                <a:spcPct val="124000"/>
              </a:lnSpc>
              <a:spcBef>
                <a:spcPts val="0"/>
              </a:spcBef>
              <a:spcAft>
                <a:spcPts val="0"/>
              </a:spcAft>
              <a:defRPr sz="2200" b="0">
                <a:solidFill>
                  <a:srgbClr val="131D2A"/>
                </a:solidFill>
                <a:latin typeface="DejaVu Sans"/>
              </a:defRPr>
            </a:pPr>
            <a:r>
              <a:t>completion</a:t>
            </a:r>
          </a:p>
        </p:txBody>
      </p:sp>
      <p:sp>
        <p:nvSpPr>
          <p:cNvPr id="16" name="Rounded Rectangle 15"/>
          <p:cNvSpPr/>
          <p:nvPr/>
        </p:nvSpPr>
        <p:spPr>
          <a:xfrm>
            <a:off x="640080" y="4362196"/>
            <a:ext cx="338328" cy="338328"/>
          </a:xfrm>
          <a:prstGeom prst="roundRect">
            <a:avLst>
              <a:gd name="adj" fmla="val 8000"/>
            </a:avLst>
          </a:prstGeom>
          <a:solidFill>
            <a:srgbClr val="007E87"/>
          </a:solidFill>
          <a:ln>
            <a:noFill/>
          </a:ln>
        </p:spPr>
        <p:txBody>
          <a:bodyPr rtlCol="0" anchor="ctr"/>
          <a:lstStyle/>
          <a:p>
            <a:pPr algn="ctr"/>
          </a:p>
        </p:txBody>
      </p:sp>
      <p:sp>
        <p:nvSpPr>
          <p:cNvPr id="17" name="TextBox 16"/>
          <p:cNvSpPr txBox="1"/>
          <p:nvPr/>
        </p:nvSpPr>
        <p:spPr>
          <a:xfrm>
            <a:off x="736092" y="4389627"/>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8" name="TextBox 17"/>
          <p:cNvSpPr txBox="1"/>
          <p:nvPr/>
        </p:nvSpPr>
        <p:spPr>
          <a:xfrm>
            <a:off x="1143000" y="4339335"/>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Run the smoke test;</a:t>
            </a:r>
          </a:p>
          <a:p>
            <a:pPr>
              <a:lnSpc>
                <a:spcPct val="124000"/>
              </a:lnSpc>
              <a:spcBef>
                <a:spcPts val="0"/>
              </a:spcBef>
              <a:spcAft>
                <a:spcPts val="0"/>
              </a:spcAft>
              <a:defRPr sz="2200" b="0">
                <a:solidFill>
                  <a:srgbClr val="131D2A"/>
                </a:solidFill>
                <a:latin typeface="DejaVu Sans"/>
              </a:defRPr>
            </a:pPr>
            <a:r>
              <a:t>open results/live</a:t>
            </a:r>
          </a:p>
        </p:txBody>
      </p:sp>
      <p:sp>
        <p:nvSpPr>
          <p:cNvPr id="19" name="Rounded Rectangle 18"/>
          <p:cNvSpPr/>
          <p:nvPr/>
        </p:nvSpPr>
        <p:spPr>
          <a:xfrm>
            <a:off x="594360" y="5559552"/>
            <a:ext cx="11000232" cy="438912"/>
          </a:xfrm>
          <a:prstGeom prst="roundRect">
            <a:avLst>
              <a:gd name="adj" fmla="val 8000"/>
            </a:avLst>
          </a:prstGeom>
          <a:solidFill>
            <a:srgbClr val="131D2A"/>
          </a:solidFill>
          <a:ln>
            <a:noFill/>
          </a:ln>
        </p:spPr>
        <p:txBody>
          <a:bodyPr rtlCol="0" anchor="ctr"/>
          <a:lstStyle/>
          <a:p>
            <a:pPr algn="ctr"/>
          </a:p>
        </p:txBody>
      </p:sp>
      <p:sp>
        <p:nvSpPr>
          <p:cNvPr id="20" name="TextBox 19"/>
          <p:cNvSpPr txBox="1"/>
          <p:nvPr/>
        </p:nvSpPr>
        <p:spPr>
          <a:xfrm>
            <a:off x="777240" y="5650992"/>
            <a:ext cx="10753344" cy="411480"/>
          </a:xfrm>
          <a:prstGeom prst="rect">
            <a:avLst/>
          </a:prstGeom>
          <a:noFill/>
        </p:spPr>
        <p:txBody>
          <a:bodyPr wrap="none" lIns="0" rIns="0" tIns="0" bIns="0">
            <a:spAutoFit/>
          </a:bodyPr>
          <a:lstStyle/>
          <a:p>
            <a:pPr>
              <a:lnSpc>
                <a:spcPct val="124000"/>
              </a:lnSpc>
              <a:spcBef>
                <a:spcPts val="0"/>
              </a:spcBef>
              <a:spcAft>
                <a:spcPts val="0"/>
              </a:spcAft>
              <a:defRPr sz="1800" b="0">
                <a:solidFill>
                  <a:srgbClr val="FFFFFF"/>
                </a:solidFill>
                <a:latin typeface="DejaVu Sans Mono"/>
              </a:defRPr>
            </a:pPr>
            <a:r>
              <a:t>$ uv run --frozen python scripts/smoke_test.py</a:t>
            </a:r>
          </a:p>
        </p:txBody>
      </p:sp>
      <p:sp>
        <p:nvSpPr>
          <p:cNvPr id="21" name="Rectangle 20"/>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22" name="TextBox 21"/>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WORKSHOP PASS · model editor ready</a:t>
            </a:r>
          </a:p>
        </p:txBody>
      </p:sp>
      <p:sp>
        <p:nvSpPr>
          <p:cNvPr id="23" name="Rectangle 22"/>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24" name="TextBox 23"/>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25" name="Rectangle 24"/>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26" name="TextBox 25"/>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MODEL</a:t>
            </a:r>
          </a:p>
        </p:txBody>
      </p:sp>
      <p:sp>
        <p:nvSpPr>
          <p:cNvPr id="27" name="Rectangle 26"/>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8" name="TextBox 27"/>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29" name="Rectangle 28"/>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30" name="TextBox 29"/>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31" name="TextBox 30"/>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LIVE DEMO · NACA 2412 · EMBEDDED EDITOR + WEBGPU</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10:35–10:40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The user guide is a live modeling lab</a:t>
            </a:r>
          </a:p>
        </p:txBody>
      </p:sp>
      <p:sp>
        <p:nvSpPr>
          <p:cNvPr id="7" name="Rounded Rectangle 6"/>
          <p:cNvSpPr/>
          <p:nvPr/>
        </p:nvSpPr>
        <p:spPr>
          <a:xfrm>
            <a:off x="4407408" y="1554480"/>
            <a:ext cx="7187184" cy="4069080"/>
          </a:xfrm>
          <a:prstGeom prst="roundRect">
            <a:avLst>
              <a:gd name="adj" fmla="val 8000"/>
            </a:avLst>
          </a:prstGeom>
          <a:solidFill>
            <a:srgbClr val="FFFFFF"/>
          </a:solidFill>
          <a:ln>
            <a:noFill/>
          </a:ln>
        </p:spPr>
        <p:txBody>
          <a:bodyPr rtlCol="0" anchor="ctr"/>
          <a:lstStyle/>
          <a:p>
            <a:pPr algn="ctr"/>
          </a:p>
        </p:txBody>
      </p:sp>
      <p:pic>
        <p:nvPicPr>
          <p:cNvPr id="8" name="Picture 7" descr="user-guide-naca.png"/>
          <p:cNvPicPr>
            <a:picLocks noChangeAspect="1"/>
          </p:cNvPicPr>
          <p:nvPr/>
        </p:nvPicPr>
        <p:blipFill>
          <a:blip r:embed="rId2"/>
          <a:stretch>
            <a:fillRect/>
          </a:stretch>
        </p:blipFill>
        <p:spPr>
          <a:xfrm>
            <a:off x="5419162" y="1673352"/>
            <a:ext cx="5163674" cy="3831336"/>
          </a:xfrm>
          <a:prstGeom prst="rect">
            <a:avLst/>
          </a:prstGeom>
        </p:spPr>
      </p:pic>
      <p:sp>
        <p:nvSpPr>
          <p:cNvPr id="9" name="TextBox 8"/>
          <p:cNvSpPr txBox="1"/>
          <p:nvPr/>
        </p:nvSpPr>
        <p:spPr>
          <a:xfrm>
            <a:off x="640080" y="1700784"/>
            <a:ext cx="3712463"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TRY THIS</a:t>
            </a:r>
          </a:p>
        </p:txBody>
      </p:sp>
      <p:sp>
        <p:nvSpPr>
          <p:cNvPr id="10" name="Rounded Rectangle 9"/>
          <p:cNvSpPr/>
          <p:nvPr/>
        </p:nvSpPr>
        <p:spPr>
          <a:xfrm>
            <a:off x="640080" y="2171700"/>
            <a:ext cx="338328" cy="338328"/>
          </a:xfrm>
          <a:prstGeom prst="roundRect">
            <a:avLst>
              <a:gd name="adj" fmla="val 8000"/>
            </a:avLst>
          </a:prstGeom>
          <a:solidFill>
            <a:srgbClr val="007E87"/>
          </a:solidFill>
          <a:ln>
            <a:noFill/>
          </a:ln>
        </p:spPr>
        <p:txBody>
          <a:bodyPr rtlCol="0" anchor="ctr"/>
          <a:lstStyle/>
          <a:p>
            <a:pPr algn="ctr"/>
          </a:p>
        </p:txBody>
      </p:sp>
      <p:sp>
        <p:nvSpPr>
          <p:cNvPr id="11" name="TextBox 10"/>
          <p:cNvSpPr txBox="1"/>
          <p:nvPr/>
        </p:nvSpPr>
        <p:spPr>
          <a:xfrm>
            <a:off x="736092" y="219913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12" name="TextBox 11"/>
          <p:cNvSpPr txBox="1"/>
          <p:nvPr/>
        </p:nvSpPr>
        <p:spPr>
          <a:xfrm>
            <a:off x="1143000" y="2148840"/>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Edit StopTime: 30 →</a:t>
            </a:r>
          </a:p>
          <a:p>
            <a:pPr>
              <a:lnSpc>
                <a:spcPct val="124000"/>
              </a:lnSpc>
              <a:spcBef>
                <a:spcPts val="0"/>
              </a:spcBef>
              <a:spcAft>
                <a:spcPts val="0"/>
              </a:spcAft>
              <a:defRPr sz="2200" b="0">
                <a:solidFill>
                  <a:srgbClr val="131D2A"/>
                </a:solidFill>
                <a:latin typeface="DejaVu Sans"/>
              </a:defRPr>
            </a:pPr>
            <a:r>
              <a:t>2 s</a:t>
            </a:r>
          </a:p>
        </p:txBody>
      </p:sp>
      <p:sp>
        <p:nvSpPr>
          <p:cNvPr id="13" name="Rounded Rectangle 12"/>
          <p:cNvSpPr/>
          <p:nvPr/>
        </p:nvSpPr>
        <p:spPr>
          <a:xfrm>
            <a:off x="640080" y="3266948"/>
            <a:ext cx="338328" cy="338328"/>
          </a:xfrm>
          <a:prstGeom prst="roundRect">
            <a:avLst>
              <a:gd name="adj" fmla="val 8000"/>
            </a:avLst>
          </a:prstGeom>
          <a:solidFill>
            <a:srgbClr val="007E87"/>
          </a:solidFill>
          <a:ln>
            <a:noFill/>
          </a:ln>
        </p:spPr>
        <p:txBody>
          <a:bodyPr rtlCol="0" anchor="ctr"/>
          <a:lstStyle/>
          <a:p>
            <a:pPr algn="ctr"/>
          </a:p>
        </p:txBody>
      </p:sp>
      <p:sp>
        <p:nvSpPr>
          <p:cNvPr id="14" name="TextBox 13"/>
          <p:cNvSpPr txBox="1"/>
          <p:nvPr/>
        </p:nvSpPr>
        <p:spPr>
          <a:xfrm>
            <a:off x="736092" y="3294380"/>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5" name="TextBox 14"/>
          <p:cNvSpPr txBox="1"/>
          <p:nvPr/>
        </p:nvSpPr>
        <p:spPr>
          <a:xfrm>
            <a:off x="1143000" y="3244088"/>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Simulate; select the</a:t>
            </a:r>
          </a:p>
          <a:p>
            <a:pPr>
              <a:lnSpc>
                <a:spcPct val="124000"/>
              </a:lnSpc>
              <a:spcBef>
                <a:spcPts val="0"/>
              </a:spcBef>
              <a:spcAft>
                <a:spcPts val="0"/>
              </a:spcAft>
              <a:defRPr sz="2200" b="0">
                <a:solidFill>
                  <a:srgbClr val="131D2A"/>
                </a:solidFill>
                <a:latin typeface="DejaVu Sans"/>
              </a:defRPr>
            </a:pPr>
            <a:r>
              <a:t>final frame</a:t>
            </a:r>
          </a:p>
        </p:txBody>
      </p:sp>
      <p:sp>
        <p:nvSpPr>
          <p:cNvPr id="16" name="Rounded Rectangle 15"/>
          <p:cNvSpPr/>
          <p:nvPr/>
        </p:nvSpPr>
        <p:spPr>
          <a:xfrm>
            <a:off x="640080" y="4362196"/>
            <a:ext cx="338328" cy="338328"/>
          </a:xfrm>
          <a:prstGeom prst="roundRect">
            <a:avLst>
              <a:gd name="adj" fmla="val 8000"/>
            </a:avLst>
          </a:prstGeom>
          <a:solidFill>
            <a:srgbClr val="007E87"/>
          </a:solidFill>
          <a:ln>
            <a:noFill/>
          </a:ln>
        </p:spPr>
        <p:txBody>
          <a:bodyPr rtlCol="0" anchor="ctr"/>
          <a:lstStyle/>
          <a:p>
            <a:pPr algn="ctr"/>
          </a:p>
        </p:txBody>
      </p:sp>
      <p:sp>
        <p:nvSpPr>
          <p:cNvPr id="17" name="TextBox 16"/>
          <p:cNvSpPr txBox="1"/>
          <p:nvPr/>
        </p:nvSpPr>
        <p:spPr>
          <a:xfrm>
            <a:off x="736092" y="4389627"/>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8" name="TextBox 17"/>
          <p:cNvSpPr txBox="1"/>
          <p:nvPr/>
        </p:nvSpPr>
        <p:spPr>
          <a:xfrm>
            <a:off x="1143000" y="4339335"/>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Switch vorticity /</a:t>
            </a:r>
          </a:p>
          <a:p>
            <a:pPr>
              <a:lnSpc>
                <a:spcPct val="124000"/>
              </a:lnSpc>
              <a:spcBef>
                <a:spcPts val="0"/>
              </a:spcBef>
              <a:spcAft>
                <a:spcPts val="0"/>
              </a:spcAft>
              <a:defRPr sz="2200" b="0">
                <a:solidFill>
                  <a:srgbClr val="131D2A"/>
                </a:solidFill>
                <a:latin typeface="DejaVu Sans"/>
              </a:defRPr>
            </a:pPr>
            <a:r>
              <a:t>pressure</a:t>
            </a:r>
          </a:p>
        </p:txBody>
      </p:sp>
      <p:sp>
        <p:nvSpPr>
          <p:cNvPr id="19" name="Rectangle 18"/>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20" name="TextBox 19"/>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User-guide link and recovery: WORKSHOP.md · no install needed</a:t>
            </a:r>
          </a:p>
        </p:txBody>
      </p:sp>
      <p:sp>
        <p:nvSpPr>
          <p:cNvPr id="21" name="Rectangle 20"/>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22" name="TextBox 21"/>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23" name="Rectangle 22"/>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24" name="TextBox 23"/>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MODEL</a:t>
            </a:r>
          </a:p>
        </p:txBody>
      </p:sp>
      <p:sp>
        <p:nvSpPr>
          <p:cNvPr id="25" name="Rectangle 24"/>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6" name="TextBox 25"/>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27" name="Rectangle 26"/>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8" name="TextBox 27"/>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29" name="TextBox 28"/>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SIX STATES · TWO AGGREGATE INPUTS</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10:40–10:45</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A planar quadrotor we can inspect</a:t>
            </a:r>
          </a:p>
        </p:txBody>
      </p:sp>
      <p:sp>
        <p:nvSpPr>
          <p:cNvPr id="7" name="Rounded Rectangle 6"/>
          <p:cNvSpPr/>
          <p:nvPr/>
        </p:nvSpPr>
        <p:spPr>
          <a:xfrm>
            <a:off x="4407408" y="1554480"/>
            <a:ext cx="7187184" cy="4069080"/>
          </a:xfrm>
          <a:prstGeom prst="roundRect">
            <a:avLst>
              <a:gd name="adj" fmla="val 8000"/>
            </a:avLst>
          </a:prstGeom>
          <a:solidFill>
            <a:srgbClr val="FFFFFF"/>
          </a:solidFill>
          <a:ln>
            <a:noFill/>
          </a:ln>
        </p:spPr>
        <p:txBody>
          <a:bodyPr rtlCol="0" anchor="ctr"/>
          <a:lstStyle/>
          <a:p>
            <a:pPr algn="ctr"/>
          </a:p>
        </p:txBody>
      </p:sp>
      <p:pic>
        <p:nvPicPr>
          <p:cNvPr id="8" name="Picture 7" descr="quadrotor.png"/>
          <p:cNvPicPr>
            <a:picLocks noChangeAspect="1"/>
          </p:cNvPicPr>
          <p:nvPr/>
        </p:nvPicPr>
        <p:blipFill>
          <a:blip r:embed="rId2"/>
          <a:stretch>
            <a:fillRect/>
          </a:stretch>
        </p:blipFill>
        <p:spPr>
          <a:xfrm>
            <a:off x="4517136" y="2161650"/>
            <a:ext cx="6967728" cy="2854739"/>
          </a:xfrm>
          <a:prstGeom prst="rect">
            <a:avLst/>
          </a:prstGeom>
        </p:spPr>
      </p:pic>
      <p:sp>
        <p:nvSpPr>
          <p:cNvPr id="9" name="TextBox 8"/>
          <p:cNvSpPr txBox="1"/>
          <p:nvPr/>
        </p:nvSpPr>
        <p:spPr>
          <a:xfrm>
            <a:off x="640080" y="1700784"/>
            <a:ext cx="3712463"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READ THE MODEL</a:t>
            </a:r>
          </a:p>
        </p:txBody>
      </p:sp>
      <p:sp>
        <p:nvSpPr>
          <p:cNvPr id="10" name="Rounded Rectangle 9"/>
          <p:cNvSpPr/>
          <p:nvPr/>
        </p:nvSpPr>
        <p:spPr>
          <a:xfrm>
            <a:off x="640080" y="2171700"/>
            <a:ext cx="338328" cy="338328"/>
          </a:xfrm>
          <a:prstGeom prst="roundRect">
            <a:avLst>
              <a:gd name="adj" fmla="val 8000"/>
            </a:avLst>
          </a:prstGeom>
          <a:solidFill>
            <a:srgbClr val="007E87"/>
          </a:solidFill>
          <a:ln>
            <a:noFill/>
          </a:ln>
        </p:spPr>
        <p:txBody>
          <a:bodyPr rtlCol="0" anchor="ctr"/>
          <a:lstStyle/>
          <a:p>
            <a:pPr algn="ctr"/>
          </a:p>
        </p:txBody>
      </p:sp>
      <p:sp>
        <p:nvSpPr>
          <p:cNvPr id="11" name="TextBox 10"/>
          <p:cNvSpPr txBox="1"/>
          <p:nvPr/>
        </p:nvSpPr>
        <p:spPr>
          <a:xfrm>
            <a:off x="736092" y="219913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12" name="TextBox 11"/>
          <p:cNvSpPr txBox="1"/>
          <p:nvPr/>
        </p:nvSpPr>
        <p:spPr>
          <a:xfrm>
            <a:off x="1143000" y="2148840"/>
            <a:ext cx="3054096" cy="474471"/>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World x right; z up</a:t>
            </a:r>
          </a:p>
        </p:txBody>
      </p:sp>
      <p:sp>
        <p:nvSpPr>
          <p:cNvPr id="13" name="Rounded Rectangle 12"/>
          <p:cNvSpPr/>
          <p:nvPr/>
        </p:nvSpPr>
        <p:spPr>
          <a:xfrm>
            <a:off x="640080" y="2920492"/>
            <a:ext cx="338328" cy="338328"/>
          </a:xfrm>
          <a:prstGeom prst="roundRect">
            <a:avLst>
              <a:gd name="adj" fmla="val 8000"/>
            </a:avLst>
          </a:prstGeom>
          <a:solidFill>
            <a:srgbClr val="007E87"/>
          </a:solidFill>
          <a:ln>
            <a:noFill/>
          </a:ln>
        </p:spPr>
        <p:txBody>
          <a:bodyPr rtlCol="0" anchor="ctr"/>
          <a:lstStyle/>
          <a:p>
            <a:pPr algn="ctr"/>
          </a:p>
        </p:txBody>
      </p:sp>
      <p:sp>
        <p:nvSpPr>
          <p:cNvPr id="14" name="TextBox 13"/>
          <p:cNvSpPr txBox="1"/>
          <p:nvPr/>
        </p:nvSpPr>
        <p:spPr>
          <a:xfrm>
            <a:off x="736092" y="2947924"/>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5" name="TextBox 14"/>
          <p:cNvSpPr txBox="1"/>
          <p:nvPr/>
        </p:nvSpPr>
        <p:spPr>
          <a:xfrm>
            <a:off x="1143000" y="2897632"/>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Positive pitch tilts</a:t>
            </a:r>
          </a:p>
          <a:p>
            <a:pPr>
              <a:lnSpc>
                <a:spcPct val="124000"/>
              </a:lnSpc>
              <a:spcBef>
                <a:spcPts val="0"/>
              </a:spcBef>
              <a:spcAft>
                <a:spcPts val="0"/>
              </a:spcAft>
              <a:defRPr sz="2200" b="0">
                <a:solidFill>
                  <a:srgbClr val="131D2A"/>
                </a:solidFill>
                <a:latin typeface="DejaVu Sans"/>
              </a:defRPr>
            </a:pPr>
            <a:r>
              <a:t>thrust toward +x</a:t>
            </a:r>
          </a:p>
        </p:txBody>
      </p:sp>
      <p:sp>
        <p:nvSpPr>
          <p:cNvPr id="16" name="Rounded Rectangle 15"/>
          <p:cNvSpPr/>
          <p:nvPr/>
        </p:nvSpPr>
        <p:spPr>
          <a:xfrm>
            <a:off x="640080" y="4015740"/>
            <a:ext cx="338328" cy="338328"/>
          </a:xfrm>
          <a:prstGeom prst="roundRect">
            <a:avLst>
              <a:gd name="adj" fmla="val 8000"/>
            </a:avLst>
          </a:prstGeom>
          <a:solidFill>
            <a:srgbClr val="007E87"/>
          </a:solidFill>
          <a:ln>
            <a:noFill/>
          </a:ln>
        </p:spPr>
        <p:txBody>
          <a:bodyPr rtlCol="0" anchor="ctr"/>
          <a:lstStyle/>
          <a:p>
            <a:pPr algn="ctr"/>
          </a:p>
        </p:txBody>
      </p:sp>
      <p:sp>
        <p:nvSpPr>
          <p:cNvPr id="17" name="TextBox 16"/>
          <p:cNvSpPr txBox="1"/>
          <p:nvPr/>
        </p:nvSpPr>
        <p:spPr>
          <a:xfrm>
            <a:off x="736092" y="404317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8" name="TextBox 17"/>
          <p:cNvSpPr txBox="1"/>
          <p:nvPr/>
        </p:nvSpPr>
        <p:spPr>
          <a:xfrm>
            <a:off x="1143000" y="3992880"/>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Hover: T = mg =</a:t>
            </a:r>
          </a:p>
          <a:p>
            <a:pPr>
              <a:lnSpc>
                <a:spcPct val="124000"/>
              </a:lnSpc>
              <a:spcBef>
                <a:spcPts val="0"/>
              </a:spcBef>
              <a:spcAft>
                <a:spcPts val="0"/>
              </a:spcAft>
              <a:defRPr sz="2200" b="0">
                <a:solidFill>
                  <a:srgbClr val="131D2A"/>
                </a:solidFill>
                <a:latin typeface="DejaVu Sans"/>
              </a:defRPr>
            </a:pPr>
            <a:r>
              <a:t>11.772 N</a:t>
            </a:r>
          </a:p>
        </p:txBody>
      </p:sp>
      <p:sp>
        <p:nvSpPr>
          <p:cNvPr id="19" name="Rectangle 18"/>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20" name="TextBox 19"/>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Find velocities, pitch rate, thrust and torque in the model.</a:t>
            </a:r>
          </a:p>
        </p:txBody>
      </p:sp>
      <p:sp>
        <p:nvSpPr>
          <p:cNvPr id="21" name="Rectangle 20"/>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22" name="TextBox 21"/>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23" name="Rectangle 22"/>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24" name="TextBox 23"/>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MODEL</a:t>
            </a:r>
          </a:p>
        </p:txBody>
      </p:sp>
      <p:sp>
        <p:nvSpPr>
          <p:cNvPr id="25" name="Rectangle 24"/>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6" name="TextBox 25"/>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27" name="Rectangle 26"/>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8" name="TextBox 27"/>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29" name="TextBox 28"/>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HANDS-ON · PREDICT BEFORE RUNNING</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10:45–10:55</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Your first engineering change: drag</a:t>
            </a:r>
          </a:p>
        </p:txBody>
      </p:sp>
      <p:sp>
        <p:nvSpPr>
          <p:cNvPr id="7" name="Rectangle 6"/>
          <p:cNvSpPr/>
          <p:nvPr/>
        </p:nvSpPr>
        <p:spPr>
          <a:xfrm>
            <a:off x="594360" y="1508760"/>
            <a:ext cx="41148" cy="493776"/>
          </a:xfrm>
          <a:prstGeom prst="rect">
            <a:avLst/>
          </a:prstGeom>
          <a:solidFill>
            <a:srgbClr val="007E87"/>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Change k_quad = 0.0 to 0.08, save, then simulate.</a:t>
            </a:r>
          </a:p>
        </p:txBody>
      </p:sp>
      <p:sp>
        <p:nvSpPr>
          <p:cNvPr id="9" name="Rounded Rectangle 8"/>
          <p:cNvSpPr/>
          <p:nvPr/>
        </p:nvSpPr>
        <p:spPr>
          <a:xfrm>
            <a:off x="594360" y="2167128"/>
            <a:ext cx="11000232" cy="3191256"/>
          </a:xfrm>
          <a:prstGeom prst="roundRect">
            <a:avLst>
              <a:gd name="adj" fmla="val 8000"/>
            </a:avLst>
          </a:prstGeom>
          <a:solidFill>
            <a:srgbClr val="FFFFFF"/>
          </a:solidFill>
          <a:ln>
            <a:noFill/>
          </a:ln>
        </p:spPr>
        <p:txBody>
          <a:bodyPr rtlCol="0" anchor="ctr"/>
          <a:lstStyle/>
          <a:p>
            <a:pPr algn="ctr"/>
          </a:p>
        </p:txBody>
      </p:sp>
      <p:pic>
        <p:nvPicPr>
          <p:cNvPr id="10" name="Picture 9" descr="drag-law.png"/>
          <p:cNvPicPr>
            <a:picLocks noChangeAspect="1"/>
          </p:cNvPicPr>
          <p:nvPr/>
        </p:nvPicPr>
        <p:blipFill>
          <a:blip r:embed="rId2"/>
          <a:stretch>
            <a:fillRect/>
          </a:stretch>
        </p:blipFill>
        <p:spPr>
          <a:xfrm>
            <a:off x="1025024" y="2240280"/>
            <a:ext cx="10138902" cy="3044952"/>
          </a:xfrm>
          <a:prstGeom prst="rect">
            <a:avLst/>
          </a:prstGeom>
        </p:spPr>
      </p:pic>
      <p:sp>
        <p:nvSpPr>
          <p:cNvPr id="11" name="Rounded Rectangle 10"/>
          <p:cNvSpPr/>
          <p:nvPr/>
        </p:nvSpPr>
        <p:spPr>
          <a:xfrm>
            <a:off x="594360" y="5559552"/>
            <a:ext cx="11000232" cy="438912"/>
          </a:xfrm>
          <a:prstGeom prst="roundRect">
            <a:avLst>
              <a:gd name="adj" fmla="val 8000"/>
            </a:avLst>
          </a:prstGeom>
          <a:solidFill>
            <a:srgbClr val="131D2A"/>
          </a:solidFill>
          <a:ln>
            <a:noFill/>
          </a:ln>
        </p:spPr>
        <p:txBody>
          <a:bodyPr rtlCol="0" anchor="ctr"/>
          <a:lstStyle/>
          <a:p>
            <a:pPr algn="ctr"/>
          </a:p>
        </p:txBody>
      </p:sp>
      <p:sp>
        <p:nvSpPr>
          <p:cNvPr id="12" name="TextBox 11"/>
          <p:cNvSpPr txBox="1"/>
          <p:nvPr/>
        </p:nvSpPr>
        <p:spPr>
          <a:xfrm>
            <a:off x="777240" y="5650992"/>
            <a:ext cx="10753344" cy="411480"/>
          </a:xfrm>
          <a:prstGeom prst="rect">
            <a:avLst/>
          </a:prstGeom>
          <a:noFill/>
        </p:spPr>
        <p:txBody>
          <a:bodyPr wrap="none" lIns="0" rIns="0" tIns="0" bIns="0">
            <a:spAutoFit/>
          </a:bodyPr>
          <a:lstStyle/>
          <a:p>
            <a:pPr>
              <a:lnSpc>
                <a:spcPct val="124000"/>
              </a:lnSpc>
              <a:spcBef>
                <a:spcPts val="0"/>
              </a:spcBef>
              <a:spcAft>
                <a:spcPts val="0"/>
              </a:spcAft>
              <a:defRPr sz="1800" b="0">
                <a:solidFill>
                  <a:srgbClr val="FFFFFF"/>
                </a:solidFill>
                <a:latin typeface="DejaVu Sans Mono"/>
              </a:defRPr>
            </a:pPr>
            <a:r>
              <a:t>$ uv run --frozen python scripts/simulate.py</a:t>
            </a:r>
          </a:p>
        </p:txBody>
      </p:sp>
      <p:sp>
        <p:nvSpPr>
          <p:cNvPr id="13" name="Rectangle 12"/>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14" name="TextBox 13"/>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What changes at high speed? What about negative velocity?</a:t>
            </a:r>
          </a:p>
        </p:txBody>
      </p:sp>
      <p:sp>
        <p:nvSpPr>
          <p:cNvPr id="15" name="Rectangle 14"/>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16" name="TextBox 15"/>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17" name="Rectangle 16"/>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18" name="TextBox 17"/>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MODEL</a:t>
            </a:r>
          </a:p>
        </p:txBody>
      </p:sp>
      <p:sp>
        <p:nvSpPr>
          <p:cNvPr id="19" name="Rectangle 18"/>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0" name="TextBox 19"/>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21" name="Rectangle 20"/>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2" name="TextBox 21"/>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23" name="TextBox 22"/>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HANDS-ON · SAME PRESCRIBED PYTHON INPUTS</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10:55–11:00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More drag, less distance</a:t>
            </a:r>
          </a:p>
        </p:txBody>
      </p:sp>
      <p:sp>
        <p:nvSpPr>
          <p:cNvPr id="7" name="Rectangle 6"/>
          <p:cNvSpPr/>
          <p:nvPr/>
        </p:nvSpPr>
        <p:spPr>
          <a:xfrm>
            <a:off x="594360" y="1508760"/>
            <a:ext cx="41148" cy="493776"/>
          </a:xfrm>
          <a:prstGeom prst="rect">
            <a:avLst/>
          </a:prstGeom>
          <a:solidFill>
            <a:srgbClr val="007E87"/>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Reference at 8 s: 41.60 m → 17.97 m</a:t>
            </a:r>
          </a:p>
        </p:txBody>
      </p:sp>
      <p:sp>
        <p:nvSpPr>
          <p:cNvPr id="9" name="Rounded Rectangle 8"/>
          <p:cNvSpPr/>
          <p:nvPr/>
        </p:nvSpPr>
        <p:spPr>
          <a:xfrm>
            <a:off x="594360" y="2167128"/>
            <a:ext cx="11000232" cy="3511296"/>
          </a:xfrm>
          <a:prstGeom prst="roundRect">
            <a:avLst>
              <a:gd name="adj" fmla="val 8000"/>
            </a:avLst>
          </a:prstGeom>
          <a:solidFill>
            <a:srgbClr val="FFFFFF"/>
          </a:solidFill>
          <a:ln>
            <a:noFill/>
          </a:ln>
        </p:spPr>
        <p:txBody>
          <a:bodyPr rtlCol="0" anchor="ctr"/>
          <a:lstStyle/>
          <a:p>
            <a:pPr algn="ctr"/>
          </a:p>
        </p:txBody>
      </p:sp>
      <p:pic>
        <p:nvPicPr>
          <p:cNvPr id="10" name="Picture 9" descr="simulation-hero.png"/>
          <p:cNvPicPr>
            <a:picLocks noChangeAspect="1"/>
          </p:cNvPicPr>
          <p:nvPr/>
        </p:nvPicPr>
        <p:blipFill>
          <a:blip r:embed="rId2"/>
          <a:stretch>
            <a:fillRect/>
          </a:stretch>
        </p:blipFill>
        <p:spPr>
          <a:xfrm>
            <a:off x="1479361" y="2240280"/>
            <a:ext cx="9230229" cy="3364992"/>
          </a:xfrm>
          <a:prstGeom prst="rect">
            <a:avLst/>
          </a:prstGeom>
        </p:spPr>
      </p:pic>
      <p:sp>
        <p:nvSpPr>
          <p:cNvPr id="11" name="Rectangle 10"/>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12" name="TextBox 11"/>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Compare your current default with the two reference cases.</a:t>
            </a:r>
          </a:p>
        </p:txBody>
      </p:sp>
      <p:sp>
        <p:nvSpPr>
          <p:cNvPr id="13" name="Rectangle 12"/>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14" name="TextBox 13"/>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15" name="Rectangle 14"/>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16" name="TextBox 15"/>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MODEL</a:t>
            </a:r>
          </a:p>
        </p:txBody>
      </p:sp>
      <p:sp>
        <p:nvSpPr>
          <p:cNvPr id="17" name="Rectangle 16"/>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18" name="TextBox 17"/>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19" name="Rectangle 18"/>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0" name="TextBox 19"/>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21" name="TextBox 20"/>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131D2A"/>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94360" y="365760"/>
            <a:ext cx="919886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PAUSE / RECHARGE</a:t>
            </a:r>
          </a:p>
        </p:txBody>
      </p:sp>
      <p:sp>
        <p:nvSpPr>
          <p:cNvPr id="5" name="TextBox 4"/>
          <p:cNvSpPr txBox="1"/>
          <p:nvPr/>
        </p:nvSpPr>
        <p:spPr>
          <a:xfrm>
            <a:off x="640080" y="1234440"/>
            <a:ext cx="7370064" cy="679195"/>
          </a:xfrm>
          <a:prstGeom prst="rect">
            <a:avLst/>
          </a:prstGeom>
          <a:noFill/>
        </p:spPr>
        <p:txBody>
          <a:bodyPr wrap="none" lIns="0" rIns="0" tIns="0" bIns="0">
            <a:spAutoFit/>
          </a:bodyPr>
          <a:lstStyle/>
          <a:p>
            <a:pPr>
              <a:lnSpc>
                <a:spcPct val="124000"/>
              </a:lnSpc>
              <a:spcBef>
                <a:spcPts val="0"/>
              </a:spcBef>
              <a:spcAft>
                <a:spcPts val="0"/>
              </a:spcAft>
              <a:defRPr sz="3500" b="0">
                <a:solidFill>
                  <a:srgbClr val="FFFFFF"/>
                </a:solidFill>
                <a:latin typeface="DejaVu Sans"/>
              </a:defRPr>
            </a:pPr>
            <a:r>
              <a:t>Back at</a:t>
            </a:r>
          </a:p>
        </p:txBody>
      </p:sp>
      <p:sp>
        <p:nvSpPr>
          <p:cNvPr id="6" name="TextBox 5"/>
          <p:cNvSpPr txBox="1"/>
          <p:nvPr/>
        </p:nvSpPr>
        <p:spPr>
          <a:xfrm>
            <a:off x="566928" y="1847088"/>
            <a:ext cx="7644384" cy="1734312"/>
          </a:xfrm>
          <a:prstGeom prst="rect">
            <a:avLst/>
          </a:prstGeom>
          <a:noFill/>
        </p:spPr>
        <p:txBody>
          <a:bodyPr wrap="none" lIns="0" rIns="0" tIns="0" bIns="0">
            <a:spAutoFit/>
          </a:bodyPr>
          <a:lstStyle/>
          <a:p>
            <a:pPr>
              <a:lnSpc>
                <a:spcPct val="124000"/>
              </a:lnSpc>
              <a:spcBef>
                <a:spcPts val="0"/>
              </a:spcBef>
              <a:spcAft>
                <a:spcPts val="0"/>
              </a:spcAft>
              <a:defRPr sz="10200" b="1">
                <a:solidFill>
                  <a:srgbClr val="CFB991"/>
                </a:solidFill>
                <a:latin typeface="DejaVu Sans"/>
              </a:defRPr>
            </a:pPr>
            <a:r>
              <a:t>11:10</a:t>
            </a:r>
          </a:p>
        </p:txBody>
      </p:sp>
      <p:sp>
        <p:nvSpPr>
          <p:cNvPr id="7" name="Rounded Rectangle 6"/>
          <p:cNvSpPr/>
          <p:nvPr/>
        </p:nvSpPr>
        <p:spPr>
          <a:xfrm>
            <a:off x="8595360" y="1188720"/>
            <a:ext cx="3017520" cy="4434840"/>
          </a:xfrm>
          <a:prstGeom prst="roundRect">
            <a:avLst>
              <a:gd name="adj" fmla="val 8000"/>
            </a:avLst>
          </a:prstGeom>
          <a:solidFill>
            <a:srgbClr val="203044"/>
          </a:solidFill>
          <a:ln>
            <a:noFill/>
          </a:ln>
        </p:spPr>
        <p:txBody>
          <a:bodyPr rtlCol="0" anchor="ctr"/>
          <a:lstStyle/>
          <a:p>
            <a:pPr algn="ctr"/>
          </a:p>
        </p:txBody>
      </p:sp>
      <p:sp>
        <p:nvSpPr>
          <p:cNvPr id="8" name="TextBox 7"/>
          <p:cNvSpPr txBox="1"/>
          <p:nvPr/>
        </p:nvSpPr>
        <p:spPr>
          <a:xfrm>
            <a:off x="8823960" y="1463040"/>
            <a:ext cx="261518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KEEP YOUR PLACE</a:t>
            </a:r>
          </a:p>
        </p:txBody>
      </p:sp>
      <p:sp>
        <p:nvSpPr>
          <p:cNvPr id="9" name="TextBox 8"/>
          <p:cNvSpPr txBox="1"/>
          <p:nvPr/>
        </p:nvSpPr>
        <p:spPr>
          <a:xfrm>
            <a:off x="8823960" y="1993392"/>
            <a:ext cx="2569464" cy="726440"/>
          </a:xfrm>
          <a:prstGeom prst="rect">
            <a:avLst/>
          </a:prstGeom>
          <a:noFill/>
        </p:spPr>
        <p:txBody>
          <a:bodyPr wrap="none" lIns="0" rIns="0" tIns="0" bIns="0">
            <a:spAutoFit/>
          </a:bodyPr>
          <a:lstStyle/>
          <a:p>
            <a:pPr>
              <a:lnSpc>
                <a:spcPct val="124000"/>
              </a:lnSpc>
              <a:spcBef>
                <a:spcPts val="0"/>
              </a:spcBef>
              <a:spcAft>
                <a:spcPts val="0"/>
              </a:spcAft>
              <a:defRPr sz="1900" b="0">
                <a:solidFill>
                  <a:srgbClr val="FFFFFF"/>
                </a:solidFill>
                <a:latin typeface="DejaVu Sans"/>
              </a:defRPr>
            </a:pPr>
            <a:r>
              <a:t>Keep your editor</a:t>
            </a:r>
          </a:p>
          <a:p>
            <a:pPr>
              <a:lnSpc>
                <a:spcPct val="124000"/>
              </a:lnSpc>
              <a:spcBef>
                <a:spcPts val="0"/>
              </a:spcBef>
              <a:spcAft>
                <a:spcPts val="0"/>
              </a:spcAft>
              <a:defRPr sz="1900" b="0">
                <a:solidFill>
                  <a:srgbClr val="FFFFFF"/>
                </a:solidFill>
                <a:latin typeface="DejaVu Sans"/>
              </a:defRPr>
            </a:pPr>
            <a:r>
              <a:t>and terminal open.</a:t>
            </a:r>
          </a:p>
        </p:txBody>
      </p:sp>
      <p:sp>
        <p:nvSpPr>
          <p:cNvPr id="10" name="TextBox 9"/>
          <p:cNvSpPr txBox="1"/>
          <p:nvPr/>
        </p:nvSpPr>
        <p:spPr>
          <a:xfrm>
            <a:off x="8823960" y="2966720"/>
            <a:ext cx="2569464" cy="1025651"/>
          </a:xfrm>
          <a:prstGeom prst="rect">
            <a:avLst/>
          </a:prstGeom>
          <a:noFill/>
        </p:spPr>
        <p:txBody>
          <a:bodyPr wrap="none" lIns="0" rIns="0" tIns="0" bIns="0">
            <a:spAutoFit/>
          </a:bodyPr>
          <a:lstStyle/>
          <a:p>
            <a:pPr>
              <a:lnSpc>
                <a:spcPct val="124000"/>
              </a:lnSpc>
              <a:spcBef>
                <a:spcPts val="0"/>
              </a:spcBef>
              <a:spcAft>
                <a:spcPts val="0"/>
              </a:spcAft>
              <a:defRPr sz="1900" b="0">
                <a:solidFill>
                  <a:srgbClr val="FFFFFF"/>
                </a:solidFill>
                <a:latin typeface="DejaVu Sans"/>
              </a:defRPr>
            </a:pPr>
            <a:r>
              <a:t>Your simulation plot</a:t>
            </a:r>
          </a:p>
          <a:p>
            <a:pPr>
              <a:lnSpc>
                <a:spcPct val="124000"/>
              </a:lnSpc>
              <a:spcBef>
                <a:spcPts val="0"/>
              </a:spcBef>
              <a:spcAft>
                <a:spcPts val="0"/>
              </a:spcAft>
              <a:defRPr sz="1900" b="0">
                <a:solidFill>
                  <a:srgbClr val="FFFFFF"/>
                </a:solidFill>
                <a:latin typeface="DejaVu Sans"/>
              </a:defRPr>
            </a:pPr>
            <a:r>
              <a:t>is the recovery</a:t>
            </a:r>
          </a:p>
          <a:p>
            <a:pPr>
              <a:lnSpc>
                <a:spcPct val="124000"/>
              </a:lnSpc>
              <a:spcBef>
                <a:spcPts val="0"/>
              </a:spcBef>
              <a:spcAft>
                <a:spcPts val="0"/>
              </a:spcAft>
              <a:defRPr sz="1900" b="0">
                <a:solidFill>
                  <a:srgbClr val="FFFFFF"/>
                </a:solidFill>
                <a:latin typeface="DejaVu Sans"/>
              </a:defRPr>
            </a:pPr>
            <a:r>
              <a:t>point.</a:t>
            </a:r>
          </a:p>
        </p:txBody>
      </p:sp>
      <p:sp>
        <p:nvSpPr>
          <p:cNvPr id="11" name="TextBox 10"/>
          <p:cNvSpPr txBox="1"/>
          <p:nvPr/>
        </p:nvSpPr>
        <p:spPr>
          <a:xfrm>
            <a:off x="8823960" y="4239260"/>
            <a:ext cx="2569464" cy="726440"/>
          </a:xfrm>
          <a:prstGeom prst="rect">
            <a:avLst/>
          </a:prstGeom>
          <a:noFill/>
        </p:spPr>
        <p:txBody>
          <a:bodyPr wrap="none" lIns="0" rIns="0" tIns="0" bIns="0">
            <a:spAutoFit/>
          </a:bodyPr>
          <a:lstStyle/>
          <a:p>
            <a:pPr>
              <a:lnSpc>
                <a:spcPct val="124000"/>
              </a:lnSpc>
              <a:spcBef>
                <a:spcPts val="0"/>
              </a:spcBef>
              <a:spcAft>
                <a:spcPts val="0"/>
              </a:spcAft>
              <a:defRPr sz="1900" b="0">
                <a:solidFill>
                  <a:srgbClr val="FFFFFF"/>
                </a:solidFill>
                <a:latin typeface="DejaVu Sans"/>
              </a:defRPr>
            </a:pPr>
            <a:r>
              <a:t>Next: learn drag</a:t>
            </a:r>
          </a:p>
          <a:p>
            <a:pPr>
              <a:lnSpc>
                <a:spcPct val="124000"/>
              </a:lnSpc>
              <a:spcBef>
                <a:spcPts val="0"/>
              </a:spcBef>
              <a:spcAft>
                <a:spcPts val="0"/>
              </a:spcAft>
              <a:defRPr sz="1900" b="0">
                <a:solidFill>
                  <a:srgbClr val="FFFFFF"/>
                </a:solidFill>
                <a:latin typeface="DejaVu Sans"/>
              </a:defRPr>
            </a:pPr>
            <a:r>
              <a:t>from noisy data.</a:t>
            </a:r>
          </a:p>
        </p:txBody>
      </p:sp>
      <p:sp>
        <p:nvSpPr>
          <p:cNvPr id="12" name="TextBox 11"/>
          <p:cNvSpPr txBox="1"/>
          <p:nvPr/>
        </p:nvSpPr>
        <p:spPr>
          <a:xfrm>
            <a:off x="640080" y="3977639"/>
            <a:ext cx="7552944" cy="442976"/>
          </a:xfrm>
          <a:prstGeom prst="rect">
            <a:avLst/>
          </a:prstGeom>
          <a:noFill/>
        </p:spPr>
        <p:txBody>
          <a:bodyPr wrap="none" lIns="0" rIns="0" tIns="0" bIns="0">
            <a:spAutoFit/>
          </a:bodyPr>
          <a:lstStyle/>
          <a:p>
            <a:pPr>
              <a:lnSpc>
                <a:spcPct val="124000"/>
              </a:lnSpc>
              <a:spcBef>
                <a:spcPts val="0"/>
              </a:spcBef>
              <a:spcAft>
                <a:spcPts val="0"/>
              </a:spcAft>
              <a:defRPr sz="2000" b="1">
                <a:solidFill>
                  <a:srgbClr val="FFFFFF"/>
                </a:solidFill>
                <a:latin typeface="DejaVu Sans"/>
              </a:defRPr>
            </a:pPr>
            <a:r>
              <a:t>10 MINUTES</a:t>
            </a:r>
          </a:p>
        </p:txBody>
      </p:sp>
      <p:sp>
        <p:nvSpPr>
          <p:cNvPr id="13" name="TextBox 12"/>
          <p:cNvSpPr txBox="1"/>
          <p:nvPr/>
        </p:nvSpPr>
        <p:spPr>
          <a:xfrm>
            <a:off x="640080" y="4553712"/>
            <a:ext cx="7370064" cy="458723"/>
          </a:xfrm>
          <a:prstGeom prst="rect">
            <a:avLst/>
          </a:prstGeom>
          <a:noFill/>
        </p:spPr>
        <p:txBody>
          <a:bodyPr wrap="none" lIns="0" rIns="0" tIns="0" bIns="0">
            <a:spAutoFit/>
          </a:bodyPr>
          <a:lstStyle/>
          <a:p>
            <a:pPr>
              <a:lnSpc>
                <a:spcPct val="124000"/>
              </a:lnSpc>
              <a:spcBef>
                <a:spcPts val="0"/>
              </a:spcBef>
              <a:spcAft>
                <a:spcPts val="0"/>
              </a:spcAft>
              <a:defRPr sz="2100" b="0">
                <a:solidFill>
                  <a:srgbClr val="D1D7DF"/>
                </a:solidFill>
                <a:latin typeface="DejaVu Sans"/>
              </a:defRPr>
            </a:pPr>
            <a:r>
              <a:t>Stretch. Ask a question. Keep your editor open.</a:t>
            </a:r>
          </a:p>
        </p:txBody>
      </p:sp>
      <p:sp>
        <p:nvSpPr>
          <p:cNvPr id="14" name="Rectangle 13"/>
          <p:cNvSpPr/>
          <p:nvPr/>
        </p:nvSpPr>
        <p:spPr>
          <a:xfrm>
            <a:off x="594360" y="6108192"/>
            <a:ext cx="54864" cy="228600"/>
          </a:xfrm>
          <a:prstGeom prst="rect">
            <a:avLst/>
          </a:prstGeom>
          <a:solidFill>
            <a:srgbClr val="CFB991"/>
          </a:solidFill>
          <a:ln>
            <a:noFill/>
          </a:ln>
        </p:spPr>
        <p:txBody>
          <a:bodyPr rtlCol="0" anchor="ctr"/>
          <a:lstStyle/>
          <a:p>
            <a:pPr algn="ctr"/>
          </a:p>
        </p:txBody>
      </p:sp>
      <p:sp>
        <p:nvSpPr>
          <p:cNvPr id="15" name="TextBox 14"/>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CFB991"/>
                </a:solidFill>
                <a:latin typeface="DejaVu Sans"/>
              </a:defRPr>
            </a:pPr>
            <a:r>
              <a:t>Worksheet and commands: WORKSHOP.md · scan the opening QR.</a:t>
            </a:r>
          </a:p>
        </p:txBody>
      </p:sp>
      <p:sp>
        <p:nvSpPr>
          <p:cNvPr id="16" name="Rectangle 15"/>
          <p:cNvSpPr/>
          <p:nvPr/>
        </p:nvSpPr>
        <p:spPr>
          <a:xfrm>
            <a:off x="594360" y="6519672"/>
            <a:ext cx="11000232" cy="13716"/>
          </a:xfrm>
          <a:prstGeom prst="rect">
            <a:avLst/>
          </a:prstGeom>
          <a:solidFill>
            <a:srgbClr val="344153"/>
          </a:solidFill>
          <a:ln>
            <a:noFill/>
          </a:ln>
        </p:spPr>
        <p:txBody>
          <a:bodyPr rtlCol="0" anchor="ctr"/>
          <a:lstStyle/>
          <a:p>
            <a:pPr algn="ctr"/>
          </a:p>
        </p:txBody>
      </p:sp>
      <p:sp>
        <p:nvSpPr>
          <p:cNvPr id="17" name="TextBox 16"/>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D1D7DF"/>
                </a:solidFill>
                <a:latin typeface="DejaVu Sans"/>
              </a:defRPr>
            </a:pPr>
            <a:r>
              <a:t>PURDUE AEROSPACE / GEORGIA TECH / AMC 2026</a:t>
            </a:r>
          </a:p>
        </p:txBody>
      </p:sp>
      <p:sp>
        <p:nvSpPr>
          <p:cNvPr id="18" name="Rectangle 17"/>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19" name="TextBox 18"/>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MODEL</a:t>
            </a:r>
          </a:p>
        </p:txBody>
      </p:sp>
      <p:sp>
        <p:nvSpPr>
          <p:cNvPr id="20" name="Rectangle 19"/>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1" name="TextBox 20"/>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CFB991"/>
                </a:solidFill>
                <a:latin typeface="DejaVu Sans"/>
              </a:defRPr>
            </a:pPr>
            <a:r>
              <a:t>FIT</a:t>
            </a:r>
          </a:p>
        </p:txBody>
      </p:sp>
      <p:sp>
        <p:nvSpPr>
          <p:cNvPr id="22" name="Rectangle 21"/>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3" name="TextBox 22"/>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OPTIMIZE</a:t>
            </a:r>
          </a:p>
        </p:txBody>
      </p:sp>
      <p:sp>
        <p:nvSpPr>
          <p:cNvPr id="24" name="TextBox 23"/>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CFB991"/>
                </a:solidFill>
                <a:latin typeface="DejaVu Sans"/>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345FB5"/>
                </a:solidFill>
                <a:latin typeface="DejaVu Sans"/>
              </a:defRPr>
            </a:pPr>
            <a:r>
              <a:t>SYNTHETIC DATA · SEED 20261012</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11:10–11:20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Known experiment. Unknown coefficients.</a:t>
            </a:r>
          </a:p>
        </p:txBody>
      </p:sp>
      <p:sp>
        <p:nvSpPr>
          <p:cNvPr id="7" name="Rectangle 6"/>
          <p:cNvSpPr/>
          <p:nvPr/>
        </p:nvSpPr>
        <p:spPr>
          <a:xfrm>
            <a:off x="594360" y="1508760"/>
            <a:ext cx="41148" cy="493776"/>
          </a:xfrm>
          <a:prstGeom prst="rect">
            <a:avLst/>
          </a:prstGeom>
          <a:solidFill>
            <a:srgbClr val="345FB5"/>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Three training flights; one held-out flight. 20 Hz, 8 s each.</a:t>
            </a:r>
          </a:p>
        </p:txBody>
      </p:sp>
      <p:sp>
        <p:nvSpPr>
          <p:cNvPr id="9" name="Rounded Rectangle 8"/>
          <p:cNvSpPr/>
          <p:nvPr/>
        </p:nvSpPr>
        <p:spPr>
          <a:xfrm>
            <a:off x="594360" y="2167128"/>
            <a:ext cx="11000232" cy="3511296"/>
          </a:xfrm>
          <a:prstGeom prst="roundRect">
            <a:avLst>
              <a:gd name="adj" fmla="val 8000"/>
            </a:avLst>
          </a:prstGeom>
          <a:solidFill>
            <a:srgbClr val="FFFFFF"/>
          </a:solidFill>
          <a:ln>
            <a:noFill/>
          </a:ln>
        </p:spPr>
        <p:txBody>
          <a:bodyPr rtlCol="0" anchor="ctr"/>
          <a:lstStyle/>
          <a:p>
            <a:pPr algn="ctr"/>
          </a:p>
        </p:txBody>
      </p:sp>
      <p:pic>
        <p:nvPicPr>
          <p:cNvPr id="10" name="Picture 9" descr="data-hero.png"/>
          <p:cNvPicPr>
            <a:picLocks noChangeAspect="1"/>
          </p:cNvPicPr>
          <p:nvPr/>
        </p:nvPicPr>
        <p:blipFill>
          <a:blip r:embed="rId2"/>
          <a:stretch>
            <a:fillRect/>
          </a:stretch>
        </p:blipFill>
        <p:spPr>
          <a:xfrm>
            <a:off x="1373872" y="2240280"/>
            <a:ext cx="9441206" cy="3364991"/>
          </a:xfrm>
          <a:prstGeom prst="rect">
            <a:avLst/>
          </a:prstGeom>
        </p:spPr>
      </p:pic>
      <p:sp>
        <p:nvSpPr>
          <p:cNvPr id="11" name="Rectangle 10"/>
          <p:cNvSpPr/>
          <p:nvPr/>
        </p:nvSpPr>
        <p:spPr>
          <a:xfrm>
            <a:off x="594360" y="6108192"/>
            <a:ext cx="54864" cy="228600"/>
          </a:xfrm>
          <a:prstGeom prst="rect">
            <a:avLst/>
          </a:prstGeom>
          <a:solidFill>
            <a:srgbClr val="345FB5"/>
          </a:solidFill>
          <a:ln>
            <a:noFill/>
          </a:ln>
        </p:spPr>
        <p:txBody>
          <a:bodyPr rtlCol="0" anchor="ctr"/>
          <a:lstStyle/>
          <a:p>
            <a:pPr algn="ctr"/>
          </a:p>
        </p:txBody>
      </p:sp>
      <p:sp>
        <p:nvSpPr>
          <p:cNvPr id="12" name="TextBox 11"/>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345FB5"/>
                </a:solidFill>
                <a:latin typeface="DejaVu Sans"/>
              </a:defRPr>
            </a:pPr>
            <a:r>
              <a:t>Speed variation helps separate linear and quadratic drag.</a:t>
            </a:r>
          </a:p>
        </p:txBody>
      </p:sp>
      <p:sp>
        <p:nvSpPr>
          <p:cNvPr id="13" name="Rectangle 12"/>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14" name="TextBox 13"/>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15" name="Rectangle 14"/>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16" name="TextBox 15"/>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MODEL</a:t>
            </a:r>
          </a:p>
        </p:txBody>
      </p:sp>
      <p:sp>
        <p:nvSpPr>
          <p:cNvPr id="17" name="Rectangle 16"/>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18" name="TextBox 17"/>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FIT</a:t>
            </a:r>
          </a:p>
        </p:txBody>
      </p:sp>
      <p:sp>
        <p:nvSpPr>
          <p:cNvPr id="19" name="Rectangle 18"/>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0" name="TextBox 19"/>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21" name="TextBox 20"/>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345FB5"/>
                </a:solidFill>
                <a:latin typeface="DejaVu Sans"/>
              </a:defRPr>
            </a:pPr>
            <a: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345FB5"/>
                </a:solidFill>
                <a:latin typeface="DejaVu Sans"/>
              </a:defRPr>
            </a:pPr>
            <a:r>
              <a:t>JAX AUTODIFF THROUGH GENERATED PHYSICS + RK4</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11:20–11:30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Differentiate the prediction error</a:t>
            </a:r>
          </a:p>
        </p:txBody>
      </p:sp>
      <p:sp>
        <p:nvSpPr>
          <p:cNvPr id="7" name="Rectangle 6"/>
          <p:cNvSpPr/>
          <p:nvPr/>
        </p:nvSpPr>
        <p:spPr>
          <a:xfrm>
            <a:off x="594360" y="1508760"/>
            <a:ext cx="41148" cy="493776"/>
          </a:xfrm>
          <a:prstGeom prst="rect">
            <a:avLst/>
          </a:prstGeom>
          <a:solidFill>
            <a:srgbClr val="345FB5"/>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Positive parameters; noise-scaled loss; bounded optimization</a:t>
            </a:r>
          </a:p>
        </p:txBody>
      </p:sp>
      <p:sp>
        <p:nvSpPr>
          <p:cNvPr id="9" name="Rounded Rectangle 8"/>
          <p:cNvSpPr/>
          <p:nvPr/>
        </p:nvSpPr>
        <p:spPr>
          <a:xfrm>
            <a:off x="594360" y="2167128"/>
            <a:ext cx="11000232" cy="3511296"/>
          </a:xfrm>
          <a:prstGeom prst="roundRect">
            <a:avLst>
              <a:gd name="adj" fmla="val 8000"/>
            </a:avLst>
          </a:prstGeom>
          <a:solidFill>
            <a:srgbClr val="FFFFFF"/>
          </a:solidFill>
          <a:ln>
            <a:noFill/>
          </a:ln>
        </p:spPr>
        <p:txBody>
          <a:bodyPr rtlCol="0" anchor="ctr"/>
          <a:lstStyle/>
          <a:p>
            <a:pPr algn="ctr"/>
          </a:p>
        </p:txBody>
      </p:sp>
      <p:pic>
        <p:nvPicPr>
          <p:cNvPr id="10" name="Picture 9" descr="fit-workflow.png"/>
          <p:cNvPicPr>
            <a:picLocks noChangeAspect="1"/>
          </p:cNvPicPr>
          <p:nvPr/>
        </p:nvPicPr>
        <p:blipFill>
          <a:blip r:embed="rId2"/>
          <a:stretch>
            <a:fillRect/>
          </a:stretch>
        </p:blipFill>
        <p:spPr>
          <a:xfrm>
            <a:off x="1573682" y="2240280"/>
            <a:ext cx="9041587" cy="3364991"/>
          </a:xfrm>
          <a:prstGeom prst="rect">
            <a:avLst/>
          </a:prstGeom>
        </p:spPr>
      </p:pic>
      <p:sp>
        <p:nvSpPr>
          <p:cNvPr id="11" name="Rectangle 10"/>
          <p:cNvSpPr/>
          <p:nvPr/>
        </p:nvSpPr>
        <p:spPr>
          <a:xfrm>
            <a:off x="594360" y="6108192"/>
            <a:ext cx="54864" cy="228600"/>
          </a:xfrm>
          <a:prstGeom prst="rect">
            <a:avLst/>
          </a:prstGeom>
          <a:solidFill>
            <a:srgbClr val="345FB5"/>
          </a:solidFill>
          <a:ln>
            <a:noFill/>
          </a:ln>
        </p:spPr>
        <p:txBody>
          <a:bodyPr rtlCol="0" anchor="ctr"/>
          <a:lstStyle/>
          <a:p>
            <a:pPr algn="ctr"/>
          </a:p>
        </p:txBody>
      </p:sp>
      <p:sp>
        <p:nvSpPr>
          <p:cNvPr id="12" name="TextBox 11"/>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345FB5"/>
                </a:solidFill>
                <a:latin typeface="DejaVu Sans"/>
              </a:defRPr>
            </a:pPr>
            <a:r>
              <a:t>JAX provides gradients. SciPy updates the coefficients.</a:t>
            </a:r>
          </a:p>
        </p:txBody>
      </p:sp>
      <p:sp>
        <p:nvSpPr>
          <p:cNvPr id="13" name="Rectangle 12"/>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14" name="TextBox 13"/>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15" name="Rectangle 14"/>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16" name="TextBox 15"/>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MODEL</a:t>
            </a:r>
          </a:p>
        </p:txBody>
      </p:sp>
      <p:sp>
        <p:nvSpPr>
          <p:cNvPr id="17" name="Rectangle 16"/>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18" name="TextBox 17"/>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FIT</a:t>
            </a:r>
          </a:p>
        </p:txBody>
      </p:sp>
      <p:sp>
        <p:nvSpPr>
          <p:cNvPr id="19" name="Rectangle 18"/>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0" name="TextBox 19"/>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21" name="TextBox 20"/>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345FB5"/>
                </a:solidFill>
                <a:latin typeface="DejaVu Sans"/>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345FB5"/>
                </a:solidFill>
                <a:latin typeface="DejaVu Sans"/>
              </a:defRPr>
            </a:pPr>
            <a:r>
              <a:t>HANDS-ON · ESTIMATES ≈ 0.18042 AND 0.07991</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11:30–11:50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Run the fit. Test the held-out flight.</a:t>
            </a:r>
          </a:p>
        </p:txBody>
      </p:sp>
      <p:sp>
        <p:nvSpPr>
          <p:cNvPr id="7" name="Rectangle 6"/>
          <p:cNvSpPr/>
          <p:nvPr/>
        </p:nvSpPr>
        <p:spPr>
          <a:xfrm>
            <a:off x="594360" y="1508760"/>
            <a:ext cx="41148" cy="493776"/>
          </a:xfrm>
          <a:prstGeom prst="rect">
            <a:avLst/>
          </a:prstGeom>
          <a:solidFill>
            <a:srgbClr val="345FB5"/>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Open fit_drag.png and fit_drag.json; compare before and after.</a:t>
            </a:r>
          </a:p>
        </p:txBody>
      </p:sp>
      <p:sp>
        <p:nvSpPr>
          <p:cNvPr id="9" name="Rounded Rectangle 8"/>
          <p:cNvSpPr/>
          <p:nvPr/>
        </p:nvSpPr>
        <p:spPr>
          <a:xfrm>
            <a:off x="594360" y="2167128"/>
            <a:ext cx="11000232" cy="3191256"/>
          </a:xfrm>
          <a:prstGeom prst="roundRect">
            <a:avLst>
              <a:gd name="adj" fmla="val 8000"/>
            </a:avLst>
          </a:prstGeom>
          <a:solidFill>
            <a:srgbClr val="FFFFFF"/>
          </a:solidFill>
          <a:ln>
            <a:noFill/>
          </a:ln>
        </p:spPr>
        <p:txBody>
          <a:bodyPr rtlCol="0" anchor="ctr"/>
          <a:lstStyle/>
          <a:p>
            <a:pPr algn="ctr"/>
          </a:p>
        </p:txBody>
      </p:sp>
      <p:pic>
        <p:nvPicPr>
          <p:cNvPr id="10" name="Picture 9" descr="fit-hero.png"/>
          <p:cNvPicPr>
            <a:picLocks noChangeAspect="1"/>
          </p:cNvPicPr>
          <p:nvPr/>
        </p:nvPicPr>
        <p:blipFill>
          <a:blip r:embed="rId2"/>
          <a:stretch>
            <a:fillRect/>
          </a:stretch>
        </p:blipFill>
        <p:spPr>
          <a:xfrm>
            <a:off x="2009581" y="2240280"/>
            <a:ext cx="8169789" cy="3044952"/>
          </a:xfrm>
          <a:prstGeom prst="rect">
            <a:avLst/>
          </a:prstGeom>
        </p:spPr>
      </p:pic>
      <p:sp>
        <p:nvSpPr>
          <p:cNvPr id="11" name="Rounded Rectangle 10"/>
          <p:cNvSpPr/>
          <p:nvPr/>
        </p:nvSpPr>
        <p:spPr>
          <a:xfrm>
            <a:off x="594360" y="5559552"/>
            <a:ext cx="11000232" cy="438912"/>
          </a:xfrm>
          <a:prstGeom prst="roundRect">
            <a:avLst>
              <a:gd name="adj" fmla="val 8000"/>
            </a:avLst>
          </a:prstGeom>
          <a:solidFill>
            <a:srgbClr val="131D2A"/>
          </a:solidFill>
          <a:ln>
            <a:noFill/>
          </a:ln>
        </p:spPr>
        <p:txBody>
          <a:bodyPr rtlCol="0" anchor="ctr"/>
          <a:lstStyle/>
          <a:p>
            <a:pPr algn="ctr"/>
          </a:p>
        </p:txBody>
      </p:sp>
      <p:sp>
        <p:nvSpPr>
          <p:cNvPr id="12" name="TextBox 11"/>
          <p:cNvSpPr txBox="1"/>
          <p:nvPr/>
        </p:nvSpPr>
        <p:spPr>
          <a:xfrm>
            <a:off x="777240" y="5650992"/>
            <a:ext cx="10753344" cy="411480"/>
          </a:xfrm>
          <a:prstGeom prst="rect">
            <a:avLst/>
          </a:prstGeom>
          <a:noFill/>
        </p:spPr>
        <p:txBody>
          <a:bodyPr wrap="none" lIns="0" rIns="0" tIns="0" bIns="0">
            <a:spAutoFit/>
          </a:bodyPr>
          <a:lstStyle/>
          <a:p>
            <a:pPr>
              <a:lnSpc>
                <a:spcPct val="124000"/>
              </a:lnSpc>
              <a:spcBef>
                <a:spcPts val="0"/>
              </a:spcBef>
              <a:spcAft>
                <a:spcPts val="0"/>
              </a:spcAft>
              <a:defRPr sz="1800" b="0">
                <a:solidFill>
                  <a:srgbClr val="FFFFFF"/>
                </a:solidFill>
                <a:latin typeface="DejaVu Sans Mono"/>
              </a:defRPr>
            </a:pPr>
            <a:r>
              <a:t>$ uv run --frozen python scripts/fit_drag_jax.py</a:t>
            </a:r>
          </a:p>
        </p:txBody>
      </p:sp>
      <p:sp>
        <p:nvSpPr>
          <p:cNvPr id="13" name="Rectangle 12"/>
          <p:cNvSpPr/>
          <p:nvPr/>
        </p:nvSpPr>
        <p:spPr>
          <a:xfrm>
            <a:off x="594360" y="6108192"/>
            <a:ext cx="54864" cy="228600"/>
          </a:xfrm>
          <a:prstGeom prst="rect">
            <a:avLst/>
          </a:prstGeom>
          <a:solidFill>
            <a:srgbClr val="345FB5"/>
          </a:solidFill>
          <a:ln>
            <a:noFill/>
          </a:ln>
        </p:spPr>
        <p:txBody>
          <a:bodyPr rtlCol="0" anchor="ctr"/>
          <a:lstStyle/>
          <a:p>
            <a:pPr algn="ctr"/>
          </a:p>
        </p:txBody>
      </p:sp>
      <p:sp>
        <p:nvSpPr>
          <p:cNvPr id="14" name="TextBox 13"/>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345FB5"/>
                </a:solidFill>
                <a:latin typeface="DejaVu Sans"/>
              </a:defRPr>
            </a:pPr>
            <a:r>
              <a:t>Two coefficients · lower loss · improved held-out prediction</a:t>
            </a:r>
          </a:p>
        </p:txBody>
      </p:sp>
      <p:sp>
        <p:nvSpPr>
          <p:cNvPr id="15" name="Rectangle 14"/>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16" name="TextBox 15"/>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17" name="Rectangle 16"/>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18" name="TextBox 17"/>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MODEL</a:t>
            </a:r>
          </a:p>
        </p:txBody>
      </p:sp>
      <p:sp>
        <p:nvSpPr>
          <p:cNvPr id="19" name="Rectangle 18"/>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0" name="TextBox 19"/>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FIT</a:t>
            </a:r>
          </a:p>
        </p:txBody>
      </p:sp>
      <p:sp>
        <p:nvSpPr>
          <p:cNvPr id="21" name="Rectangle 20"/>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2" name="TextBox 21"/>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23" name="TextBox 22"/>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345FB5"/>
                </a:solidFill>
                <a:latin typeface="DejaVu Sans"/>
              </a:defRPr>
            </a:pPr>
            <a: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345FB5"/>
                </a:solidFill>
                <a:latin typeface="DejaVu Sans"/>
              </a:defRPr>
            </a:pPr>
            <a:r>
              <a:t>CHECKPOINT · GO DEEPER AT YOUR OWN PACE</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11:50–11:55</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Check your result. Keep building.</a:t>
            </a:r>
          </a:p>
        </p:txBody>
      </p:sp>
      <p:sp>
        <p:nvSpPr>
          <p:cNvPr id="7" name="Rounded Rectangle 6"/>
          <p:cNvSpPr/>
          <p:nvPr/>
        </p:nvSpPr>
        <p:spPr>
          <a:xfrm>
            <a:off x="594360" y="1600200"/>
            <a:ext cx="5321808" cy="1783080"/>
          </a:xfrm>
          <a:prstGeom prst="roundRect">
            <a:avLst>
              <a:gd name="adj" fmla="val 8000"/>
            </a:avLst>
          </a:prstGeom>
          <a:solidFill>
            <a:srgbClr val="FFFFFF"/>
          </a:solidFill>
          <a:ln>
            <a:noFill/>
          </a:ln>
        </p:spPr>
        <p:txBody>
          <a:bodyPr rtlCol="0" anchor="ctr"/>
          <a:lstStyle/>
          <a:p>
            <a:pPr algn="ctr"/>
          </a:p>
        </p:txBody>
      </p:sp>
      <p:sp>
        <p:nvSpPr>
          <p:cNvPr id="8" name="TextBox 7"/>
          <p:cNvSpPr txBox="1"/>
          <p:nvPr/>
        </p:nvSpPr>
        <p:spPr>
          <a:xfrm>
            <a:off x="822960" y="181051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007E87"/>
                </a:solidFill>
                <a:latin typeface="DejaVu Sans"/>
              </a:defRPr>
            </a:pPr>
            <a:r>
              <a:t>01</a:t>
            </a:r>
          </a:p>
        </p:txBody>
      </p:sp>
      <p:sp>
        <p:nvSpPr>
          <p:cNvPr id="9" name="TextBox 8"/>
          <p:cNvSpPr txBox="1"/>
          <p:nvPr/>
        </p:nvSpPr>
        <p:spPr>
          <a:xfrm>
            <a:off x="1627631" y="1874519"/>
            <a:ext cx="4078224" cy="1261872"/>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Open your</a:t>
            </a:r>
          </a:p>
          <a:p>
            <a:pPr>
              <a:lnSpc>
                <a:spcPct val="124000"/>
              </a:lnSpc>
              <a:spcBef>
                <a:spcPts val="0"/>
              </a:spcBef>
              <a:spcAft>
                <a:spcPts val="0"/>
              </a:spcAft>
              <a:defRPr sz="2400" b="0">
                <a:solidFill>
                  <a:srgbClr val="131D2A"/>
                </a:solidFill>
                <a:latin typeface="DejaVu Sans"/>
              </a:defRPr>
            </a:pPr>
            <a:r>
              <a:t>before-and-after</a:t>
            </a:r>
          </a:p>
          <a:p>
            <a:pPr>
              <a:lnSpc>
                <a:spcPct val="124000"/>
              </a:lnSpc>
              <a:spcBef>
                <a:spcPts val="0"/>
              </a:spcBef>
              <a:spcAft>
                <a:spcPts val="0"/>
              </a:spcAft>
              <a:defRPr sz="2400" b="0">
                <a:solidFill>
                  <a:srgbClr val="131D2A"/>
                </a:solidFill>
                <a:latin typeface="DejaVu Sans"/>
              </a:defRPr>
            </a:pPr>
            <a:r>
              <a:t>prediction plot</a:t>
            </a:r>
          </a:p>
        </p:txBody>
      </p:sp>
      <p:sp>
        <p:nvSpPr>
          <p:cNvPr id="10" name="Rectangle 9"/>
          <p:cNvSpPr/>
          <p:nvPr/>
        </p:nvSpPr>
        <p:spPr>
          <a:xfrm>
            <a:off x="822960" y="3081528"/>
            <a:ext cx="438912" cy="50292"/>
          </a:xfrm>
          <a:prstGeom prst="rect">
            <a:avLst/>
          </a:prstGeom>
          <a:solidFill>
            <a:srgbClr val="007E87"/>
          </a:solidFill>
          <a:ln>
            <a:noFill/>
          </a:ln>
        </p:spPr>
        <p:txBody>
          <a:bodyPr rtlCol="0" anchor="ctr"/>
          <a:lstStyle/>
          <a:p>
            <a:pPr algn="ctr"/>
          </a:p>
        </p:txBody>
      </p:sp>
      <p:sp>
        <p:nvSpPr>
          <p:cNvPr id="11" name="Rounded Rectangle 10"/>
          <p:cNvSpPr/>
          <p:nvPr/>
        </p:nvSpPr>
        <p:spPr>
          <a:xfrm>
            <a:off x="6236208" y="1600200"/>
            <a:ext cx="5321808" cy="1783080"/>
          </a:xfrm>
          <a:prstGeom prst="roundRect">
            <a:avLst>
              <a:gd name="adj" fmla="val 8000"/>
            </a:avLst>
          </a:prstGeom>
          <a:solidFill>
            <a:srgbClr val="FFFFFF"/>
          </a:solidFill>
          <a:ln>
            <a:noFill/>
          </a:ln>
        </p:spPr>
        <p:txBody>
          <a:bodyPr rtlCol="0" anchor="ctr"/>
          <a:lstStyle/>
          <a:p>
            <a:pPr algn="ctr"/>
          </a:p>
        </p:txBody>
      </p:sp>
      <p:sp>
        <p:nvSpPr>
          <p:cNvPr id="12" name="TextBox 11"/>
          <p:cNvSpPr txBox="1"/>
          <p:nvPr/>
        </p:nvSpPr>
        <p:spPr>
          <a:xfrm>
            <a:off x="6464808" y="181051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345FB5"/>
                </a:solidFill>
                <a:latin typeface="DejaVu Sans"/>
              </a:defRPr>
            </a:pPr>
            <a:r>
              <a:t>02</a:t>
            </a:r>
          </a:p>
        </p:txBody>
      </p:sp>
      <p:sp>
        <p:nvSpPr>
          <p:cNvPr id="13" name="TextBox 12"/>
          <p:cNvSpPr txBox="1"/>
          <p:nvPr/>
        </p:nvSpPr>
        <p:spPr>
          <a:xfrm>
            <a:off x="7269480" y="1874519"/>
            <a:ext cx="4078224" cy="883920"/>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Compare the held-out</a:t>
            </a:r>
          </a:p>
          <a:p>
            <a:pPr>
              <a:lnSpc>
                <a:spcPct val="124000"/>
              </a:lnSpc>
              <a:spcBef>
                <a:spcPts val="0"/>
              </a:spcBef>
              <a:spcAft>
                <a:spcPts val="0"/>
              </a:spcAft>
              <a:defRPr sz="2400" b="0">
                <a:solidFill>
                  <a:srgbClr val="131D2A"/>
                </a:solidFill>
                <a:latin typeface="DejaVu Sans"/>
              </a:defRPr>
            </a:pPr>
            <a:r>
              <a:t>flight and fitted values</a:t>
            </a:r>
          </a:p>
        </p:txBody>
      </p:sp>
      <p:sp>
        <p:nvSpPr>
          <p:cNvPr id="14" name="Rectangle 13"/>
          <p:cNvSpPr/>
          <p:nvPr/>
        </p:nvSpPr>
        <p:spPr>
          <a:xfrm>
            <a:off x="6464808" y="3081528"/>
            <a:ext cx="438912" cy="50292"/>
          </a:xfrm>
          <a:prstGeom prst="rect">
            <a:avLst/>
          </a:prstGeom>
          <a:solidFill>
            <a:srgbClr val="345FB5"/>
          </a:solidFill>
          <a:ln>
            <a:noFill/>
          </a:ln>
        </p:spPr>
        <p:txBody>
          <a:bodyPr rtlCol="0" anchor="ctr"/>
          <a:lstStyle/>
          <a:p>
            <a:pPr algn="ctr"/>
          </a:p>
        </p:txBody>
      </p:sp>
      <p:sp>
        <p:nvSpPr>
          <p:cNvPr id="15" name="Rounded Rectangle 14"/>
          <p:cNvSpPr/>
          <p:nvPr/>
        </p:nvSpPr>
        <p:spPr>
          <a:xfrm>
            <a:off x="594360" y="3566160"/>
            <a:ext cx="5321808" cy="1783080"/>
          </a:xfrm>
          <a:prstGeom prst="roundRect">
            <a:avLst>
              <a:gd name="adj" fmla="val 8000"/>
            </a:avLst>
          </a:prstGeom>
          <a:solidFill>
            <a:srgbClr val="FFFFFF"/>
          </a:solidFill>
          <a:ln>
            <a:noFill/>
          </a:ln>
        </p:spPr>
        <p:txBody>
          <a:bodyPr rtlCol="0" anchor="ctr"/>
          <a:lstStyle/>
          <a:p>
            <a:pPr algn="ctr"/>
          </a:p>
        </p:txBody>
      </p:sp>
      <p:sp>
        <p:nvSpPr>
          <p:cNvPr id="16" name="TextBox 15"/>
          <p:cNvSpPr txBox="1"/>
          <p:nvPr/>
        </p:nvSpPr>
        <p:spPr>
          <a:xfrm>
            <a:off x="822960" y="377647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B65131"/>
                </a:solidFill>
                <a:latin typeface="DejaVu Sans"/>
              </a:defRPr>
            </a:pPr>
            <a:r>
              <a:t>03</a:t>
            </a:r>
          </a:p>
        </p:txBody>
      </p:sp>
      <p:sp>
        <p:nvSpPr>
          <p:cNvPr id="17" name="TextBox 16"/>
          <p:cNvSpPr txBox="1"/>
          <p:nvPr/>
        </p:nvSpPr>
        <p:spPr>
          <a:xfrm>
            <a:off x="1627631" y="3840480"/>
            <a:ext cx="4078224" cy="883920"/>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Stretch: rerun from</a:t>
            </a:r>
          </a:p>
          <a:p>
            <a:pPr>
              <a:lnSpc>
                <a:spcPct val="124000"/>
              </a:lnSpc>
              <a:spcBef>
                <a:spcPts val="0"/>
              </a:spcBef>
              <a:spcAft>
                <a:spcPts val="0"/>
              </a:spcAft>
              <a:defRPr sz="2400" b="0">
                <a:solidFill>
                  <a:srgbClr val="131D2A"/>
                </a:solidFill>
                <a:latin typeface="DejaVu Sans"/>
              </a:defRPr>
            </a:pPr>
            <a:r>
              <a:t>another starting guess</a:t>
            </a:r>
          </a:p>
        </p:txBody>
      </p:sp>
      <p:sp>
        <p:nvSpPr>
          <p:cNvPr id="18" name="Rectangle 17"/>
          <p:cNvSpPr/>
          <p:nvPr/>
        </p:nvSpPr>
        <p:spPr>
          <a:xfrm>
            <a:off x="822960" y="5047488"/>
            <a:ext cx="438912" cy="50292"/>
          </a:xfrm>
          <a:prstGeom prst="rect">
            <a:avLst/>
          </a:prstGeom>
          <a:solidFill>
            <a:srgbClr val="B65131"/>
          </a:solidFill>
          <a:ln>
            <a:noFill/>
          </a:ln>
        </p:spPr>
        <p:txBody>
          <a:bodyPr rtlCol="0" anchor="ctr"/>
          <a:lstStyle/>
          <a:p>
            <a:pPr algn="ctr"/>
          </a:p>
        </p:txBody>
      </p:sp>
      <p:sp>
        <p:nvSpPr>
          <p:cNvPr id="19" name="Rounded Rectangle 18"/>
          <p:cNvSpPr/>
          <p:nvPr/>
        </p:nvSpPr>
        <p:spPr>
          <a:xfrm>
            <a:off x="6236208" y="3566160"/>
            <a:ext cx="5321808" cy="1783080"/>
          </a:xfrm>
          <a:prstGeom prst="roundRect">
            <a:avLst>
              <a:gd name="adj" fmla="val 8000"/>
            </a:avLst>
          </a:prstGeom>
          <a:solidFill>
            <a:srgbClr val="FFFFFF"/>
          </a:solidFill>
          <a:ln>
            <a:noFill/>
          </a:ln>
        </p:spPr>
        <p:txBody>
          <a:bodyPr rtlCol="0" anchor="ctr"/>
          <a:lstStyle/>
          <a:p>
            <a:pPr algn="ctr"/>
          </a:p>
        </p:txBody>
      </p:sp>
      <p:sp>
        <p:nvSpPr>
          <p:cNvPr id="20" name="TextBox 19"/>
          <p:cNvSpPr txBox="1"/>
          <p:nvPr/>
        </p:nvSpPr>
        <p:spPr>
          <a:xfrm>
            <a:off x="6464808" y="377647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007E87"/>
                </a:solidFill>
                <a:latin typeface="DejaVu Sans"/>
              </a:defRPr>
            </a:pPr>
            <a:r>
              <a:t>04</a:t>
            </a:r>
          </a:p>
        </p:txBody>
      </p:sp>
      <p:sp>
        <p:nvSpPr>
          <p:cNvPr id="21" name="TextBox 20"/>
          <p:cNvSpPr txBox="1"/>
          <p:nvPr/>
        </p:nvSpPr>
        <p:spPr>
          <a:xfrm>
            <a:off x="7269480" y="3840480"/>
            <a:ext cx="4078224" cy="883920"/>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App builders: keep your</a:t>
            </a:r>
          </a:p>
          <a:p>
            <a:pPr>
              <a:lnSpc>
                <a:spcPct val="124000"/>
              </a:lnSpc>
              <a:spcBef>
                <a:spcPts val="0"/>
              </a:spcBef>
              <a:spcAft>
                <a:spcPts val="0"/>
              </a:spcAft>
              <a:defRPr sz="2400" b="0">
                <a:solidFill>
                  <a:srgbClr val="131D2A"/>
                </a:solidFill>
                <a:latin typeface="DejaVu Sans"/>
              </a:defRPr>
            </a:pPr>
            <a:r>
              <a:t>prototype moving</a:t>
            </a:r>
          </a:p>
        </p:txBody>
      </p:sp>
      <p:sp>
        <p:nvSpPr>
          <p:cNvPr id="22" name="Rectangle 21"/>
          <p:cNvSpPr/>
          <p:nvPr/>
        </p:nvSpPr>
        <p:spPr>
          <a:xfrm>
            <a:off x="6464808" y="5047488"/>
            <a:ext cx="438912" cy="50292"/>
          </a:xfrm>
          <a:prstGeom prst="rect">
            <a:avLst/>
          </a:prstGeom>
          <a:solidFill>
            <a:srgbClr val="007E87"/>
          </a:solidFill>
          <a:ln>
            <a:noFill/>
          </a:ln>
        </p:spPr>
        <p:txBody>
          <a:bodyPr rtlCol="0" anchor="ctr"/>
          <a:lstStyle/>
          <a:p>
            <a:pPr algn="ctr"/>
          </a:p>
        </p:txBody>
      </p:sp>
      <p:sp>
        <p:nvSpPr>
          <p:cNvPr id="23" name="Rectangle 22"/>
          <p:cNvSpPr/>
          <p:nvPr/>
        </p:nvSpPr>
        <p:spPr>
          <a:xfrm>
            <a:off x="594360" y="6108192"/>
            <a:ext cx="54864" cy="228600"/>
          </a:xfrm>
          <a:prstGeom prst="rect">
            <a:avLst/>
          </a:prstGeom>
          <a:solidFill>
            <a:srgbClr val="345FB5"/>
          </a:solidFill>
          <a:ln>
            <a:noFill/>
          </a:ln>
        </p:spPr>
        <p:txBody>
          <a:bodyPr rtlCol="0" anchor="ctr"/>
          <a:lstStyle/>
          <a:p>
            <a:pPr algn="ctr"/>
          </a:p>
        </p:txBody>
      </p:sp>
      <p:sp>
        <p:nvSpPr>
          <p:cNvPr id="24" name="TextBox 23"/>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345FB5"/>
                </a:solidFill>
                <a:latin typeface="DejaVu Sans"/>
              </a:defRPr>
            </a:pPr>
            <a:r>
              <a:t>Fit complete? Continue your app or explore the optional checks.</a:t>
            </a:r>
          </a:p>
        </p:txBody>
      </p:sp>
      <p:sp>
        <p:nvSpPr>
          <p:cNvPr id="25" name="Rectangle 24"/>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26" name="TextBox 25"/>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27" name="Rectangle 26"/>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28" name="TextBox 27"/>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MODEL</a:t>
            </a:r>
          </a:p>
        </p:txBody>
      </p:sp>
      <p:sp>
        <p:nvSpPr>
          <p:cNvPr id="29" name="Rectangle 28"/>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30" name="TextBox 29"/>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FIT</a:t>
            </a:r>
          </a:p>
        </p:txBody>
      </p:sp>
      <p:sp>
        <p:nvSpPr>
          <p:cNvPr id="31" name="Rectangle 30"/>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32" name="TextBox 31"/>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33" name="TextBox 32"/>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345FB5"/>
                </a:solidFill>
                <a:latin typeface="DejaVu Sans"/>
              </a:defRPr>
            </a:pPr>
            <a: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345FB5"/>
                </a:solidFill>
                <a:latin typeface="DejaVu Sans"/>
              </a:defRPr>
            </a:pPr>
            <a:r>
              <a:t>EXTENSIBILITY DEMO · SAME VEHICLE · LINUX CPU / CODESPACES</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11:55–12:00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Make a target. Learn a policy.</a:t>
            </a:r>
          </a:p>
        </p:txBody>
      </p:sp>
      <p:sp>
        <p:nvSpPr>
          <p:cNvPr id="7" name="Rectangle 6"/>
          <p:cNvSpPr/>
          <p:nvPr/>
        </p:nvSpPr>
        <p:spPr>
          <a:xfrm>
            <a:off x="594360" y="1508760"/>
            <a:ext cx="41148" cy="493776"/>
          </a:xfrm>
          <a:prstGeom prst="rect">
            <a:avLst/>
          </a:prstGeom>
          <a:solidFill>
            <a:srgbClr val="345FB5"/>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target.toml → generated Torch → differentiable policy learning</a:t>
            </a:r>
          </a:p>
        </p:txBody>
      </p:sp>
      <p:sp>
        <p:nvSpPr>
          <p:cNvPr id="9" name="Rounded Rectangle 8"/>
          <p:cNvSpPr/>
          <p:nvPr/>
        </p:nvSpPr>
        <p:spPr>
          <a:xfrm>
            <a:off x="594360" y="2167128"/>
            <a:ext cx="11000232" cy="3191256"/>
          </a:xfrm>
          <a:prstGeom prst="roundRect">
            <a:avLst>
              <a:gd name="adj" fmla="val 8000"/>
            </a:avLst>
          </a:prstGeom>
          <a:solidFill>
            <a:srgbClr val="FFFFFF"/>
          </a:solidFill>
          <a:ln>
            <a:noFill/>
          </a:ln>
        </p:spPr>
        <p:txBody>
          <a:bodyPr rtlCol="0" anchor="ctr"/>
          <a:lstStyle/>
          <a:p>
            <a:pPr algn="ctr"/>
          </a:p>
        </p:txBody>
      </p:sp>
      <p:pic>
        <p:nvPicPr>
          <p:cNvPr id="10" name="Picture 9" descr="torch_policy.png"/>
          <p:cNvPicPr>
            <a:picLocks noChangeAspect="1"/>
          </p:cNvPicPr>
          <p:nvPr/>
        </p:nvPicPr>
        <p:blipFill>
          <a:blip r:embed="rId2"/>
          <a:stretch>
            <a:fillRect/>
          </a:stretch>
        </p:blipFill>
        <p:spPr>
          <a:xfrm>
            <a:off x="1907667" y="2240280"/>
            <a:ext cx="8373618" cy="3044952"/>
          </a:xfrm>
          <a:prstGeom prst="rect">
            <a:avLst/>
          </a:prstGeom>
        </p:spPr>
      </p:pic>
      <p:sp>
        <p:nvSpPr>
          <p:cNvPr id="11" name="Rounded Rectangle 10"/>
          <p:cNvSpPr/>
          <p:nvPr/>
        </p:nvSpPr>
        <p:spPr>
          <a:xfrm>
            <a:off x="594360" y="5559552"/>
            <a:ext cx="11000232" cy="438912"/>
          </a:xfrm>
          <a:prstGeom prst="roundRect">
            <a:avLst>
              <a:gd name="adj" fmla="val 8000"/>
            </a:avLst>
          </a:prstGeom>
          <a:solidFill>
            <a:srgbClr val="131D2A"/>
          </a:solidFill>
          <a:ln>
            <a:noFill/>
          </a:ln>
        </p:spPr>
        <p:txBody>
          <a:bodyPr rtlCol="0" anchor="ctr"/>
          <a:lstStyle/>
          <a:p>
            <a:pPr algn="ctr"/>
          </a:p>
        </p:txBody>
      </p:sp>
      <p:sp>
        <p:nvSpPr>
          <p:cNvPr id="12" name="TextBox 11"/>
          <p:cNvSpPr txBox="1"/>
          <p:nvPr/>
        </p:nvSpPr>
        <p:spPr>
          <a:xfrm>
            <a:off x="777240" y="5650992"/>
            <a:ext cx="10753344" cy="411480"/>
          </a:xfrm>
          <a:prstGeom prst="rect">
            <a:avLst/>
          </a:prstGeom>
          <a:noFill/>
        </p:spPr>
        <p:txBody>
          <a:bodyPr wrap="none" lIns="0" rIns="0" tIns="0" bIns="0">
            <a:spAutoFit/>
          </a:bodyPr>
          <a:lstStyle/>
          <a:p>
            <a:pPr>
              <a:lnSpc>
                <a:spcPct val="124000"/>
              </a:lnSpc>
              <a:spcBef>
                <a:spcPts val="0"/>
              </a:spcBef>
              <a:spcAft>
                <a:spcPts val="0"/>
              </a:spcAft>
              <a:defRPr sz="1800" b="0">
                <a:solidFill>
                  <a:srgbClr val="FFFFFF"/>
                </a:solidFill>
                <a:latin typeface="DejaVu Sans Mono"/>
              </a:defRPr>
            </a:pPr>
            <a:r>
              <a:t>$ uv run --frozen --group torch python scripts/learn_hover_torch.py</a:t>
            </a:r>
          </a:p>
        </p:txBody>
      </p:sp>
      <p:sp>
        <p:nvSpPr>
          <p:cNvPr id="13" name="Rectangle 12"/>
          <p:cNvSpPr/>
          <p:nvPr/>
        </p:nvSpPr>
        <p:spPr>
          <a:xfrm>
            <a:off x="594360" y="6108192"/>
            <a:ext cx="54864" cy="228600"/>
          </a:xfrm>
          <a:prstGeom prst="rect">
            <a:avLst/>
          </a:prstGeom>
          <a:solidFill>
            <a:srgbClr val="345FB5"/>
          </a:solidFill>
          <a:ln>
            <a:noFill/>
          </a:ln>
        </p:spPr>
        <p:txBody>
          <a:bodyPr rtlCol="0" anchor="ctr"/>
          <a:lstStyle/>
          <a:p>
            <a:pPr algn="ctr"/>
          </a:p>
        </p:txBody>
      </p:sp>
      <p:sp>
        <p:nvSpPr>
          <p:cNvPr id="14" name="TextBox 13"/>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345FB5"/>
                </a:solidFill>
                <a:latin typeface="DejaVu Sans"/>
              </a:defRPr>
            </a:pPr>
            <a:r>
              <a:t>Held-out cost ≈ 0.116 → 0.021 · optional instructions: BACKENDS.md</a:t>
            </a:r>
          </a:p>
        </p:txBody>
      </p:sp>
      <p:sp>
        <p:nvSpPr>
          <p:cNvPr id="15" name="Rectangle 14"/>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16" name="TextBox 15"/>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17" name="Rectangle 16"/>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18" name="TextBox 17"/>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MODEL</a:t>
            </a:r>
          </a:p>
        </p:txBody>
      </p:sp>
      <p:sp>
        <p:nvSpPr>
          <p:cNvPr id="19" name="Rectangle 18"/>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0" name="TextBox 19"/>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FIT</a:t>
            </a:r>
          </a:p>
        </p:txBody>
      </p:sp>
      <p:sp>
        <p:nvSpPr>
          <p:cNvPr id="21" name="Rectangle 20"/>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2" name="TextBox 21"/>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23" name="TextBox 22"/>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345FB5"/>
                </a:solidFill>
                <a:latin typeface="DejaVu Sans"/>
              </a:defRPr>
            </a:pPr>
            <a: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131D2A"/>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94360" y="365760"/>
            <a:ext cx="919886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PAUSE / RECHARGE</a:t>
            </a:r>
          </a:p>
        </p:txBody>
      </p:sp>
      <p:sp>
        <p:nvSpPr>
          <p:cNvPr id="5" name="TextBox 4"/>
          <p:cNvSpPr txBox="1"/>
          <p:nvPr/>
        </p:nvSpPr>
        <p:spPr>
          <a:xfrm>
            <a:off x="640080" y="1234440"/>
            <a:ext cx="7370064" cy="679195"/>
          </a:xfrm>
          <a:prstGeom prst="rect">
            <a:avLst/>
          </a:prstGeom>
          <a:noFill/>
        </p:spPr>
        <p:txBody>
          <a:bodyPr wrap="none" lIns="0" rIns="0" tIns="0" bIns="0">
            <a:spAutoFit/>
          </a:bodyPr>
          <a:lstStyle/>
          <a:p>
            <a:pPr>
              <a:lnSpc>
                <a:spcPct val="124000"/>
              </a:lnSpc>
              <a:spcBef>
                <a:spcPts val="0"/>
              </a:spcBef>
              <a:spcAft>
                <a:spcPts val="0"/>
              </a:spcAft>
              <a:defRPr sz="3500" b="0">
                <a:solidFill>
                  <a:srgbClr val="FFFFFF"/>
                </a:solidFill>
                <a:latin typeface="DejaVu Sans"/>
              </a:defRPr>
            </a:pPr>
            <a:r>
              <a:t>Back at</a:t>
            </a:r>
          </a:p>
        </p:txBody>
      </p:sp>
      <p:sp>
        <p:nvSpPr>
          <p:cNvPr id="6" name="TextBox 5"/>
          <p:cNvSpPr txBox="1"/>
          <p:nvPr/>
        </p:nvSpPr>
        <p:spPr>
          <a:xfrm>
            <a:off x="566928" y="1847088"/>
            <a:ext cx="7644384" cy="1734312"/>
          </a:xfrm>
          <a:prstGeom prst="rect">
            <a:avLst/>
          </a:prstGeom>
          <a:noFill/>
        </p:spPr>
        <p:txBody>
          <a:bodyPr wrap="none" lIns="0" rIns="0" tIns="0" bIns="0">
            <a:spAutoFit/>
          </a:bodyPr>
          <a:lstStyle/>
          <a:p>
            <a:pPr>
              <a:lnSpc>
                <a:spcPct val="124000"/>
              </a:lnSpc>
              <a:spcBef>
                <a:spcPts val="0"/>
              </a:spcBef>
              <a:spcAft>
                <a:spcPts val="0"/>
              </a:spcAft>
              <a:defRPr sz="10200" b="1">
                <a:solidFill>
                  <a:srgbClr val="CFB991"/>
                </a:solidFill>
                <a:latin typeface="DejaVu Sans"/>
              </a:defRPr>
            </a:pPr>
            <a:r>
              <a:t>12:10</a:t>
            </a:r>
          </a:p>
        </p:txBody>
      </p:sp>
      <p:sp>
        <p:nvSpPr>
          <p:cNvPr id="7" name="Rounded Rectangle 6"/>
          <p:cNvSpPr/>
          <p:nvPr/>
        </p:nvSpPr>
        <p:spPr>
          <a:xfrm>
            <a:off x="8595360" y="1188720"/>
            <a:ext cx="3017520" cy="4434840"/>
          </a:xfrm>
          <a:prstGeom prst="roundRect">
            <a:avLst>
              <a:gd name="adj" fmla="val 8000"/>
            </a:avLst>
          </a:prstGeom>
          <a:solidFill>
            <a:srgbClr val="203044"/>
          </a:solidFill>
          <a:ln>
            <a:noFill/>
          </a:ln>
        </p:spPr>
        <p:txBody>
          <a:bodyPr rtlCol="0" anchor="ctr"/>
          <a:lstStyle/>
          <a:p>
            <a:pPr algn="ctr"/>
          </a:p>
        </p:txBody>
      </p:sp>
      <p:sp>
        <p:nvSpPr>
          <p:cNvPr id="8" name="TextBox 7"/>
          <p:cNvSpPr txBox="1"/>
          <p:nvPr/>
        </p:nvSpPr>
        <p:spPr>
          <a:xfrm>
            <a:off x="8823960" y="1463040"/>
            <a:ext cx="261518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KEEP YOUR PLACE</a:t>
            </a:r>
          </a:p>
        </p:txBody>
      </p:sp>
      <p:sp>
        <p:nvSpPr>
          <p:cNvPr id="9" name="TextBox 8"/>
          <p:cNvSpPr txBox="1"/>
          <p:nvPr/>
        </p:nvSpPr>
        <p:spPr>
          <a:xfrm>
            <a:off x="8823960" y="1993392"/>
            <a:ext cx="2569464" cy="726440"/>
          </a:xfrm>
          <a:prstGeom prst="rect">
            <a:avLst/>
          </a:prstGeom>
          <a:noFill/>
        </p:spPr>
        <p:txBody>
          <a:bodyPr wrap="none" lIns="0" rIns="0" tIns="0" bIns="0">
            <a:spAutoFit/>
          </a:bodyPr>
          <a:lstStyle/>
          <a:p>
            <a:pPr>
              <a:lnSpc>
                <a:spcPct val="124000"/>
              </a:lnSpc>
              <a:spcBef>
                <a:spcPts val="0"/>
              </a:spcBef>
              <a:spcAft>
                <a:spcPts val="0"/>
              </a:spcAft>
              <a:defRPr sz="1900" b="0">
                <a:solidFill>
                  <a:srgbClr val="FFFFFF"/>
                </a:solidFill>
                <a:latin typeface="DejaVu Sans"/>
              </a:defRPr>
            </a:pPr>
            <a:r>
              <a:t>Keep your fitted</a:t>
            </a:r>
          </a:p>
          <a:p>
            <a:pPr>
              <a:lnSpc>
                <a:spcPct val="124000"/>
              </a:lnSpc>
              <a:spcBef>
                <a:spcPts val="0"/>
              </a:spcBef>
              <a:spcAft>
                <a:spcPts val="0"/>
              </a:spcAft>
              <a:defRPr sz="1900" b="0">
                <a:solidFill>
                  <a:srgbClr val="FFFFFF"/>
                </a:solidFill>
                <a:latin typeface="DejaVu Sans"/>
              </a:defRPr>
            </a:pPr>
            <a:r>
              <a:t>coefficients.</a:t>
            </a:r>
          </a:p>
        </p:txBody>
      </p:sp>
      <p:sp>
        <p:nvSpPr>
          <p:cNvPr id="10" name="TextBox 9"/>
          <p:cNvSpPr txBox="1"/>
          <p:nvPr/>
        </p:nvSpPr>
        <p:spPr>
          <a:xfrm>
            <a:off x="8823960" y="2966720"/>
            <a:ext cx="2569464" cy="726440"/>
          </a:xfrm>
          <a:prstGeom prst="rect">
            <a:avLst/>
          </a:prstGeom>
          <a:noFill/>
        </p:spPr>
        <p:txBody>
          <a:bodyPr wrap="none" lIns="0" rIns="0" tIns="0" bIns="0">
            <a:spAutoFit/>
          </a:bodyPr>
          <a:lstStyle/>
          <a:p>
            <a:pPr>
              <a:lnSpc>
                <a:spcPct val="124000"/>
              </a:lnSpc>
              <a:spcBef>
                <a:spcPts val="0"/>
              </a:spcBef>
              <a:spcAft>
                <a:spcPts val="0"/>
              </a:spcAft>
              <a:defRPr sz="1900" b="0">
                <a:solidFill>
                  <a:srgbClr val="FFFFFF"/>
                </a:solidFill>
                <a:latin typeface="DejaVu Sans"/>
              </a:defRPr>
            </a:pPr>
            <a:r>
              <a:t>Next: plan a flight</a:t>
            </a:r>
          </a:p>
          <a:p>
            <a:pPr>
              <a:lnSpc>
                <a:spcPct val="124000"/>
              </a:lnSpc>
              <a:spcBef>
                <a:spcPts val="0"/>
              </a:spcBef>
              <a:spcAft>
                <a:spcPts val="0"/>
              </a:spcAft>
              <a:defRPr sz="1900" b="0">
                <a:solidFill>
                  <a:srgbClr val="FFFFFF"/>
                </a:solidFill>
                <a:latin typeface="DejaVu Sans"/>
              </a:defRPr>
            </a:pPr>
            <a:r>
              <a:t>using your fit.</a:t>
            </a:r>
          </a:p>
        </p:txBody>
      </p:sp>
      <p:sp>
        <p:nvSpPr>
          <p:cNvPr id="11" name="TextBox 10"/>
          <p:cNvSpPr txBox="1"/>
          <p:nvPr/>
        </p:nvSpPr>
        <p:spPr>
          <a:xfrm>
            <a:off x="8823960" y="3940048"/>
            <a:ext cx="2569464" cy="726440"/>
          </a:xfrm>
          <a:prstGeom prst="rect">
            <a:avLst/>
          </a:prstGeom>
          <a:noFill/>
        </p:spPr>
        <p:txBody>
          <a:bodyPr wrap="none" lIns="0" rIns="0" tIns="0" bIns="0">
            <a:spAutoFit/>
          </a:bodyPr>
          <a:lstStyle/>
          <a:p>
            <a:pPr>
              <a:lnSpc>
                <a:spcPct val="124000"/>
              </a:lnSpc>
              <a:spcBef>
                <a:spcPts val="0"/>
              </a:spcBef>
              <a:spcAft>
                <a:spcPts val="0"/>
              </a:spcAft>
              <a:defRPr sz="1900" b="0">
                <a:solidFill>
                  <a:srgbClr val="FFFFFF"/>
                </a:solidFill>
                <a:latin typeface="DejaVu Sans"/>
              </a:defRPr>
            </a:pPr>
            <a:r>
              <a:t>Your fit plot is the</a:t>
            </a:r>
          </a:p>
          <a:p>
            <a:pPr>
              <a:lnSpc>
                <a:spcPct val="124000"/>
              </a:lnSpc>
              <a:spcBef>
                <a:spcPts val="0"/>
              </a:spcBef>
              <a:spcAft>
                <a:spcPts val="0"/>
              </a:spcAft>
              <a:defRPr sz="1900" b="0">
                <a:solidFill>
                  <a:srgbClr val="FFFFFF"/>
                </a:solidFill>
                <a:latin typeface="DejaVu Sans"/>
              </a:defRPr>
            </a:pPr>
            <a:r>
              <a:t>recovery point.</a:t>
            </a:r>
          </a:p>
        </p:txBody>
      </p:sp>
      <p:sp>
        <p:nvSpPr>
          <p:cNvPr id="12" name="TextBox 11"/>
          <p:cNvSpPr txBox="1"/>
          <p:nvPr/>
        </p:nvSpPr>
        <p:spPr>
          <a:xfrm>
            <a:off x="640080" y="3977639"/>
            <a:ext cx="7552944" cy="442976"/>
          </a:xfrm>
          <a:prstGeom prst="rect">
            <a:avLst/>
          </a:prstGeom>
          <a:noFill/>
        </p:spPr>
        <p:txBody>
          <a:bodyPr wrap="none" lIns="0" rIns="0" tIns="0" bIns="0">
            <a:spAutoFit/>
          </a:bodyPr>
          <a:lstStyle/>
          <a:p>
            <a:pPr>
              <a:lnSpc>
                <a:spcPct val="124000"/>
              </a:lnSpc>
              <a:spcBef>
                <a:spcPts val="0"/>
              </a:spcBef>
              <a:spcAft>
                <a:spcPts val="0"/>
              </a:spcAft>
              <a:defRPr sz="2000" b="1">
                <a:solidFill>
                  <a:srgbClr val="FFFFFF"/>
                </a:solidFill>
                <a:latin typeface="DejaVu Sans"/>
              </a:defRPr>
            </a:pPr>
            <a:r>
              <a:t>10 MINUTES</a:t>
            </a:r>
          </a:p>
        </p:txBody>
      </p:sp>
      <p:sp>
        <p:nvSpPr>
          <p:cNvPr id="13" name="TextBox 12"/>
          <p:cNvSpPr txBox="1"/>
          <p:nvPr/>
        </p:nvSpPr>
        <p:spPr>
          <a:xfrm>
            <a:off x="640080" y="4553712"/>
            <a:ext cx="7370064" cy="458723"/>
          </a:xfrm>
          <a:prstGeom prst="rect">
            <a:avLst/>
          </a:prstGeom>
          <a:noFill/>
        </p:spPr>
        <p:txBody>
          <a:bodyPr wrap="none" lIns="0" rIns="0" tIns="0" bIns="0">
            <a:spAutoFit/>
          </a:bodyPr>
          <a:lstStyle/>
          <a:p>
            <a:pPr>
              <a:lnSpc>
                <a:spcPct val="124000"/>
              </a:lnSpc>
              <a:spcBef>
                <a:spcPts val="0"/>
              </a:spcBef>
              <a:spcAft>
                <a:spcPts val="0"/>
              </a:spcAft>
              <a:defRPr sz="2100" b="0">
                <a:solidFill>
                  <a:srgbClr val="D1D7DF"/>
                </a:solidFill>
                <a:latin typeface="DejaVu Sans"/>
              </a:defRPr>
            </a:pPr>
            <a:r>
              <a:t>Stretch. Ask a question. Keep your editor open.</a:t>
            </a:r>
          </a:p>
        </p:txBody>
      </p:sp>
      <p:sp>
        <p:nvSpPr>
          <p:cNvPr id="14" name="Rectangle 13"/>
          <p:cNvSpPr/>
          <p:nvPr/>
        </p:nvSpPr>
        <p:spPr>
          <a:xfrm>
            <a:off x="594360" y="6108192"/>
            <a:ext cx="54864" cy="228600"/>
          </a:xfrm>
          <a:prstGeom prst="rect">
            <a:avLst/>
          </a:prstGeom>
          <a:solidFill>
            <a:srgbClr val="CFB991"/>
          </a:solidFill>
          <a:ln>
            <a:noFill/>
          </a:ln>
        </p:spPr>
        <p:txBody>
          <a:bodyPr rtlCol="0" anchor="ctr"/>
          <a:lstStyle/>
          <a:p>
            <a:pPr algn="ctr"/>
          </a:p>
        </p:txBody>
      </p:sp>
      <p:sp>
        <p:nvSpPr>
          <p:cNvPr id="15" name="TextBox 14"/>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CFB991"/>
                </a:solidFill>
                <a:latin typeface="DejaVu Sans"/>
              </a:defRPr>
            </a:pPr>
            <a:r>
              <a:t>Same Modelica source; now compile to CasADi.</a:t>
            </a:r>
          </a:p>
        </p:txBody>
      </p:sp>
      <p:sp>
        <p:nvSpPr>
          <p:cNvPr id="16" name="Rectangle 15"/>
          <p:cNvSpPr/>
          <p:nvPr/>
        </p:nvSpPr>
        <p:spPr>
          <a:xfrm>
            <a:off x="594360" y="6519672"/>
            <a:ext cx="11000232" cy="13716"/>
          </a:xfrm>
          <a:prstGeom prst="rect">
            <a:avLst/>
          </a:prstGeom>
          <a:solidFill>
            <a:srgbClr val="344153"/>
          </a:solidFill>
          <a:ln>
            <a:noFill/>
          </a:ln>
        </p:spPr>
        <p:txBody>
          <a:bodyPr rtlCol="0" anchor="ctr"/>
          <a:lstStyle/>
          <a:p>
            <a:pPr algn="ctr"/>
          </a:p>
        </p:txBody>
      </p:sp>
      <p:sp>
        <p:nvSpPr>
          <p:cNvPr id="17" name="TextBox 16"/>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D1D7DF"/>
                </a:solidFill>
                <a:latin typeface="DejaVu Sans"/>
              </a:defRPr>
            </a:pPr>
            <a:r>
              <a:t>PURDUE AEROSPACE / GEORGIA TECH / AMC 2026</a:t>
            </a:r>
          </a:p>
        </p:txBody>
      </p:sp>
      <p:sp>
        <p:nvSpPr>
          <p:cNvPr id="18" name="Rectangle 17"/>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19" name="TextBox 18"/>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MODEL</a:t>
            </a:r>
          </a:p>
        </p:txBody>
      </p:sp>
      <p:sp>
        <p:nvSpPr>
          <p:cNvPr id="20" name="Rectangle 19"/>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1" name="TextBox 20"/>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CFB991"/>
                </a:solidFill>
                <a:latin typeface="DejaVu Sans"/>
              </a:defRPr>
            </a:pPr>
            <a:r>
              <a:t>FIT</a:t>
            </a:r>
          </a:p>
        </p:txBody>
      </p:sp>
      <p:sp>
        <p:nvSpPr>
          <p:cNvPr id="22" name="Rectangle 21"/>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3" name="TextBox 22"/>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OPTIMIZE</a:t>
            </a:r>
          </a:p>
        </p:txBody>
      </p:sp>
      <p:sp>
        <p:nvSpPr>
          <p:cNvPr id="24" name="TextBox 23"/>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CFB991"/>
                </a:solidFill>
                <a:latin typeface="DejaVu Sans"/>
              </a:defRPr>
            </a:pPr>
            <a: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B65131"/>
                </a:solidFill>
                <a:latin typeface="DejaVu Sans"/>
              </a:defRPr>
            </a:pPr>
            <a:r>
              <a:t>CASADI SYMBOLIC DYNAMICS · IPOPT LOCAL NLP</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12:10–12:20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Move between hovers, respect limits</a:t>
            </a:r>
          </a:p>
        </p:txBody>
      </p:sp>
      <p:sp>
        <p:nvSpPr>
          <p:cNvPr id="7" name="Rounded Rectangle 6"/>
          <p:cNvSpPr/>
          <p:nvPr/>
        </p:nvSpPr>
        <p:spPr>
          <a:xfrm>
            <a:off x="4407408" y="1554480"/>
            <a:ext cx="7187184" cy="4069080"/>
          </a:xfrm>
          <a:prstGeom prst="roundRect">
            <a:avLst>
              <a:gd name="adj" fmla="val 8000"/>
            </a:avLst>
          </a:prstGeom>
          <a:solidFill>
            <a:srgbClr val="FFFFFF"/>
          </a:solidFill>
          <a:ln>
            <a:noFill/>
          </a:ln>
        </p:spPr>
        <p:txBody>
          <a:bodyPr rtlCol="0" anchor="ctr"/>
          <a:lstStyle/>
          <a:p>
            <a:pPr algn="ctr"/>
          </a:p>
        </p:txBody>
      </p:sp>
      <p:pic>
        <p:nvPicPr>
          <p:cNvPr id="8" name="Picture 7" descr="control-problem.png"/>
          <p:cNvPicPr>
            <a:picLocks noChangeAspect="1"/>
          </p:cNvPicPr>
          <p:nvPr/>
        </p:nvPicPr>
        <p:blipFill>
          <a:blip r:embed="rId2"/>
          <a:stretch>
            <a:fillRect/>
          </a:stretch>
        </p:blipFill>
        <p:spPr>
          <a:xfrm>
            <a:off x="4517136" y="2209003"/>
            <a:ext cx="6967728" cy="2760032"/>
          </a:xfrm>
          <a:prstGeom prst="rect">
            <a:avLst/>
          </a:prstGeom>
        </p:spPr>
      </p:pic>
      <p:sp>
        <p:nvSpPr>
          <p:cNvPr id="9" name="TextBox 8"/>
          <p:cNvSpPr txBox="1"/>
          <p:nvPr/>
        </p:nvSpPr>
        <p:spPr>
          <a:xfrm>
            <a:off x="640080" y="1700784"/>
            <a:ext cx="3712463"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B65131"/>
                </a:solidFill>
                <a:latin typeface="DejaVu Sans"/>
              </a:defRPr>
            </a:pPr>
            <a:r>
              <a:t>THE IDEA</a:t>
            </a:r>
          </a:p>
        </p:txBody>
      </p:sp>
      <p:sp>
        <p:nvSpPr>
          <p:cNvPr id="10" name="Rounded Rectangle 9"/>
          <p:cNvSpPr/>
          <p:nvPr/>
        </p:nvSpPr>
        <p:spPr>
          <a:xfrm>
            <a:off x="640080" y="2171700"/>
            <a:ext cx="338328" cy="338328"/>
          </a:xfrm>
          <a:prstGeom prst="roundRect">
            <a:avLst>
              <a:gd name="adj" fmla="val 8000"/>
            </a:avLst>
          </a:prstGeom>
          <a:solidFill>
            <a:srgbClr val="B65131"/>
          </a:solidFill>
          <a:ln>
            <a:noFill/>
          </a:ln>
        </p:spPr>
        <p:txBody>
          <a:bodyPr rtlCol="0" anchor="ctr"/>
          <a:lstStyle/>
          <a:p>
            <a:pPr algn="ctr"/>
          </a:p>
        </p:txBody>
      </p:sp>
      <p:sp>
        <p:nvSpPr>
          <p:cNvPr id="11" name="TextBox 10"/>
          <p:cNvSpPr txBox="1"/>
          <p:nvPr/>
        </p:nvSpPr>
        <p:spPr>
          <a:xfrm>
            <a:off x="736092" y="219913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12" name="TextBox 11"/>
          <p:cNvSpPr txBox="1"/>
          <p:nvPr/>
        </p:nvSpPr>
        <p:spPr>
          <a:xfrm>
            <a:off x="1143000" y="2148840"/>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(0, 1) m → (4, 2) m in</a:t>
            </a:r>
          </a:p>
          <a:p>
            <a:pPr>
              <a:lnSpc>
                <a:spcPct val="124000"/>
              </a:lnSpc>
              <a:spcBef>
                <a:spcPts val="0"/>
              </a:spcBef>
              <a:spcAft>
                <a:spcPts val="0"/>
              </a:spcAft>
              <a:defRPr sz="2200" b="0">
                <a:solidFill>
                  <a:srgbClr val="131D2A"/>
                </a:solidFill>
                <a:latin typeface="DejaVu Sans"/>
              </a:defRPr>
            </a:pPr>
            <a:r>
              <a:t>6 s</a:t>
            </a:r>
          </a:p>
        </p:txBody>
      </p:sp>
      <p:sp>
        <p:nvSpPr>
          <p:cNvPr id="13" name="Rounded Rectangle 12"/>
          <p:cNvSpPr/>
          <p:nvPr/>
        </p:nvSpPr>
        <p:spPr>
          <a:xfrm>
            <a:off x="640080" y="3266948"/>
            <a:ext cx="338328" cy="338328"/>
          </a:xfrm>
          <a:prstGeom prst="roundRect">
            <a:avLst>
              <a:gd name="adj" fmla="val 8000"/>
            </a:avLst>
          </a:prstGeom>
          <a:solidFill>
            <a:srgbClr val="B65131"/>
          </a:solidFill>
          <a:ln>
            <a:noFill/>
          </a:ln>
        </p:spPr>
        <p:txBody>
          <a:bodyPr rtlCol="0" anchor="ctr"/>
          <a:lstStyle/>
          <a:p>
            <a:pPr algn="ctr"/>
          </a:p>
        </p:txBody>
      </p:sp>
      <p:sp>
        <p:nvSpPr>
          <p:cNvPr id="14" name="TextBox 13"/>
          <p:cNvSpPr txBox="1"/>
          <p:nvPr/>
        </p:nvSpPr>
        <p:spPr>
          <a:xfrm>
            <a:off x="736092" y="3294380"/>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5" name="TextBox 14"/>
          <p:cNvSpPr txBox="1"/>
          <p:nvPr/>
        </p:nvSpPr>
        <p:spPr>
          <a:xfrm>
            <a:off x="1143000" y="3244088"/>
            <a:ext cx="3054096" cy="1167384"/>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Track target; limit</a:t>
            </a:r>
          </a:p>
          <a:p>
            <a:pPr>
              <a:lnSpc>
                <a:spcPct val="124000"/>
              </a:lnSpc>
              <a:spcBef>
                <a:spcPts val="0"/>
              </a:spcBef>
              <a:spcAft>
                <a:spcPts val="0"/>
              </a:spcAft>
              <a:defRPr sz="2200" b="0">
                <a:solidFill>
                  <a:srgbClr val="131D2A"/>
                </a:solidFill>
                <a:latin typeface="DejaVu Sans"/>
              </a:defRPr>
            </a:pPr>
            <a:r>
              <a:t>effort and control</a:t>
            </a:r>
          </a:p>
          <a:p>
            <a:pPr>
              <a:lnSpc>
                <a:spcPct val="124000"/>
              </a:lnSpc>
              <a:spcBef>
                <a:spcPts val="0"/>
              </a:spcBef>
              <a:spcAft>
                <a:spcPts val="0"/>
              </a:spcAft>
              <a:defRPr sz="2200" b="0">
                <a:solidFill>
                  <a:srgbClr val="131D2A"/>
                </a:solidFill>
                <a:latin typeface="DejaVu Sans"/>
              </a:defRPr>
            </a:pPr>
            <a:r>
              <a:t>changes</a:t>
            </a:r>
          </a:p>
        </p:txBody>
      </p:sp>
      <p:sp>
        <p:nvSpPr>
          <p:cNvPr id="16" name="Rounded Rectangle 15"/>
          <p:cNvSpPr/>
          <p:nvPr/>
        </p:nvSpPr>
        <p:spPr>
          <a:xfrm>
            <a:off x="640080" y="4708652"/>
            <a:ext cx="338328" cy="338328"/>
          </a:xfrm>
          <a:prstGeom prst="roundRect">
            <a:avLst>
              <a:gd name="adj" fmla="val 8000"/>
            </a:avLst>
          </a:prstGeom>
          <a:solidFill>
            <a:srgbClr val="B65131"/>
          </a:solidFill>
          <a:ln>
            <a:noFill/>
          </a:ln>
        </p:spPr>
        <p:txBody>
          <a:bodyPr rtlCol="0" anchor="ctr"/>
          <a:lstStyle/>
          <a:p>
            <a:pPr algn="ctr"/>
          </a:p>
        </p:txBody>
      </p:sp>
      <p:sp>
        <p:nvSpPr>
          <p:cNvPr id="17" name="TextBox 16"/>
          <p:cNvSpPr txBox="1"/>
          <p:nvPr/>
        </p:nvSpPr>
        <p:spPr>
          <a:xfrm>
            <a:off x="736092" y="4736084"/>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8" name="TextBox 17"/>
          <p:cNvSpPr txBox="1"/>
          <p:nvPr/>
        </p:nvSpPr>
        <p:spPr>
          <a:xfrm>
            <a:off x="1143000" y="4685792"/>
            <a:ext cx="3054096" cy="1167384"/>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Bound thrust,</a:t>
            </a:r>
          </a:p>
          <a:p>
            <a:pPr>
              <a:lnSpc>
                <a:spcPct val="124000"/>
              </a:lnSpc>
              <a:spcBef>
                <a:spcPts val="0"/>
              </a:spcBef>
              <a:spcAft>
                <a:spcPts val="0"/>
              </a:spcAft>
              <a:defRPr sz="2200" b="0">
                <a:solidFill>
                  <a:srgbClr val="131D2A"/>
                </a:solidFill>
                <a:latin typeface="DejaVu Sans"/>
              </a:defRPr>
            </a:pPr>
            <a:r>
              <a:t>torque, pitch and</a:t>
            </a:r>
          </a:p>
          <a:p>
            <a:pPr>
              <a:lnSpc>
                <a:spcPct val="124000"/>
              </a:lnSpc>
              <a:spcBef>
                <a:spcPts val="0"/>
              </a:spcBef>
              <a:spcAft>
                <a:spcPts val="0"/>
              </a:spcAft>
              <a:defRPr sz="2200" b="0">
                <a:solidFill>
                  <a:srgbClr val="131D2A"/>
                </a:solidFill>
                <a:latin typeface="DejaVu Sans"/>
              </a:defRPr>
            </a:pPr>
            <a:r>
              <a:t>altitude</a:t>
            </a:r>
          </a:p>
        </p:txBody>
      </p:sp>
      <p:sp>
        <p:nvSpPr>
          <p:cNvPr id="19" name="Rectangle 18"/>
          <p:cNvSpPr/>
          <p:nvPr/>
        </p:nvSpPr>
        <p:spPr>
          <a:xfrm>
            <a:off x="594360" y="6108192"/>
            <a:ext cx="54864" cy="228600"/>
          </a:xfrm>
          <a:prstGeom prst="rect">
            <a:avLst/>
          </a:prstGeom>
          <a:solidFill>
            <a:srgbClr val="B65131"/>
          </a:solidFill>
          <a:ln>
            <a:noFill/>
          </a:ln>
        </p:spPr>
        <p:txBody>
          <a:bodyPr rtlCol="0" anchor="ctr"/>
          <a:lstStyle/>
          <a:p>
            <a:pPr algn="ctr"/>
          </a:p>
        </p:txBody>
      </p:sp>
      <p:sp>
        <p:nvSpPr>
          <p:cNvPr id="20" name="TextBox 19"/>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B65131"/>
                </a:solidFill>
                <a:latin typeface="DejaVu Sans"/>
              </a:defRPr>
            </a:pPr>
            <a:r>
              <a:t>Identified drag is an input to this optimization.</a:t>
            </a:r>
          </a:p>
        </p:txBody>
      </p:sp>
      <p:sp>
        <p:nvSpPr>
          <p:cNvPr id="21" name="Rectangle 20"/>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22" name="TextBox 21"/>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23" name="Rectangle 22"/>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24" name="TextBox 23"/>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MODEL</a:t>
            </a:r>
          </a:p>
        </p:txBody>
      </p:sp>
      <p:sp>
        <p:nvSpPr>
          <p:cNvPr id="25" name="Rectangle 24"/>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6" name="TextBox 25"/>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27" name="Rectangle 26"/>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8" name="TextBox 27"/>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OPTIMIZE</a:t>
            </a:r>
          </a:p>
        </p:txBody>
      </p:sp>
      <p:sp>
        <p:nvSpPr>
          <p:cNvPr id="29" name="TextBox 28"/>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B65131"/>
                </a:solidFill>
                <a:latin typeface="DejaVu Sans"/>
              </a:defRPr>
            </a:pPr>
            <a: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B65131"/>
                </a:solidFill>
                <a:latin typeface="DejaVu Sans"/>
              </a:defRPr>
            </a:pPr>
            <a:r>
              <a:t>HANDS-ON · FITTED PHYSICS, CONSTRAINED TRAJECTORY</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12:20–12:40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Solve. Inspect. Explain the braking.</a:t>
            </a:r>
          </a:p>
        </p:txBody>
      </p:sp>
      <p:sp>
        <p:nvSpPr>
          <p:cNvPr id="7" name="Rectangle 6"/>
          <p:cNvSpPr/>
          <p:nvPr/>
        </p:nvSpPr>
        <p:spPr>
          <a:xfrm>
            <a:off x="594360" y="1508760"/>
            <a:ext cx="41148" cy="493776"/>
          </a:xfrm>
          <a:prstGeom prst="rect">
            <a:avLst/>
          </a:prstGeom>
          <a:solidFill>
            <a:srgbClr val="B65131"/>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Open optimization.png and optimization.json.</a:t>
            </a:r>
          </a:p>
        </p:txBody>
      </p:sp>
      <p:sp>
        <p:nvSpPr>
          <p:cNvPr id="9" name="Rounded Rectangle 8"/>
          <p:cNvSpPr/>
          <p:nvPr/>
        </p:nvSpPr>
        <p:spPr>
          <a:xfrm>
            <a:off x="594360" y="2167128"/>
            <a:ext cx="11000232" cy="3191256"/>
          </a:xfrm>
          <a:prstGeom prst="roundRect">
            <a:avLst>
              <a:gd name="adj" fmla="val 8000"/>
            </a:avLst>
          </a:prstGeom>
          <a:solidFill>
            <a:srgbClr val="FFFFFF"/>
          </a:solidFill>
          <a:ln>
            <a:noFill/>
          </a:ln>
        </p:spPr>
        <p:txBody>
          <a:bodyPr rtlCol="0" anchor="ctr"/>
          <a:lstStyle/>
          <a:p>
            <a:pPr algn="ctr"/>
          </a:p>
        </p:txBody>
      </p:sp>
      <p:pic>
        <p:nvPicPr>
          <p:cNvPr id="10" name="Picture 9" descr="control-hero.png"/>
          <p:cNvPicPr>
            <a:picLocks noChangeAspect="1"/>
          </p:cNvPicPr>
          <p:nvPr/>
        </p:nvPicPr>
        <p:blipFill>
          <a:blip r:embed="rId2"/>
          <a:stretch>
            <a:fillRect/>
          </a:stretch>
        </p:blipFill>
        <p:spPr>
          <a:xfrm>
            <a:off x="2009581" y="2240280"/>
            <a:ext cx="8169789" cy="3044952"/>
          </a:xfrm>
          <a:prstGeom prst="rect">
            <a:avLst/>
          </a:prstGeom>
        </p:spPr>
      </p:pic>
      <p:sp>
        <p:nvSpPr>
          <p:cNvPr id="11" name="Rounded Rectangle 10"/>
          <p:cNvSpPr/>
          <p:nvPr/>
        </p:nvSpPr>
        <p:spPr>
          <a:xfrm>
            <a:off x="594360" y="5559552"/>
            <a:ext cx="11000232" cy="438912"/>
          </a:xfrm>
          <a:prstGeom prst="roundRect">
            <a:avLst>
              <a:gd name="adj" fmla="val 8000"/>
            </a:avLst>
          </a:prstGeom>
          <a:solidFill>
            <a:srgbClr val="131D2A"/>
          </a:solidFill>
          <a:ln>
            <a:noFill/>
          </a:ln>
        </p:spPr>
        <p:txBody>
          <a:bodyPr rtlCol="0" anchor="ctr"/>
          <a:lstStyle/>
          <a:p>
            <a:pPr algn="ctr"/>
          </a:p>
        </p:txBody>
      </p:sp>
      <p:sp>
        <p:nvSpPr>
          <p:cNvPr id="12" name="TextBox 11"/>
          <p:cNvSpPr txBox="1"/>
          <p:nvPr/>
        </p:nvSpPr>
        <p:spPr>
          <a:xfrm>
            <a:off x="777240" y="5650992"/>
            <a:ext cx="10753344" cy="411480"/>
          </a:xfrm>
          <a:prstGeom prst="rect">
            <a:avLst/>
          </a:prstGeom>
          <a:noFill/>
        </p:spPr>
        <p:txBody>
          <a:bodyPr wrap="none" lIns="0" rIns="0" tIns="0" bIns="0">
            <a:spAutoFit/>
          </a:bodyPr>
          <a:lstStyle/>
          <a:p>
            <a:pPr>
              <a:lnSpc>
                <a:spcPct val="124000"/>
              </a:lnSpc>
              <a:spcBef>
                <a:spcPts val="0"/>
              </a:spcBef>
              <a:spcAft>
                <a:spcPts val="0"/>
              </a:spcAft>
              <a:defRPr sz="1800" b="0">
                <a:solidFill>
                  <a:srgbClr val="FFFFFF"/>
                </a:solidFill>
                <a:latin typeface="DejaVu Sans Mono"/>
              </a:defRPr>
            </a:pPr>
            <a:r>
              <a:t>$ uv run --frozen python scripts/optimize_casadi.py</a:t>
            </a:r>
          </a:p>
        </p:txBody>
      </p:sp>
      <p:sp>
        <p:nvSpPr>
          <p:cNvPr id="13" name="Rectangle 12"/>
          <p:cNvSpPr/>
          <p:nvPr/>
        </p:nvSpPr>
        <p:spPr>
          <a:xfrm>
            <a:off x="594360" y="6108192"/>
            <a:ext cx="54864" cy="228600"/>
          </a:xfrm>
          <a:prstGeom prst="rect">
            <a:avLst/>
          </a:prstGeom>
          <a:solidFill>
            <a:srgbClr val="B65131"/>
          </a:solidFill>
          <a:ln>
            <a:noFill/>
          </a:ln>
        </p:spPr>
        <p:txBody>
          <a:bodyPr rtlCol="0" anchor="ctr"/>
          <a:lstStyle/>
          <a:p>
            <a:pPr algn="ctr"/>
          </a:p>
        </p:txBody>
      </p:sp>
      <p:sp>
        <p:nvSpPr>
          <p:cNvPr id="14" name="TextBox 13"/>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B65131"/>
                </a:solidFill>
                <a:latin typeface="DejaVu Sans"/>
              </a:defRPr>
            </a:pPr>
            <a:r>
              <a:t>Solve_Succeeded · limits respected · arrive near rest</a:t>
            </a:r>
          </a:p>
        </p:txBody>
      </p:sp>
      <p:sp>
        <p:nvSpPr>
          <p:cNvPr id="15" name="Rectangle 14"/>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16" name="TextBox 15"/>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17" name="Rectangle 16"/>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18" name="TextBox 17"/>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MODEL</a:t>
            </a:r>
          </a:p>
        </p:txBody>
      </p:sp>
      <p:sp>
        <p:nvSpPr>
          <p:cNvPr id="19" name="Rectangle 18"/>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0" name="TextBox 19"/>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21" name="Rectangle 20"/>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2" name="TextBox 21"/>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OPTIMIZE</a:t>
            </a:r>
          </a:p>
        </p:txBody>
      </p:sp>
      <p:sp>
        <p:nvSpPr>
          <p:cNvPr id="23" name="TextBox 22"/>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B65131"/>
                </a:solidFill>
                <a:latin typeface="DejaVu Sans"/>
              </a:defRPr>
            </a:pPr>
            <a: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131D2A"/>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PURDUE UAS RESEARCH AND TEST FACILITY · UPCOMING COMPETITION</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CFB991"/>
                </a:solidFill>
                <a:latin typeface="DejaVu Sans"/>
              </a:defRPr>
            </a:pPr>
            <a:r>
              <a:t>12:40–12:45</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FFFFFF"/>
                </a:solidFill>
                <a:latin typeface="DejaVu Sans"/>
              </a:defRPr>
            </a:pPr>
            <a:r>
              <a:t>Next up: pylon racing at PURT</a:t>
            </a:r>
          </a:p>
        </p:txBody>
      </p:sp>
      <p:sp>
        <p:nvSpPr>
          <p:cNvPr id="7" name="TextBox 6"/>
          <p:cNvSpPr txBox="1"/>
          <p:nvPr/>
        </p:nvSpPr>
        <p:spPr>
          <a:xfrm>
            <a:off x="640080" y="1609344"/>
            <a:ext cx="828446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FROM DIGITAL TWIN TO THE RACE COURSE</a:t>
            </a:r>
          </a:p>
        </p:txBody>
      </p:sp>
      <p:sp>
        <p:nvSpPr>
          <p:cNvPr id="8" name="TextBox 7"/>
          <p:cNvSpPr txBox="1"/>
          <p:nvPr/>
        </p:nvSpPr>
        <p:spPr>
          <a:xfrm>
            <a:off x="594360" y="2066543"/>
            <a:ext cx="8604504" cy="899668"/>
          </a:xfrm>
          <a:prstGeom prst="rect">
            <a:avLst/>
          </a:prstGeom>
          <a:noFill/>
        </p:spPr>
        <p:txBody>
          <a:bodyPr wrap="none" lIns="0" rIns="0" tIns="0" bIns="0">
            <a:spAutoFit/>
          </a:bodyPr>
          <a:lstStyle/>
          <a:p>
            <a:pPr>
              <a:lnSpc>
                <a:spcPct val="124000"/>
              </a:lnSpc>
              <a:spcBef>
                <a:spcPts val="0"/>
              </a:spcBef>
              <a:spcAft>
                <a:spcPts val="0"/>
              </a:spcAft>
              <a:defRPr sz="4900" b="1">
                <a:solidFill>
                  <a:srgbClr val="FFFFFF"/>
                </a:solidFill>
                <a:latin typeface="DejaVu Sans"/>
              </a:defRPr>
            </a:pPr>
            <a:r>
              <a:t>Build. Fly. Race.</a:t>
            </a:r>
          </a:p>
        </p:txBody>
      </p:sp>
      <p:sp>
        <p:nvSpPr>
          <p:cNvPr id="9" name="TextBox 8"/>
          <p:cNvSpPr txBox="1"/>
          <p:nvPr/>
        </p:nvSpPr>
        <p:spPr>
          <a:xfrm>
            <a:off x="640080" y="2962656"/>
            <a:ext cx="8330184" cy="537464"/>
          </a:xfrm>
          <a:prstGeom prst="rect">
            <a:avLst/>
          </a:prstGeom>
          <a:noFill/>
        </p:spPr>
        <p:txBody>
          <a:bodyPr wrap="none" lIns="0" rIns="0" tIns="0" bIns="0">
            <a:spAutoFit/>
          </a:bodyPr>
          <a:lstStyle/>
          <a:p>
            <a:pPr>
              <a:lnSpc>
                <a:spcPct val="124000"/>
              </a:lnSpc>
              <a:spcBef>
                <a:spcPts val="0"/>
              </a:spcBef>
              <a:spcAft>
                <a:spcPts val="0"/>
              </a:spcAft>
              <a:defRPr sz="2600" b="1">
                <a:solidFill>
                  <a:srgbClr val="CFB991"/>
                </a:solidFill>
                <a:latin typeface="DejaVu Sans"/>
              </a:defRPr>
            </a:pPr>
            <a:r>
              <a:t>The next competition will leverage Rumoca</a:t>
            </a:r>
          </a:p>
        </p:txBody>
      </p:sp>
      <p:sp>
        <p:nvSpPr>
          <p:cNvPr id="10" name="TextBox 9"/>
          <p:cNvSpPr txBox="1"/>
          <p:nvPr/>
        </p:nvSpPr>
        <p:spPr>
          <a:xfrm>
            <a:off x="640080" y="3794760"/>
            <a:ext cx="8330184" cy="490220"/>
          </a:xfrm>
          <a:prstGeom prst="rect">
            <a:avLst/>
          </a:prstGeom>
          <a:noFill/>
        </p:spPr>
        <p:txBody>
          <a:bodyPr wrap="none" lIns="0" rIns="0" tIns="0" bIns="0">
            <a:spAutoFit/>
          </a:bodyPr>
          <a:lstStyle/>
          <a:p>
            <a:pPr>
              <a:lnSpc>
                <a:spcPct val="124000"/>
              </a:lnSpc>
              <a:spcBef>
                <a:spcPts val="0"/>
              </a:spcBef>
              <a:spcAft>
                <a:spcPts val="0"/>
              </a:spcAft>
              <a:defRPr sz="2300" b="0">
                <a:solidFill>
                  <a:srgbClr val="FFFFFF"/>
                </a:solidFill>
                <a:latin typeface="DejaVu Sans"/>
              </a:defRPr>
            </a:pPr>
            <a:r>
              <a:t>Design, simulate, then flight-test your autonomy</a:t>
            </a:r>
          </a:p>
        </p:txBody>
      </p:sp>
      <p:sp>
        <p:nvSpPr>
          <p:cNvPr id="11" name="TextBox 10"/>
          <p:cNvSpPr txBox="1"/>
          <p:nvPr/>
        </p:nvSpPr>
        <p:spPr>
          <a:xfrm>
            <a:off x="640080" y="4315968"/>
            <a:ext cx="8330184" cy="474471"/>
          </a:xfrm>
          <a:prstGeom prst="rect">
            <a:avLst/>
          </a:prstGeom>
          <a:noFill/>
        </p:spPr>
        <p:txBody>
          <a:bodyPr wrap="none" lIns="0" rIns="0" tIns="0" bIns="0">
            <a:spAutoFit/>
          </a:bodyPr>
          <a:lstStyle/>
          <a:p>
            <a:pPr>
              <a:lnSpc>
                <a:spcPct val="124000"/>
              </a:lnSpc>
              <a:spcBef>
                <a:spcPts val="0"/>
              </a:spcBef>
              <a:spcAft>
                <a:spcPts val="0"/>
              </a:spcAft>
              <a:defRPr sz="2200" b="0">
                <a:solidFill>
                  <a:srgbClr val="D1D7DF"/>
                </a:solidFill>
                <a:latin typeface="DejaVu Sans"/>
              </a:defRPr>
            </a:pPr>
            <a:r>
              <a:t>Digital twin → real aircraft at PURT</a:t>
            </a:r>
          </a:p>
        </p:txBody>
      </p:sp>
      <p:sp>
        <p:nvSpPr>
          <p:cNvPr id="12" name="Rectangle 11"/>
          <p:cNvSpPr/>
          <p:nvPr/>
        </p:nvSpPr>
        <p:spPr>
          <a:xfrm>
            <a:off x="685800" y="5074920"/>
            <a:ext cx="7406640" cy="29260"/>
          </a:xfrm>
          <a:prstGeom prst="rect">
            <a:avLst/>
          </a:prstGeom>
          <a:solidFill>
            <a:srgbClr val="007E87"/>
          </a:solidFill>
          <a:ln>
            <a:noFill/>
          </a:ln>
        </p:spPr>
        <p:txBody>
          <a:bodyPr rtlCol="0" anchor="ctr"/>
          <a:lstStyle/>
          <a:p>
            <a:pPr algn="ctr"/>
          </a:p>
        </p:txBody>
      </p:sp>
      <p:sp>
        <p:nvSpPr>
          <p:cNvPr id="13" name="Rectangle 12"/>
          <p:cNvSpPr/>
          <p:nvPr/>
        </p:nvSpPr>
        <p:spPr>
          <a:xfrm>
            <a:off x="1097280" y="4828032"/>
            <a:ext cx="91440" cy="566928"/>
          </a:xfrm>
          <a:prstGeom prst="rect">
            <a:avLst/>
          </a:prstGeom>
          <a:solidFill>
            <a:srgbClr val="CFB991"/>
          </a:solidFill>
          <a:ln>
            <a:noFill/>
          </a:ln>
        </p:spPr>
        <p:txBody>
          <a:bodyPr rtlCol="0" anchor="ctr"/>
          <a:lstStyle/>
          <a:p>
            <a:pPr algn="ctr"/>
          </a:p>
        </p:txBody>
      </p:sp>
      <p:sp>
        <p:nvSpPr>
          <p:cNvPr id="14" name="TextBox 13"/>
          <p:cNvSpPr txBox="1"/>
          <p:nvPr/>
        </p:nvSpPr>
        <p:spPr>
          <a:xfrm>
            <a:off x="1280160" y="5047488"/>
            <a:ext cx="512064" cy="316992"/>
          </a:xfrm>
          <a:prstGeom prst="rect">
            <a:avLst/>
          </a:prstGeom>
          <a:noFill/>
        </p:spPr>
        <p:txBody>
          <a:bodyPr wrap="none" lIns="0" rIns="0" tIns="0" bIns="0">
            <a:spAutoFit/>
          </a:bodyPr>
          <a:lstStyle/>
          <a:p>
            <a:pPr>
              <a:lnSpc>
                <a:spcPct val="124000"/>
              </a:lnSpc>
              <a:spcBef>
                <a:spcPts val="0"/>
              </a:spcBef>
              <a:spcAft>
                <a:spcPts val="0"/>
              </a:spcAft>
              <a:defRPr sz="1200" b="1">
                <a:solidFill>
                  <a:srgbClr val="CFB991"/>
                </a:solidFill>
                <a:latin typeface="DejaVu Sans"/>
              </a:defRPr>
            </a:pPr>
            <a:r>
              <a:t>01</a:t>
            </a:r>
          </a:p>
        </p:txBody>
      </p:sp>
      <p:sp>
        <p:nvSpPr>
          <p:cNvPr id="15" name="Rectangle 14"/>
          <p:cNvSpPr/>
          <p:nvPr/>
        </p:nvSpPr>
        <p:spPr>
          <a:xfrm>
            <a:off x="4023360" y="4828032"/>
            <a:ext cx="91440" cy="566928"/>
          </a:xfrm>
          <a:prstGeom prst="rect">
            <a:avLst/>
          </a:prstGeom>
          <a:solidFill>
            <a:srgbClr val="CFB991"/>
          </a:solidFill>
          <a:ln>
            <a:noFill/>
          </a:ln>
        </p:spPr>
        <p:txBody>
          <a:bodyPr rtlCol="0" anchor="ctr"/>
          <a:lstStyle/>
          <a:p>
            <a:pPr algn="ctr"/>
          </a:p>
        </p:txBody>
      </p:sp>
      <p:sp>
        <p:nvSpPr>
          <p:cNvPr id="16" name="TextBox 15"/>
          <p:cNvSpPr txBox="1"/>
          <p:nvPr/>
        </p:nvSpPr>
        <p:spPr>
          <a:xfrm>
            <a:off x="4206240" y="5047488"/>
            <a:ext cx="512064" cy="316992"/>
          </a:xfrm>
          <a:prstGeom prst="rect">
            <a:avLst/>
          </a:prstGeom>
          <a:noFill/>
        </p:spPr>
        <p:txBody>
          <a:bodyPr wrap="none" lIns="0" rIns="0" tIns="0" bIns="0">
            <a:spAutoFit/>
          </a:bodyPr>
          <a:lstStyle/>
          <a:p>
            <a:pPr>
              <a:lnSpc>
                <a:spcPct val="124000"/>
              </a:lnSpc>
              <a:spcBef>
                <a:spcPts val="0"/>
              </a:spcBef>
              <a:spcAft>
                <a:spcPts val="0"/>
              </a:spcAft>
              <a:defRPr sz="1200" b="1">
                <a:solidFill>
                  <a:srgbClr val="CFB991"/>
                </a:solidFill>
                <a:latin typeface="DejaVu Sans"/>
              </a:defRPr>
            </a:pPr>
            <a:r>
              <a:t>02</a:t>
            </a:r>
          </a:p>
        </p:txBody>
      </p:sp>
      <p:sp>
        <p:nvSpPr>
          <p:cNvPr id="17" name="Rectangle 16"/>
          <p:cNvSpPr/>
          <p:nvPr/>
        </p:nvSpPr>
        <p:spPr>
          <a:xfrm>
            <a:off x="6949440" y="4828032"/>
            <a:ext cx="91440" cy="566928"/>
          </a:xfrm>
          <a:prstGeom prst="rect">
            <a:avLst/>
          </a:prstGeom>
          <a:solidFill>
            <a:srgbClr val="CFB991"/>
          </a:solidFill>
          <a:ln>
            <a:noFill/>
          </a:ln>
        </p:spPr>
        <p:txBody>
          <a:bodyPr rtlCol="0" anchor="ctr"/>
          <a:lstStyle/>
          <a:p>
            <a:pPr algn="ctr"/>
          </a:p>
        </p:txBody>
      </p:sp>
      <p:sp>
        <p:nvSpPr>
          <p:cNvPr id="18" name="TextBox 17"/>
          <p:cNvSpPr txBox="1"/>
          <p:nvPr/>
        </p:nvSpPr>
        <p:spPr>
          <a:xfrm>
            <a:off x="7132320" y="5047488"/>
            <a:ext cx="512064" cy="316992"/>
          </a:xfrm>
          <a:prstGeom prst="rect">
            <a:avLst/>
          </a:prstGeom>
          <a:noFill/>
        </p:spPr>
        <p:txBody>
          <a:bodyPr wrap="none" lIns="0" rIns="0" tIns="0" bIns="0">
            <a:spAutoFit/>
          </a:bodyPr>
          <a:lstStyle/>
          <a:p>
            <a:pPr>
              <a:lnSpc>
                <a:spcPct val="124000"/>
              </a:lnSpc>
              <a:spcBef>
                <a:spcPts val="0"/>
              </a:spcBef>
              <a:spcAft>
                <a:spcPts val="0"/>
              </a:spcAft>
              <a:defRPr sz="1200" b="1">
                <a:solidFill>
                  <a:srgbClr val="CFB991"/>
                </a:solidFill>
                <a:latin typeface="DejaVu Sans"/>
              </a:defRPr>
            </a:pPr>
            <a:r>
              <a:t>03</a:t>
            </a:r>
          </a:p>
        </p:txBody>
      </p:sp>
      <p:sp>
        <p:nvSpPr>
          <p:cNvPr id="19" name="TextBox 18"/>
          <p:cNvSpPr txBox="1"/>
          <p:nvPr/>
        </p:nvSpPr>
        <p:spPr>
          <a:xfrm>
            <a:off x="685800" y="5541264"/>
            <a:ext cx="7827264" cy="285496"/>
          </a:xfrm>
          <a:prstGeom prst="rect">
            <a:avLst/>
          </a:prstGeom>
          <a:noFill/>
        </p:spPr>
        <p:txBody>
          <a:bodyPr wrap="none" lIns="0" rIns="0" tIns="0" bIns="0">
            <a:spAutoFit/>
          </a:bodyPr>
          <a:lstStyle/>
          <a:p>
            <a:pPr>
              <a:lnSpc>
                <a:spcPct val="124000"/>
              </a:lnSpc>
              <a:spcBef>
                <a:spcPts val="0"/>
              </a:spcBef>
              <a:spcAft>
                <a:spcPts val="0"/>
              </a:spcAft>
              <a:defRPr sz="1000" b="0">
                <a:solidFill>
                  <a:srgbClr val="D1D7DF"/>
                </a:solidFill>
                <a:latin typeface="DejaVu Sans"/>
              </a:defRPr>
            </a:pPr>
            <a:r>
              <a:t>ILLUSTRATIVE COURSE · EVENT DETAILS ON THE SITE</a:t>
            </a:r>
          </a:p>
        </p:txBody>
      </p:sp>
      <p:sp>
        <p:nvSpPr>
          <p:cNvPr id="20" name="Rounded Rectangle 19"/>
          <p:cNvSpPr/>
          <p:nvPr/>
        </p:nvSpPr>
        <p:spPr>
          <a:xfrm>
            <a:off x="9272016" y="2185416"/>
            <a:ext cx="2322576" cy="3236976"/>
          </a:xfrm>
          <a:prstGeom prst="roundRect">
            <a:avLst>
              <a:gd name="adj" fmla="val 8000"/>
            </a:avLst>
          </a:prstGeom>
          <a:solidFill>
            <a:srgbClr val="FFFFFF"/>
          </a:solidFill>
          <a:ln>
            <a:noFill/>
          </a:ln>
        </p:spPr>
        <p:txBody>
          <a:bodyPr rtlCol="0" anchor="ctr"/>
          <a:lstStyle/>
          <a:p>
            <a:pPr algn="ctr"/>
          </a:p>
        </p:txBody>
      </p:sp>
      <p:pic>
        <p:nvPicPr>
          <p:cNvPr id="21" name="Picture 20" descr="pylon-qr.png"/>
          <p:cNvPicPr>
            <a:picLocks noChangeAspect="1"/>
          </p:cNvPicPr>
          <p:nvPr/>
        </p:nvPicPr>
        <p:blipFill>
          <a:blip r:embed="rId2"/>
          <a:stretch>
            <a:fillRect/>
          </a:stretch>
        </p:blipFill>
        <p:spPr>
          <a:xfrm>
            <a:off x="9445752" y="2377440"/>
            <a:ext cx="1975104" cy="1975104"/>
          </a:xfrm>
          <a:prstGeom prst="rect">
            <a:avLst/>
          </a:prstGeom>
        </p:spPr>
      </p:pic>
      <p:sp>
        <p:nvSpPr>
          <p:cNvPr id="22" name="TextBox 21"/>
          <p:cNvSpPr txBox="1"/>
          <p:nvPr/>
        </p:nvSpPr>
        <p:spPr>
          <a:xfrm>
            <a:off x="9473184" y="4617720"/>
            <a:ext cx="1929384" cy="505968"/>
          </a:xfrm>
          <a:prstGeom prst="rect">
            <a:avLst/>
          </a:prstGeom>
          <a:noFill/>
        </p:spPr>
        <p:txBody>
          <a:bodyPr wrap="none" lIns="0" rIns="0" tIns="0" bIns="0">
            <a:spAutoFit/>
          </a:bodyPr>
          <a:lstStyle/>
          <a:p>
            <a:pPr>
              <a:lnSpc>
                <a:spcPct val="124000"/>
              </a:lnSpc>
              <a:spcBef>
                <a:spcPts val="0"/>
              </a:spcBef>
              <a:spcAft>
                <a:spcPts val="0"/>
              </a:spcAft>
              <a:defRPr sz="1200" b="1">
                <a:solidFill>
                  <a:srgbClr val="131D2A"/>
                </a:solidFill>
                <a:latin typeface="DejaVu Sans"/>
              </a:defRPr>
            </a:pPr>
            <a:r>
              <a:t>FOLLOW THE</a:t>
            </a:r>
          </a:p>
          <a:p>
            <a:pPr>
              <a:lnSpc>
                <a:spcPct val="124000"/>
              </a:lnSpc>
              <a:spcBef>
                <a:spcPts val="0"/>
              </a:spcBef>
              <a:spcAft>
                <a:spcPts val="0"/>
              </a:spcAft>
              <a:defRPr sz="1200" b="1">
                <a:solidFill>
                  <a:srgbClr val="131D2A"/>
                </a:solidFill>
                <a:latin typeface="DejaVu Sans"/>
              </a:defRPr>
            </a:pPr>
            <a:r>
              <a:t>NEXT COMPETITION</a:t>
            </a:r>
          </a:p>
        </p:txBody>
      </p:sp>
      <p:sp>
        <p:nvSpPr>
          <p:cNvPr id="23" name="Rectangle 22"/>
          <p:cNvSpPr/>
          <p:nvPr/>
        </p:nvSpPr>
        <p:spPr>
          <a:xfrm>
            <a:off x="594360" y="6108192"/>
            <a:ext cx="54864" cy="228600"/>
          </a:xfrm>
          <a:prstGeom prst="rect">
            <a:avLst/>
          </a:prstGeom>
          <a:solidFill>
            <a:srgbClr val="CFB991"/>
          </a:solidFill>
          <a:ln>
            <a:noFill/>
          </a:ln>
        </p:spPr>
        <p:txBody>
          <a:bodyPr rtlCol="0" anchor="ctr"/>
          <a:lstStyle/>
          <a:p>
            <a:pPr algn="ctr"/>
          </a:p>
        </p:txBody>
      </p:sp>
      <p:sp>
        <p:nvSpPr>
          <p:cNvPr id="24" name="TextBox 23"/>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CFB991"/>
                </a:solidFill>
                <a:latin typeface="DejaVu Sans"/>
              </a:defRPr>
            </a:pPr>
            <a:r>
              <a:t>pylon-racing.geddes.rcac.purdue.edu</a:t>
            </a:r>
          </a:p>
        </p:txBody>
      </p:sp>
      <p:sp>
        <p:nvSpPr>
          <p:cNvPr id="25" name="Rectangle 24"/>
          <p:cNvSpPr/>
          <p:nvPr/>
        </p:nvSpPr>
        <p:spPr>
          <a:xfrm>
            <a:off x="594360" y="6519672"/>
            <a:ext cx="11000232" cy="13716"/>
          </a:xfrm>
          <a:prstGeom prst="rect">
            <a:avLst/>
          </a:prstGeom>
          <a:solidFill>
            <a:srgbClr val="344153"/>
          </a:solidFill>
          <a:ln>
            <a:noFill/>
          </a:ln>
        </p:spPr>
        <p:txBody>
          <a:bodyPr rtlCol="0" anchor="ctr"/>
          <a:lstStyle/>
          <a:p>
            <a:pPr algn="ctr"/>
          </a:p>
        </p:txBody>
      </p:sp>
      <p:sp>
        <p:nvSpPr>
          <p:cNvPr id="26" name="TextBox 25"/>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D1D7DF"/>
                </a:solidFill>
                <a:latin typeface="DejaVu Sans"/>
              </a:defRPr>
            </a:pPr>
            <a:r>
              <a:t>PURDUE AEROSPACE / GEORGIA TECH / AMC 2026</a:t>
            </a:r>
          </a:p>
        </p:txBody>
      </p:sp>
      <p:sp>
        <p:nvSpPr>
          <p:cNvPr id="27" name="Rectangle 26"/>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28" name="TextBox 27"/>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MODEL</a:t>
            </a:r>
          </a:p>
        </p:txBody>
      </p:sp>
      <p:sp>
        <p:nvSpPr>
          <p:cNvPr id="29" name="Rectangle 28"/>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30" name="TextBox 29"/>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FIT</a:t>
            </a:r>
          </a:p>
        </p:txBody>
      </p:sp>
      <p:sp>
        <p:nvSpPr>
          <p:cNvPr id="31" name="Rectangle 30"/>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32" name="TextBox 31"/>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OPTIMIZE</a:t>
            </a:r>
          </a:p>
        </p:txBody>
      </p:sp>
      <p:sp>
        <p:nvSpPr>
          <p:cNvPr id="33" name="TextBox 32"/>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CFB991"/>
                </a:solidFill>
                <a:latin typeface="DejaVu Sans"/>
              </a:defRPr>
            </a:pPr>
            <a: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AGENT-BUILT APPS · TRY FIXED-WING OR FINISH YOUR OWN DEMO</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12:45–12:50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Explore the fixed-wing workbench</a:t>
            </a:r>
          </a:p>
        </p:txBody>
      </p:sp>
      <p:sp>
        <p:nvSpPr>
          <p:cNvPr id="7" name="Rounded Rectangle 6"/>
          <p:cNvSpPr/>
          <p:nvPr/>
        </p:nvSpPr>
        <p:spPr>
          <a:xfrm>
            <a:off x="4407408" y="1554480"/>
            <a:ext cx="7187184" cy="4069080"/>
          </a:xfrm>
          <a:prstGeom prst="roundRect">
            <a:avLst>
              <a:gd name="adj" fmla="val 8000"/>
            </a:avLst>
          </a:prstGeom>
          <a:solidFill>
            <a:srgbClr val="FFFFFF"/>
          </a:solidFill>
          <a:ln>
            <a:noFill/>
          </a:ln>
        </p:spPr>
        <p:txBody>
          <a:bodyPr rtlCol="0" anchor="ctr"/>
          <a:lstStyle/>
          <a:p>
            <a:pPr algn="ctr"/>
          </a:p>
        </p:txBody>
      </p:sp>
      <p:pic>
        <p:nvPicPr>
          <p:cNvPr id="8" name="Picture 7" descr="app-rumoca_fixed_wing.png"/>
          <p:cNvPicPr>
            <a:picLocks noChangeAspect="1"/>
          </p:cNvPicPr>
          <p:nvPr/>
        </p:nvPicPr>
        <p:blipFill>
          <a:blip r:embed="rId2"/>
          <a:stretch>
            <a:fillRect/>
          </a:stretch>
        </p:blipFill>
        <p:spPr>
          <a:xfrm>
            <a:off x="4935931" y="1673352"/>
            <a:ext cx="6130137" cy="3831336"/>
          </a:xfrm>
          <a:prstGeom prst="rect">
            <a:avLst/>
          </a:prstGeom>
        </p:spPr>
      </p:pic>
      <p:sp>
        <p:nvSpPr>
          <p:cNvPr id="9" name="TextBox 8"/>
          <p:cNvSpPr txBox="1"/>
          <p:nvPr/>
        </p:nvSpPr>
        <p:spPr>
          <a:xfrm>
            <a:off x="640080" y="1700784"/>
            <a:ext cx="3712463"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TRY THIS</a:t>
            </a:r>
          </a:p>
        </p:txBody>
      </p:sp>
      <p:sp>
        <p:nvSpPr>
          <p:cNvPr id="10" name="Rounded Rectangle 9"/>
          <p:cNvSpPr/>
          <p:nvPr/>
        </p:nvSpPr>
        <p:spPr>
          <a:xfrm>
            <a:off x="640080" y="2171700"/>
            <a:ext cx="338328" cy="338328"/>
          </a:xfrm>
          <a:prstGeom prst="roundRect">
            <a:avLst>
              <a:gd name="adj" fmla="val 8000"/>
            </a:avLst>
          </a:prstGeom>
          <a:solidFill>
            <a:srgbClr val="007E87"/>
          </a:solidFill>
          <a:ln>
            <a:noFill/>
          </a:ln>
        </p:spPr>
        <p:txBody>
          <a:bodyPr rtlCol="0" anchor="ctr"/>
          <a:lstStyle/>
          <a:p>
            <a:pPr algn="ctr"/>
          </a:p>
        </p:txBody>
      </p:sp>
      <p:sp>
        <p:nvSpPr>
          <p:cNvPr id="11" name="TextBox 10"/>
          <p:cNvSpPr txBox="1"/>
          <p:nvPr/>
        </p:nvSpPr>
        <p:spPr>
          <a:xfrm>
            <a:off x="736092" y="219913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12" name="TextBox 11"/>
          <p:cNvSpPr txBox="1"/>
          <p:nvPr/>
        </p:nvSpPr>
        <p:spPr>
          <a:xfrm>
            <a:off x="1143000" y="2148840"/>
            <a:ext cx="3054096" cy="1167384"/>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Modelica flight</a:t>
            </a:r>
          </a:p>
          <a:p>
            <a:pPr>
              <a:lnSpc>
                <a:spcPct val="124000"/>
              </a:lnSpc>
              <a:spcBef>
                <a:spcPts val="0"/>
              </a:spcBef>
              <a:spcAft>
                <a:spcPts val="0"/>
              </a:spcAft>
              <a:defRPr sz="2200" b="0">
                <a:solidFill>
                  <a:srgbClr val="131D2A"/>
                </a:solidFill>
                <a:latin typeface="DejaVu Sans"/>
              </a:defRPr>
            </a:pPr>
            <a:r>
              <a:t>simulation +</a:t>
            </a:r>
          </a:p>
          <a:p>
            <a:pPr>
              <a:lnSpc>
                <a:spcPct val="124000"/>
              </a:lnSpc>
              <a:spcBef>
                <a:spcPts val="0"/>
              </a:spcBef>
              <a:spcAft>
                <a:spcPts val="0"/>
              </a:spcAft>
              <a:defRPr sz="2200" b="0">
                <a:solidFill>
                  <a:srgbClr val="131D2A"/>
                </a:solidFill>
                <a:latin typeface="DejaVu Sans"/>
              </a:defRPr>
            </a:pPr>
            <a:r>
              <a:t>autopilot</a:t>
            </a:r>
          </a:p>
        </p:txBody>
      </p:sp>
      <p:sp>
        <p:nvSpPr>
          <p:cNvPr id="13" name="Rounded Rectangle 12"/>
          <p:cNvSpPr/>
          <p:nvPr/>
        </p:nvSpPr>
        <p:spPr>
          <a:xfrm>
            <a:off x="640080" y="3613404"/>
            <a:ext cx="338328" cy="338328"/>
          </a:xfrm>
          <a:prstGeom prst="roundRect">
            <a:avLst>
              <a:gd name="adj" fmla="val 8000"/>
            </a:avLst>
          </a:prstGeom>
          <a:solidFill>
            <a:srgbClr val="007E87"/>
          </a:solidFill>
          <a:ln>
            <a:noFill/>
          </a:ln>
        </p:spPr>
        <p:txBody>
          <a:bodyPr rtlCol="0" anchor="ctr"/>
          <a:lstStyle/>
          <a:p>
            <a:pPr algn="ctr"/>
          </a:p>
        </p:txBody>
      </p:sp>
      <p:sp>
        <p:nvSpPr>
          <p:cNvPr id="14" name="TextBox 13"/>
          <p:cNvSpPr txBox="1"/>
          <p:nvPr/>
        </p:nvSpPr>
        <p:spPr>
          <a:xfrm>
            <a:off x="736092" y="3640836"/>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5" name="TextBox 14"/>
          <p:cNvSpPr txBox="1"/>
          <p:nvPr/>
        </p:nvSpPr>
        <p:spPr>
          <a:xfrm>
            <a:off x="1143000" y="3590544"/>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Try 50 Hz → 20 Hz,</a:t>
            </a:r>
          </a:p>
          <a:p>
            <a:pPr>
              <a:lnSpc>
                <a:spcPct val="124000"/>
              </a:lnSpc>
              <a:spcBef>
                <a:spcPts val="0"/>
              </a:spcBef>
              <a:spcAft>
                <a:spcPts val="0"/>
              </a:spcAft>
              <a:defRPr sz="2200" b="0">
                <a:solidFill>
                  <a:srgbClr val="131D2A"/>
                </a:solidFill>
                <a:latin typeface="DejaVu Sans"/>
              </a:defRPr>
            </a:pPr>
            <a:r>
              <a:t>restart, then observe</a:t>
            </a:r>
          </a:p>
        </p:txBody>
      </p:sp>
      <p:sp>
        <p:nvSpPr>
          <p:cNvPr id="16" name="Rounded Rectangle 15"/>
          <p:cNvSpPr/>
          <p:nvPr/>
        </p:nvSpPr>
        <p:spPr>
          <a:xfrm>
            <a:off x="640080" y="4708652"/>
            <a:ext cx="338328" cy="338328"/>
          </a:xfrm>
          <a:prstGeom prst="roundRect">
            <a:avLst>
              <a:gd name="adj" fmla="val 8000"/>
            </a:avLst>
          </a:prstGeom>
          <a:solidFill>
            <a:srgbClr val="007E87"/>
          </a:solidFill>
          <a:ln>
            <a:noFill/>
          </a:ln>
        </p:spPr>
        <p:txBody>
          <a:bodyPr rtlCol="0" anchor="ctr"/>
          <a:lstStyle/>
          <a:p>
            <a:pPr algn="ctr"/>
          </a:p>
        </p:txBody>
      </p:sp>
      <p:sp>
        <p:nvSpPr>
          <p:cNvPr id="17" name="TextBox 16"/>
          <p:cNvSpPr txBox="1"/>
          <p:nvPr/>
        </p:nvSpPr>
        <p:spPr>
          <a:xfrm>
            <a:off x="736092" y="4736084"/>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8" name="TextBox 17"/>
          <p:cNvSpPr txBox="1"/>
          <p:nvPr/>
        </p:nvSpPr>
        <p:spPr>
          <a:xfrm>
            <a:off x="1143000" y="4685792"/>
            <a:ext cx="3054096" cy="1167384"/>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Also: slam_web (in</a:t>
            </a:r>
          </a:p>
          <a:p>
            <a:pPr>
              <a:lnSpc>
                <a:spcPct val="124000"/>
              </a:lnSpc>
              <a:spcBef>
                <a:spcPts val="0"/>
              </a:spcBef>
              <a:spcAft>
                <a:spcPts val="0"/>
              </a:spcAft>
              <a:defRPr sz="2200" b="0">
                <a:solidFill>
                  <a:srgbClr val="131D2A"/>
                </a:solidFill>
                <a:latin typeface="DejaVu Sans"/>
              </a:defRPr>
            </a:pPr>
            <a:r>
              <a:t>development),</a:t>
            </a:r>
          </a:p>
          <a:p>
            <a:pPr>
              <a:lnSpc>
                <a:spcPct val="124000"/>
              </a:lnSpc>
              <a:spcBef>
                <a:spcPts val="0"/>
              </a:spcBef>
              <a:spcAft>
                <a:spcPts val="0"/>
              </a:spcAft>
              <a:defRPr sz="2200" b="0">
                <a:solidFill>
                  <a:srgbClr val="131D2A"/>
                </a:solidFill>
                <a:latin typeface="DejaVu Sans"/>
              </a:defRPr>
            </a:pPr>
            <a:r>
              <a:t>mocap_sysid</a:t>
            </a:r>
          </a:p>
        </p:txBody>
      </p:sp>
      <p:sp>
        <p:nvSpPr>
          <p:cNvPr id="19" name="Rectangle 18"/>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20" name="TextBox 19"/>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Live links + short experiments: BROWSER_APPS.md</a:t>
            </a:r>
          </a:p>
        </p:txBody>
      </p:sp>
      <p:sp>
        <p:nvSpPr>
          <p:cNvPr id="21" name="Rectangle 20"/>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22" name="TextBox 21"/>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23" name="Rectangle 22"/>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24" name="TextBox 23"/>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MODEL</a:t>
            </a:r>
          </a:p>
        </p:txBody>
      </p:sp>
      <p:sp>
        <p:nvSpPr>
          <p:cNvPr id="25" name="Rectangle 24"/>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6" name="TextBox 25"/>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27" name="Rectangle 26"/>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8" name="TextBox 27"/>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29" name="TextBox 28"/>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131D2A"/>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OPEN CHALLENGE · SHORT DEMOS · AUDIENCE SHOW OF HANDS</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CFB991"/>
                </a:solidFill>
                <a:latin typeface="DejaVu Sans"/>
              </a:defRPr>
            </a:pPr>
            <a:r>
              <a:t>12:50–12:55</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FFFFFF"/>
                </a:solidFill>
                <a:latin typeface="DejaVu Sans"/>
              </a:defRPr>
            </a:pPr>
            <a:r>
              <a:t>Show your experiment. Vote for the cap.</a:t>
            </a:r>
          </a:p>
        </p:txBody>
      </p:sp>
      <p:sp>
        <p:nvSpPr>
          <p:cNvPr id="7" name="Rounded Rectangle 6"/>
          <p:cNvSpPr/>
          <p:nvPr/>
        </p:nvSpPr>
        <p:spPr>
          <a:xfrm>
            <a:off x="594360" y="1600200"/>
            <a:ext cx="3630168" cy="2121408"/>
          </a:xfrm>
          <a:prstGeom prst="roundRect">
            <a:avLst>
              <a:gd name="adj" fmla="val 8000"/>
            </a:avLst>
          </a:prstGeom>
          <a:solidFill>
            <a:srgbClr val="007E87"/>
          </a:solidFill>
          <a:ln>
            <a:noFill/>
          </a:ln>
        </p:spPr>
        <p:txBody>
          <a:bodyPr rtlCol="0" anchor="ctr"/>
          <a:lstStyle/>
          <a:p>
            <a:pPr algn="ctr"/>
          </a:p>
        </p:txBody>
      </p:sp>
      <p:sp>
        <p:nvSpPr>
          <p:cNvPr id="8" name="TextBox 7"/>
          <p:cNvSpPr txBox="1"/>
          <p:nvPr/>
        </p:nvSpPr>
        <p:spPr>
          <a:xfrm>
            <a:off x="822960" y="1773936"/>
            <a:ext cx="3209544" cy="1072896"/>
          </a:xfrm>
          <a:prstGeom prst="rect">
            <a:avLst/>
          </a:prstGeom>
          <a:noFill/>
        </p:spPr>
        <p:txBody>
          <a:bodyPr wrap="none" lIns="0" rIns="0" tIns="0" bIns="0">
            <a:spAutoFit/>
          </a:bodyPr>
          <a:lstStyle/>
          <a:p>
            <a:pPr>
              <a:lnSpc>
                <a:spcPct val="124000"/>
              </a:lnSpc>
              <a:spcBef>
                <a:spcPts val="0"/>
              </a:spcBef>
              <a:spcAft>
                <a:spcPts val="0"/>
              </a:spcAft>
              <a:defRPr sz="6000" b="1">
                <a:solidFill>
                  <a:srgbClr val="FFFFFF"/>
                </a:solidFill>
                <a:latin typeface="DejaVu Sans"/>
              </a:defRPr>
            </a:pPr>
            <a:r>
              <a:t>5</a:t>
            </a:r>
          </a:p>
        </p:txBody>
      </p:sp>
      <p:sp>
        <p:nvSpPr>
          <p:cNvPr id="9" name="TextBox 8"/>
          <p:cNvSpPr txBox="1"/>
          <p:nvPr/>
        </p:nvSpPr>
        <p:spPr>
          <a:xfrm>
            <a:off x="822960" y="3136392"/>
            <a:ext cx="3209544"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MAX. PRESENTERS</a:t>
            </a:r>
          </a:p>
        </p:txBody>
      </p:sp>
      <p:sp>
        <p:nvSpPr>
          <p:cNvPr id="10" name="Rounded Rectangle 9"/>
          <p:cNvSpPr/>
          <p:nvPr/>
        </p:nvSpPr>
        <p:spPr>
          <a:xfrm>
            <a:off x="4425696" y="1600200"/>
            <a:ext cx="3630168" cy="2121408"/>
          </a:xfrm>
          <a:prstGeom prst="roundRect">
            <a:avLst>
              <a:gd name="adj" fmla="val 8000"/>
            </a:avLst>
          </a:prstGeom>
          <a:solidFill>
            <a:srgbClr val="345FB5"/>
          </a:solidFill>
          <a:ln>
            <a:noFill/>
          </a:ln>
        </p:spPr>
        <p:txBody>
          <a:bodyPr rtlCol="0" anchor="ctr"/>
          <a:lstStyle/>
          <a:p>
            <a:pPr algn="ctr"/>
          </a:p>
        </p:txBody>
      </p:sp>
      <p:sp>
        <p:nvSpPr>
          <p:cNvPr id="11" name="TextBox 10"/>
          <p:cNvSpPr txBox="1"/>
          <p:nvPr/>
        </p:nvSpPr>
        <p:spPr>
          <a:xfrm>
            <a:off x="4654296" y="1773936"/>
            <a:ext cx="3209544" cy="1072896"/>
          </a:xfrm>
          <a:prstGeom prst="rect">
            <a:avLst/>
          </a:prstGeom>
          <a:noFill/>
        </p:spPr>
        <p:txBody>
          <a:bodyPr wrap="none" lIns="0" rIns="0" tIns="0" bIns="0">
            <a:spAutoFit/>
          </a:bodyPr>
          <a:lstStyle/>
          <a:p>
            <a:pPr>
              <a:lnSpc>
                <a:spcPct val="124000"/>
              </a:lnSpc>
              <a:spcBef>
                <a:spcPts val="0"/>
              </a:spcBef>
              <a:spcAft>
                <a:spcPts val="0"/>
              </a:spcAft>
              <a:defRPr sz="6000" b="1">
                <a:solidFill>
                  <a:srgbClr val="FFFFFF"/>
                </a:solidFill>
                <a:latin typeface="DejaVu Sans"/>
              </a:defRPr>
            </a:pPr>
            <a:r>
              <a:t>45 s</a:t>
            </a:r>
          </a:p>
        </p:txBody>
      </p:sp>
      <p:sp>
        <p:nvSpPr>
          <p:cNvPr id="12" name="TextBox 11"/>
          <p:cNvSpPr txBox="1"/>
          <p:nvPr/>
        </p:nvSpPr>
        <p:spPr>
          <a:xfrm>
            <a:off x="4654296" y="3136392"/>
            <a:ext cx="3209544"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EACH DEMO</a:t>
            </a:r>
          </a:p>
        </p:txBody>
      </p:sp>
      <p:sp>
        <p:nvSpPr>
          <p:cNvPr id="13" name="Rounded Rectangle 12"/>
          <p:cNvSpPr/>
          <p:nvPr/>
        </p:nvSpPr>
        <p:spPr>
          <a:xfrm>
            <a:off x="8257032" y="1600200"/>
            <a:ext cx="3630168" cy="2121408"/>
          </a:xfrm>
          <a:prstGeom prst="roundRect">
            <a:avLst>
              <a:gd name="adj" fmla="val 8000"/>
            </a:avLst>
          </a:prstGeom>
          <a:solidFill>
            <a:srgbClr val="B65131"/>
          </a:solidFill>
          <a:ln>
            <a:noFill/>
          </a:ln>
        </p:spPr>
        <p:txBody>
          <a:bodyPr rtlCol="0" anchor="ctr"/>
          <a:lstStyle/>
          <a:p>
            <a:pPr algn="ctr"/>
          </a:p>
        </p:txBody>
      </p:sp>
      <p:sp>
        <p:nvSpPr>
          <p:cNvPr id="14" name="TextBox 13"/>
          <p:cNvSpPr txBox="1"/>
          <p:nvPr/>
        </p:nvSpPr>
        <p:spPr>
          <a:xfrm>
            <a:off x="8485632" y="1773936"/>
            <a:ext cx="3209544" cy="1072896"/>
          </a:xfrm>
          <a:prstGeom prst="rect">
            <a:avLst/>
          </a:prstGeom>
          <a:noFill/>
        </p:spPr>
        <p:txBody>
          <a:bodyPr wrap="none" lIns="0" rIns="0" tIns="0" bIns="0">
            <a:spAutoFit/>
          </a:bodyPr>
          <a:lstStyle/>
          <a:p>
            <a:pPr>
              <a:lnSpc>
                <a:spcPct val="124000"/>
              </a:lnSpc>
              <a:spcBef>
                <a:spcPts val="0"/>
              </a:spcBef>
              <a:spcAft>
                <a:spcPts val="0"/>
              </a:spcAft>
              <a:defRPr sz="6000" b="1">
                <a:solidFill>
                  <a:srgbClr val="FFFFFF"/>
                </a:solidFill>
                <a:latin typeface="DejaVu Sans"/>
              </a:defRPr>
            </a:pPr>
            <a:r>
              <a:t>1</a:t>
            </a:r>
          </a:p>
        </p:txBody>
      </p:sp>
      <p:sp>
        <p:nvSpPr>
          <p:cNvPr id="15" name="TextBox 14"/>
          <p:cNvSpPr txBox="1"/>
          <p:nvPr/>
        </p:nvSpPr>
        <p:spPr>
          <a:xfrm>
            <a:off x="8485632" y="3136392"/>
            <a:ext cx="3209544"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VOTE PER PERSON</a:t>
            </a:r>
          </a:p>
        </p:txBody>
      </p:sp>
      <p:sp>
        <p:nvSpPr>
          <p:cNvPr id="16" name="TextBox 15"/>
          <p:cNvSpPr txBox="1"/>
          <p:nvPr/>
        </p:nvSpPr>
        <p:spPr>
          <a:xfrm>
            <a:off x="640080" y="4114800"/>
            <a:ext cx="10936224" cy="584707"/>
          </a:xfrm>
          <a:prstGeom prst="rect">
            <a:avLst/>
          </a:prstGeom>
          <a:noFill/>
        </p:spPr>
        <p:txBody>
          <a:bodyPr wrap="none" lIns="0" rIns="0" tIns="0" bIns="0">
            <a:spAutoFit/>
          </a:bodyPr>
          <a:lstStyle/>
          <a:p>
            <a:pPr>
              <a:lnSpc>
                <a:spcPct val="124000"/>
              </a:lnSpc>
              <a:spcBef>
                <a:spcPts val="0"/>
              </a:spcBef>
              <a:spcAft>
                <a:spcPts val="0"/>
              </a:spcAft>
              <a:defRPr sz="2900" b="1">
                <a:solidFill>
                  <a:srgbClr val="FFFFFF"/>
                </a:solidFill>
                <a:latin typeface="DejaVu Sans"/>
              </a:defRPr>
            </a:pPr>
            <a:r>
              <a:t>Show your change + one checked result</a:t>
            </a:r>
          </a:p>
        </p:txBody>
      </p:sp>
      <p:sp>
        <p:nvSpPr>
          <p:cNvPr id="17" name="TextBox 16"/>
          <p:cNvSpPr txBox="1"/>
          <p:nvPr/>
        </p:nvSpPr>
        <p:spPr>
          <a:xfrm>
            <a:off x="640080" y="4700016"/>
            <a:ext cx="10936224" cy="490220"/>
          </a:xfrm>
          <a:prstGeom prst="rect">
            <a:avLst/>
          </a:prstGeom>
          <a:noFill/>
        </p:spPr>
        <p:txBody>
          <a:bodyPr wrap="none" lIns="0" rIns="0" tIns="0" bIns="0">
            <a:spAutoFit/>
          </a:bodyPr>
          <a:lstStyle/>
          <a:p>
            <a:pPr>
              <a:lnSpc>
                <a:spcPct val="124000"/>
              </a:lnSpc>
              <a:spcBef>
                <a:spcPts val="0"/>
              </a:spcBef>
              <a:spcAft>
                <a:spcPts val="0"/>
              </a:spcAft>
              <a:defRPr sz="2300" b="0">
                <a:solidFill>
                  <a:srgbClr val="FFFFFF"/>
                </a:solidFill>
                <a:latin typeface="DejaVu Sans"/>
              </a:defRPr>
            </a:pPr>
            <a:r>
              <a:t>Name your tool. Share elapsed work time.</a:t>
            </a:r>
          </a:p>
        </p:txBody>
      </p:sp>
      <p:sp>
        <p:nvSpPr>
          <p:cNvPr id="18" name="TextBox 17"/>
          <p:cNvSpPr txBox="1"/>
          <p:nvPr/>
        </p:nvSpPr>
        <p:spPr>
          <a:xfrm>
            <a:off x="640080" y="5276088"/>
            <a:ext cx="10936224" cy="490220"/>
          </a:xfrm>
          <a:prstGeom prst="rect">
            <a:avLst/>
          </a:prstGeom>
          <a:noFill/>
        </p:spPr>
        <p:txBody>
          <a:bodyPr wrap="none" lIns="0" rIns="0" tIns="0" bIns="0">
            <a:spAutoFit/>
          </a:bodyPr>
          <a:lstStyle/>
          <a:p>
            <a:pPr>
              <a:lnSpc>
                <a:spcPct val="124000"/>
              </a:lnSpc>
              <a:spcBef>
                <a:spcPts val="0"/>
              </a:spcBef>
              <a:spcAft>
                <a:spcPts val="0"/>
              </a:spcAft>
              <a:defRPr sz="2300" b="1">
                <a:solidFill>
                  <a:srgbClr val="CFB991"/>
                </a:solidFill>
                <a:latin typeface="DejaVu Sans"/>
              </a:defRPr>
            </a:pPr>
            <a:r>
              <a:t>Audience favorite wins a free CogniPilot stocking cap</a:t>
            </a:r>
          </a:p>
        </p:txBody>
      </p:sp>
      <p:sp>
        <p:nvSpPr>
          <p:cNvPr id="19" name="Rectangle 18"/>
          <p:cNvSpPr/>
          <p:nvPr/>
        </p:nvSpPr>
        <p:spPr>
          <a:xfrm>
            <a:off x="594360" y="6108192"/>
            <a:ext cx="54864" cy="228600"/>
          </a:xfrm>
          <a:prstGeom prst="rect">
            <a:avLst/>
          </a:prstGeom>
          <a:solidFill>
            <a:srgbClr val="CFB991"/>
          </a:solidFill>
          <a:ln>
            <a:noFill/>
          </a:ln>
        </p:spPr>
        <p:txBody>
          <a:bodyPr rtlCol="0" anchor="ctr"/>
          <a:lstStyle/>
          <a:p>
            <a:pPr algn="ctr"/>
          </a:p>
        </p:txBody>
      </p:sp>
      <p:sp>
        <p:nvSpPr>
          <p:cNvPr id="20" name="TextBox 19"/>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CFB991"/>
                </a:solidFill>
                <a:latin typeface="DejaVu Sans"/>
              </a:defRPr>
            </a:pPr>
            <a:r>
              <a:t>Random draw if more than 5 ready entries → audience hand vote</a:t>
            </a:r>
          </a:p>
        </p:txBody>
      </p:sp>
      <p:sp>
        <p:nvSpPr>
          <p:cNvPr id="21" name="Rectangle 20"/>
          <p:cNvSpPr/>
          <p:nvPr/>
        </p:nvSpPr>
        <p:spPr>
          <a:xfrm>
            <a:off x="594360" y="6519672"/>
            <a:ext cx="11000232" cy="13716"/>
          </a:xfrm>
          <a:prstGeom prst="rect">
            <a:avLst/>
          </a:prstGeom>
          <a:solidFill>
            <a:srgbClr val="344153"/>
          </a:solidFill>
          <a:ln>
            <a:noFill/>
          </a:ln>
        </p:spPr>
        <p:txBody>
          <a:bodyPr rtlCol="0" anchor="ctr"/>
          <a:lstStyle/>
          <a:p>
            <a:pPr algn="ctr"/>
          </a:p>
        </p:txBody>
      </p:sp>
      <p:sp>
        <p:nvSpPr>
          <p:cNvPr id="22" name="TextBox 21"/>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D1D7DF"/>
                </a:solidFill>
                <a:latin typeface="DejaVu Sans"/>
              </a:defRPr>
            </a:pPr>
            <a:r>
              <a:t>PURDUE AEROSPACE / GEORGIA TECH / AMC 2026</a:t>
            </a:r>
          </a:p>
        </p:txBody>
      </p:sp>
      <p:sp>
        <p:nvSpPr>
          <p:cNvPr id="23" name="Rectangle 22"/>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24" name="TextBox 23"/>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MODEL</a:t>
            </a:r>
          </a:p>
        </p:txBody>
      </p:sp>
      <p:sp>
        <p:nvSpPr>
          <p:cNvPr id="25" name="Rectangle 24"/>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6" name="TextBox 25"/>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FIT</a:t>
            </a:r>
          </a:p>
        </p:txBody>
      </p:sp>
      <p:sp>
        <p:nvSpPr>
          <p:cNvPr id="27" name="Rectangle 26"/>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8" name="TextBox 27"/>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OPTIMIZE</a:t>
            </a:r>
          </a:p>
        </p:txBody>
      </p:sp>
      <p:sp>
        <p:nvSpPr>
          <p:cNvPr id="29" name="TextBox 28"/>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CFB991"/>
                </a:solidFill>
                <a:latin typeface="DejaVu Sans"/>
              </a:defRPr>
            </a:pPr>
            <a: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131D2A"/>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94360" y="320040"/>
            <a:ext cx="1011326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YOUR MODELICA EXPERTISE CAN MOVE THIS RESEARCH FORWARD</a:t>
            </a:r>
          </a:p>
        </p:txBody>
      </p:sp>
      <p:sp>
        <p:nvSpPr>
          <p:cNvPr id="5" name="TextBox 4"/>
          <p:cNvSpPr txBox="1"/>
          <p:nvPr/>
        </p:nvSpPr>
        <p:spPr>
          <a:xfrm>
            <a:off x="10378440" y="320040"/>
            <a:ext cx="128930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CFB991"/>
                </a:solidFill>
                <a:latin typeface="DejaVu Sans"/>
              </a:defRPr>
            </a:pPr>
            <a:r>
              <a:t>12:55–13:00</a:t>
            </a:r>
          </a:p>
        </p:txBody>
      </p:sp>
      <p:sp>
        <p:nvSpPr>
          <p:cNvPr id="6" name="TextBox 5"/>
          <p:cNvSpPr txBox="1"/>
          <p:nvPr/>
        </p:nvSpPr>
        <p:spPr>
          <a:xfrm>
            <a:off x="594360" y="1463040"/>
            <a:ext cx="8741664" cy="883920"/>
          </a:xfrm>
          <a:prstGeom prst="rect">
            <a:avLst/>
          </a:prstGeom>
          <a:noFill/>
        </p:spPr>
        <p:txBody>
          <a:bodyPr wrap="none" lIns="0" rIns="0" tIns="0" bIns="0">
            <a:spAutoFit/>
          </a:bodyPr>
          <a:lstStyle/>
          <a:p>
            <a:pPr>
              <a:lnSpc>
                <a:spcPct val="124000"/>
              </a:lnSpc>
              <a:spcBef>
                <a:spcPts val="0"/>
              </a:spcBef>
              <a:spcAft>
                <a:spcPts val="0"/>
              </a:spcAft>
              <a:defRPr sz="4800" b="1">
                <a:solidFill>
                  <a:srgbClr val="FFFFFF"/>
                </a:solidFill>
                <a:latin typeface="DejaVu Sans"/>
              </a:defRPr>
            </a:pPr>
            <a:r>
              <a:t>Bring your model.</a:t>
            </a:r>
          </a:p>
        </p:txBody>
      </p:sp>
      <p:sp>
        <p:nvSpPr>
          <p:cNvPr id="7" name="TextBox 6"/>
          <p:cNvSpPr txBox="1"/>
          <p:nvPr/>
        </p:nvSpPr>
        <p:spPr>
          <a:xfrm>
            <a:off x="594360" y="2212848"/>
            <a:ext cx="8741664" cy="789431"/>
          </a:xfrm>
          <a:prstGeom prst="rect">
            <a:avLst/>
          </a:prstGeom>
          <a:noFill/>
        </p:spPr>
        <p:txBody>
          <a:bodyPr wrap="none" lIns="0" rIns="0" tIns="0" bIns="0">
            <a:spAutoFit/>
          </a:bodyPr>
          <a:lstStyle/>
          <a:p>
            <a:pPr>
              <a:lnSpc>
                <a:spcPct val="124000"/>
              </a:lnSpc>
              <a:spcBef>
                <a:spcPts val="0"/>
              </a:spcBef>
              <a:spcAft>
                <a:spcPts val="0"/>
              </a:spcAft>
              <a:defRPr sz="4200" b="1">
                <a:solidFill>
                  <a:srgbClr val="CFB991"/>
                </a:solidFill>
                <a:latin typeface="DejaVu Sans"/>
              </a:defRPr>
            </a:pPr>
            <a:r>
              <a:t>Join the work.</a:t>
            </a:r>
          </a:p>
        </p:txBody>
      </p:sp>
      <p:sp>
        <p:nvSpPr>
          <p:cNvPr id="8" name="Rounded Rectangle 7"/>
          <p:cNvSpPr/>
          <p:nvPr/>
        </p:nvSpPr>
        <p:spPr>
          <a:xfrm>
            <a:off x="640080" y="3268979"/>
            <a:ext cx="338328" cy="338328"/>
          </a:xfrm>
          <a:prstGeom prst="roundRect">
            <a:avLst>
              <a:gd name="adj" fmla="val 8000"/>
            </a:avLst>
          </a:prstGeom>
          <a:solidFill>
            <a:srgbClr val="007E87"/>
          </a:solidFill>
          <a:ln>
            <a:noFill/>
          </a:ln>
        </p:spPr>
        <p:txBody>
          <a:bodyPr rtlCol="0" anchor="ctr"/>
          <a:lstStyle/>
          <a:p>
            <a:pPr algn="ctr"/>
          </a:p>
        </p:txBody>
      </p:sp>
      <p:sp>
        <p:nvSpPr>
          <p:cNvPr id="9" name="TextBox 8"/>
          <p:cNvSpPr txBox="1"/>
          <p:nvPr/>
        </p:nvSpPr>
        <p:spPr>
          <a:xfrm>
            <a:off x="736092" y="329641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10" name="TextBox 9"/>
          <p:cNvSpPr txBox="1"/>
          <p:nvPr/>
        </p:nvSpPr>
        <p:spPr>
          <a:xfrm>
            <a:off x="1143000" y="3246120"/>
            <a:ext cx="7872983" cy="474471"/>
          </a:xfrm>
          <a:prstGeom prst="rect">
            <a:avLst/>
          </a:prstGeom>
          <a:noFill/>
        </p:spPr>
        <p:txBody>
          <a:bodyPr wrap="none" lIns="0" rIns="0" tIns="0" bIns="0">
            <a:spAutoFit/>
          </a:bodyPr>
          <a:lstStyle/>
          <a:p>
            <a:pPr>
              <a:lnSpc>
                <a:spcPct val="124000"/>
              </a:lnSpc>
              <a:spcBef>
                <a:spcPts val="0"/>
              </a:spcBef>
              <a:spcAft>
                <a:spcPts val="0"/>
              </a:spcAft>
              <a:defRPr sz="2200" b="0">
                <a:solidFill>
                  <a:srgbClr val="FFFFFF"/>
                </a:solidFill>
                <a:latin typeface="DejaVu Sans"/>
              </a:defRPr>
            </a:pPr>
            <a:r>
              <a:t>Bring a model or a question from your own domain</a:t>
            </a:r>
          </a:p>
        </p:txBody>
      </p:sp>
      <p:sp>
        <p:nvSpPr>
          <p:cNvPr id="11" name="Rounded Rectangle 10"/>
          <p:cNvSpPr/>
          <p:nvPr/>
        </p:nvSpPr>
        <p:spPr>
          <a:xfrm>
            <a:off x="640080" y="3880612"/>
            <a:ext cx="338328" cy="338328"/>
          </a:xfrm>
          <a:prstGeom prst="roundRect">
            <a:avLst>
              <a:gd name="adj" fmla="val 8000"/>
            </a:avLst>
          </a:prstGeom>
          <a:solidFill>
            <a:srgbClr val="007E87"/>
          </a:solidFill>
          <a:ln>
            <a:noFill/>
          </a:ln>
        </p:spPr>
        <p:txBody>
          <a:bodyPr rtlCol="0" anchor="ctr"/>
          <a:lstStyle/>
          <a:p>
            <a:pPr algn="ctr"/>
          </a:p>
        </p:txBody>
      </p:sp>
      <p:sp>
        <p:nvSpPr>
          <p:cNvPr id="12" name="TextBox 11"/>
          <p:cNvSpPr txBox="1"/>
          <p:nvPr/>
        </p:nvSpPr>
        <p:spPr>
          <a:xfrm>
            <a:off x="736092" y="3908043"/>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3" name="TextBox 12"/>
          <p:cNvSpPr txBox="1"/>
          <p:nvPr/>
        </p:nvSpPr>
        <p:spPr>
          <a:xfrm>
            <a:off x="1143000" y="3857751"/>
            <a:ext cx="7872983" cy="474471"/>
          </a:xfrm>
          <a:prstGeom prst="rect">
            <a:avLst/>
          </a:prstGeom>
          <a:noFill/>
        </p:spPr>
        <p:txBody>
          <a:bodyPr wrap="none" lIns="0" rIns="0" tIns="0" bIns="0">
            <a:spAutoFit/>
          </a:bodyPr>
          <a:lstStyle/>
          <a:p>
            <a:pPr>
              <a:lnSpc>
                <a:spcPct val="124000"/>
              </a:lnSpc>
              <a:spcBef>
                <a:spcPts val="0"/>
              </a:spcBef>
              <a:spcAft>
                <a:spcPts val="0"/>
              </a:spcAft>
              <a:defRPr sz="2200" b="0">
                <a:solidFill>
                  <a:srgbClr val="FFFFFF"/>
                </a:solidFill>
                <a:latin typeface="DejaVu Sans"/>
              </a:defRPr>
            </a:pPr>
            <a:r>
              <a:t>Add a validation case, model library or compiler fix</a:t>
            </a:r>
          </a:p>
        </p:txBody>
      </p:sp>
      <p:sp>
        <p:nvSpPr>
          <p:cNvPr id="14" name="Rounded Rectangle 13"/>
          <p:cNvSpPr/>
          <p:nvPr/>
        </p:nvSpPr>
        <p:spPr>
          <a:xfrm>
            <a:off x="640080" y="4492244"/>
            <a:ext cx="338328" cy="338328"/>
          </a:xfrm>
          <a:prstGeom prst="roundRect">
            <a:avLst>
              <a:gd name="adj" fmla="val 8000"/>
            </a:avLst>
          </a:prstGeom>
          <a:solidFill>
            <a:srgbClr val="007E87"/>
          </a:solidFill>
          <a:ln>
            <a:noFill/>
          </a:ln>
        </p:spPr>
        <p:txBody>
          <a:bodyPr rtlCol="0" anchor="ctr"/>
          <a:lstStyle/>
          <a:p>
            <a:pPr algn="ctr"/>
          </a:p>
        </p:txBody>
      </p:sp>
      <p:sp>
        <p:nvSpPr>
          <p:cNvPr id="15" name="TextBox 14"/>
          <p:cNvSpPr txBox="1"/>
          <p:nvPr/>
        </p:nvSpPr>
        <p:spPr>
          <a:xfrm>
            <a:off x="736092" y="4519675"/>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6" name="TextBox 15"/>
          <p:cNvSpPr txBox="1"/>
          <p:nvPr/>
        </p:nvSpPr>
        <p:spPr>
          <a:xfrm>
            <a:off x="1143000" y="4469383"/>
            <a:ext cx="7872983" cy="474471"/>
          </a:xfrm>
          <a:prstGeom prst="rect">
            <a:avLst/>
          </a:prstGeom>
          <a:noFill/>
        </p:spPr>
        <p:txBody>
          <a:bodyPr wrap="none" lIns="0" rIns="0" tIns="0" bIns="0">
            <a:spAutoFit/>
          </a:bodyPr>
          <a:lstStyle/>
          <a:p>
            <a:pPr>
              <a:lnSpc>
                <a:spcPct val="124000"/>
              </a:lnSpc>
              <a:spcBef>
                <a:spcPts val="0"/>
              </a:spcBef>
              <a:spcAft>
                <a:spcPts val="0"/>
              </a:spcAft>
              <a:defRPr sz="2200" b="0">
                <a:solidFill>
                  <a:srgbClr val="FFFFFF"/>
                </a:solidFill>
                <a:latin typeface="DejaVu Sans"/>
              </a:defRPr>
            </a:pPr>
            <a:r>
              <a:t>Start a conversation: problem + model + one check</a:t>
            </a:r>
          </a:p>
        </p:txBody>
      </p:sp>
      <p:sp>
        <p:nvSpPr>
          <p:cNvPr id="17" name="Rounded Rectangle 16"/>
          <p:cNvSpPr/>
          <p:nvPr/>
        </p:nvSpPr>
        <p:spPr>
          <a:xfrm>
            <a:off x="9281160" y="3108960"/>
            <a:ext cx="2286000" cy="2377440"/>
          </a:xfrm>
          <a:prstGeom prst="roundRect">
            <a:avLst>
              <a:gd name="adj" fmla="val 8000"/>
            </a:avLst>
          </a:prstGeom>
          <a:solidFill>
            <a:srgbClr val="FFFFFF"/>
          </a:solidFill>
          <a:ln>
            <a:noFill/>
          </a:ln>
        </p:spPr>
        <p:txBody>
          <a:bodyPr rtlCol="0" anchor="ctr"/>
          <a:lstStyle/>
          <a:p>
            <a:pPr algn="ctr"/>
          </a:p>
        </p:txBody>
      </p:sp>
      <p:pic>
        <p:nvPicPr>
          <p:cNvPr id="18" name="Picture 17" descr="community-qr.png"/>
          <p:cNvPicPr>
            <a:picLocks noChangeAspect="1"/>
          </p:cNvPicPr>
          <p:nvPr/>
        </p:nvPicPr>
        <p:blipFill>
          <a:blip r:embed="rId2"/>
          <a:stretch>
            <a:fillRect/>
          </a:stretch>
        </p:blipFill>
        <p:spPr>
          <a:xfrm>
            <a:off x="9464040" y="3291840"/>
            <a:ext cx="1920240" cy="1920240"/>
          </a:xfrm>
          <a:prstGeom prst="rect">
            <a:avLst/>
          </a:prstGeom>
        </p:spPr>
      </p:pic>
      <p:sp>
        <p:nvSpPr>
          <p:cNvPr id="19" name="TextBox 18"/>
          <p:cNvSpPr txBox="1"/>
          <p:nvPr/>
        </p:nvSpPr>
        <p:spPr>
          <a:xfrm>
            <a:off x="640080" y="5751576"/>
            <a:ext cx="8741664" cy="395732"/>
          </a:xfrm>
          <a:prstGeom prst="rect">
            <a:avLst/>
          </a:prstGeom>
          <a:noFill/>
        </p:spPr>
        <p:txBody>
          <a:bodyPr wrap="none" lIns="0" rIns="0" tIns="0" bIns="0">
            <a:spAutoFit/>
          </a:bodyPr>
          <a:lstStyle/>
          <a:p>
            <a:pPr>
              <a:lnSpc>
                <a:spcPct val="124000"/>
              </a:lnSpc>
              <a:spcBef>
                <a:spcPts val="0"/>
              </a:spcBef>
              <a:spcAft>
                <a:spcPts val="0"/>
              </a:spcAft>
              <a:defRPr sz="1700" b="0">
                <a:solidFill>
                  <a:srgbClr val="CFB991"/>
                </a:solidFill>
                <a:latin typeface="DejaVu Sans"/>
              </a:defRPr>
            </a:pPr>
            <a:r>
              <a:t>James Goppert · Micah Condie</a:t>
            </a:r>
          </a:p>
        </p:txBody>
      </p:sp>
      <p:sp>
        <p:nvSpPr>
          <p:cNvPr id="20" name="Rectangle 19"/>
          <p:cNvSpPr/>
          <p:nvPr/>
        </p:nvSpPr>
        <p:spPr>
          <a:xfrm>
            <a:off x="594360" y="6108192"/>
            <a:ext cx="54864" cy="228600"/>
          </a:xfrm>
          <a:prstGeom prst="rect">
            <a:avLst/>
          </a:prstGeom>
          <a:solidFill>
            <a:srgbClr val="CFB991"/>
          </a:solidFill>
          <a:ln>
            <a:noFill/>
          </a:ln>
        </p:spPr>
        <p:txBody>
          <a:bodyPr rtlCol="0" anchor="ctr"/>
          <a:lstStyle/>
          <a:p>
            <a:pPr algn="ctr"/>
          </a:p>
        </p:txBody>
      </p:sp>
      <p:sp>
        <p:nvSpPr>
          <p:cNvPr id="21" name="TextBox 20"/>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CFB991"/>
                </a:solidFill>
                <a:latin typeface="DejaVu Sans"/>
              </a:defRPr>
            </a:pPr>
            <a:r>
              <a:t>Scan to join the work · COMMUNITY.md · questions welcome</a:t>
            </a:r>
          </a:p>
        </p:txBody>
      </p:sp>
      <p:sp>
        <p:nvSpPr>
          <p:cNvPr id="22" name="Rectangle 21"/>
          <p:cNvSpPr/>
          <p:nvPr/>
        </p:nvSpPr>
        <p:spPr>
          <a:xfrm>
            <a:off x="594360" y="6519672"/>
            <a:ext cx="11000232" cy="13716"/>
          </a:xfrm>
          <a:prstGeom prst="rect">
            <a:avLst/>
          </a:prstGeom>
          <a:solidFill>
            <a:srgbClr val="344153"/>
          </a:solidFill>
          <a:ln>
            <a:noFill/>
          </a:ln>
        </p:spPr>
        <p:txBody>
          <a:bodyPr rtlCol="0" anchor="ctr"/>
          <a:lstStyle/>
          <a:p>
            <a:pPr algn="ctr"/>
          </a:p>
        </p:txBody>
      </p:sp>
      <p:sp>
        <p:nvSpPr>
          <p:cNvPr id="23" name="TextBox 22"/>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D1D7DF"/>
                </a:solidFill>
                <a:latin typeface="DejaVu Sans"/>
              </a:defRPr>
            </a:pPr>
            <a:r>
              <a:t>PURDUE AEROSPACE / GEORGIA TECH / AMC 2026</a:t>
            </a:r>
          </a:p>
        </p:txBody>
      </p:sp>
      <p:sp>
        <p:nvSpPr>
          <p:cNvPr id="24" name="Rectangle 23"/>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25" name="TextBox 24"/>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MODEL</a:t>
            </a:r>
          </a:p>
        </p:txBody>
      </p:sp>
      <p:sp>
        <p:nvSpPr>
          <p:cNvPr id="26" name="Rectangle 25"/>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7" name="TextBox 26"/>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FIT</a:t>
            </a:r>
          </a:p>
        </p:txBody>
      </p:sp>
      <p:sp>
        <p:nvSpPr>
          <p:cNvPr id="28" name="Rectangle 27"/>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9" name="TextBox 28"/>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OPTIMIZE</a:t>
            </a:r>
          </a:p>
        </p:txBody>
      </p:sp>
      <p:sp>
        <p:nvSpPr>
          <p:cNvPr id="30" name="TextBox 29"/>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CFB991"/>
                </a:solidFill>
                <a:latin typeface="DejaVu Sans"/>
              </a:defRPr>
            </a:pPr>
            <a: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SCOPE MATTERS · MATH_REVIEW.MD</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Appendix</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Exact-real proofs and numerical evidence</a:t>
            </a:r>
          </a:p>
        </p:txBody>
      </p:sp>
      <p:sp>
        <p:nvSpPr>
          <p:cNvPr id="7" name="Rounded Rectangle 6"/>
          <p:cNvSpPr/>
          <p:nvPr/>
        </p:nvSpPr>
        <p:spPr>
          <a:xfrm>
            <a:off x="4407408" y="1554480"/>
            <a:ext cx="7187184" cy="4069080"/>
          </a:xfrm>
          <a:prstGeom prst="roundRect">
            <a:avLst>
              <a:gd name="adj" fmla="val 8000"/>
            </a:avLst>
          </a:prstGeom>
          <a:solidFill>
            <a:srgbClr val="FFFFFF"/>
          </a:solidFill>
          <a:ln>
            <a:noFill/>
          </a:ln>
        </p:spPr>
        <p:txBody>
          <a:bodyPr rtlCol="0" anchor="ctr"/>
          <a:lstStyle/>
          <a:p>
            <a:pPr algn="ctr"/>
          </a:p>
        </p:txBody>
      </p:sp>
      <p:pic>
        <p:nvPicPr>
          <p:cNvPr id="8" name="Picture 7" descr="math_audit.png"/>
          <p:cNvPicPr>
            <a:picLocks noChangeAspect="1"/>
          </p:cNvPicPr>
          <p:nvPr/>
        </p:nvPicPr>
        <p:blipFill>
          <a:blip r:embed="rId2"/>
          <a:stretch>
            <a:fillRect/>
          </a:stretch>
        </p:blipFill>
        <p:spPr>
          <a:xfrm>
            <a:off x="4517136" y="2517061"/>
            <a:ext cx="6967727" cy="2143916"/>
          </a:xfrm>
          <a:prstGeom prst="rect">
            <a:avLst/>
          </a:prstGeom>
        </p:spPr>
      </p:pic>
      <p:sp>
        <p:nvSpPr>
          <p:cNvPr id="9" name="TextBox 8"/>
          <p:cNvSpPr txBox="1"/>
          <p:nvPr/>
        </p:nvSpPr>
        <p:spPr>
          <a:xfrm>
            <a:off x="640080" y="1700784"/>
            <a:ext cx="3712463"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THE IDEA</a:t>
            </a:r>
          </a:p>
        </p:txBody>
      </p:sp>
      <p:sp>
        <p:nvSpPr>
          <p:cNvPr id="10" name="Rounded Rectangle 9"/>
          <p:cNvSpPr/>
          <p:nvPr/>
        </p:nvSpPr>
        <p:spPr>
          <a:xfrm>
            <a:off x="640080" y="2171700"/>
            <a:ext cx="338328" cy="338328"/>
          </a:xfrm>
          <a:prstGeom prst="roundRect">
            <a:avLst>
              <a:gd name="adj" fmla="val 8000"/>
            </a:avLst>
          </a:prstGeom>
          <a:solidFill>
            <a:srgbClr val="007E87"/>
          </a:solidFill>
          <a:ln>
            <a:noFill/>
          </a:ln>
        </p:spPr>
        <p:txBody>
          <a:bodyPr rtlCol="0" anchor="ctr"/>
          <a:lstStyle/>
          <a:p>
            <a:pPr algn="ctr"/>
          </a:p>
        </p:txBody>
      </p:sp>
      <p:sp>
        <p:nvSpPr>
          <p:cNvPr id="11" name="TextBox 10"/>
          <p:cNvSpPr txBox="1"/>
          <p:nvPr/>
        </p:nvSpPr>
        <p:spPr>
          <a:xfrm>
            <a:off x="736092" y="219913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12" name="TextBox 11"/>
          <p:cNvSpPr txBox="1"/>
          <p:nvPr/>
        </p:nvSpPr>
        <p:spPr>
          <a:xfrm>
            <a:off x="1143000" y="2148840"/>
            <a:ext cx="3054096" cy="1167384"/>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Lean: equation</a:t>
            </a:r>
          </a:p>
          <a:p>
            <a:pPr>
              <a:lnSpc>
                <a:spcPct val="124000"/>
              </a:lnSpc>
              <a:spcBef>
                <a:spcPts val="0"/>
              </a:spcBef>
              <a:spcAft>
                <a:spcPts val="0"/>
              </a:spcAft>
              <a:defRPr sz="2200" b="0">
                <a:solidFill>
                  <a:srgbClr val="131D2A"/>
                </a:solidFill>
                <a:latin typeface="DejaVu Sans"/>
              </a:defRPr>
            </a:pPr>
            <a:r>
              <a:t>equality and</a:t>
            </a:r>
          </a:p>
          <a:p>
            <a:pPr>
              <a:lnSpc>
                <a:spcPct val="124000"/>
              </a:lnSpc>
              <a:spcBef>
                <a:spcPts val="0"/>
              </a:spcBef>
              <a:spcAft>
                <a:spcPts val="0"/>
              </a:spcAft>
              <a:defRPr sz="2200" b="0">
                <a:solidFill>
                  <a:srgbClr val="131D2A"/>
                </a:solidFill>
                <a:latin typeface="DejaVu Sans"/>
              </a:defRPr>
            </a:pPr>
            <a:r>
              <a:t>invariants</a:t>
            </a:r>
          </a:p>
        </p:txBody>
      </p:sp>
      <p:sp>
        <p:nvSpPr>
          <p:cNvPr id="13" name="Rounded Rectangle 12"/>
          <p:cNvSpPr/>
          <p:nvPr/>
        </p:nvSpPr>
        <p:spPr>
          <a:xfrm>
            <a:off x="640080" y="3613404"/>
            <a:ext cx="338328" cy="338328"/>
          </a:xfrm>
          <a:prstGeom prst="roundRect">
            <a:avLst>
              <a:gd name="adj" fmla="val 8000"/>
            </a:avLst>
          </a:prstGeom>
          <a:solidFill>
            <a:srgbClr val="007E87"/>
          </a:solidFill>
          <a:ln>
            <a:noFill/>
          </a:ln>
        </p:spPr>
        <p:txBody>
          <a:bodyPr rtlCol="0" anchor="ctr"/>
          <a:lstStyle/>
          <a:p>
            <a:pPr algn="ctr"/>
          </a:p>
        </p:txBody>
      </p:sp>
      <p:sp>
        <p:nvSpPr>
          <p:cNvPr id="14" name="TextBox 13"/>
          <p:cNvSpPr txBox="1"/>
          <p:nvPr/>
        </p:nvSpPr>
        <p:spPr>
          <a:xfrm>
            <a:off x="736092" y="3640836"/>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5" name="TextBox 14"/>
          <p:cNvSpPr txBox="1"/>
          <p:nvPr/>
        </p:nvSpPr>
        <p:spPr>
          <a:xfrm>
            <a:off x="1143000" y="3590544"/>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Audit: gradients,</a:t>
            </a:r>
          </a:p>
          <a:p>
            <a:pPr>
              <a:lnSpc>
                <a:spcPct val="124000"/>
              </a:lnSpc>
              <a:spcBef>
                <a:spcPts val="0"/>
              </a:spcBef>
              <a:spcAft>
                <a:spcPts val="0"/>
              </a:spcAft>
              <a:defRPr sz="2200" b="0">
                <a:solidFill>
                  <a:srgbClr val="131D2A"/>
                </a:solidFill>
                <a:latin typeface="DejaVu Sans"/>
              </a:defRPr>
            </a:pPr>
            <a:r>
              <a:t>profiles, integration</a:t>
            </a:r>
          </a:p>
        </p:txBody>
      </p:sp>
      <p:sp>
        <p:nvSpPr>
          <p:cNvPr id="16" name="Rounded Rectangle 15"/>
          <p:cNvSpPr/>
          <p:nvPr/>
        </p:nvSpPr>
        <p:spPr>
          <a:xfrm>
            <a:off x="640080" y="4708652"/>
            <a:ext cx="338328" cy="338328"/>
          </a:xfrm>
          <a:prstGeom prst="roundRect">
            <a:avLst>
              <a:gd name="adj" fmla="val 8000"/>
            </a:avLst>
          </a:prstGeom>
          <a:solidFill>
            <a:srgbClr val="007E87"/>
          </a:solidFill>
          <a:ln>
            <a:noFill/>
          </a:ln>
        </p:spPr>
        <p:txBody>
          <a:bodyPr rtlCol="0" anchor="ctr"/>
          <a:lstStyle/>
          <a:p>
            <a:pPr algn="ctr"/>
          </a:p>
        </p:txBody>
      </p:sp>
      <p:sp>
        <p:nvSpPr>
          <p:cNvPr id="17" name="TextBox 16"/>
          <p:cNvSpPr txBox="1"/>
          <p:nvPr/>
        </p:nvSpPr>
        <p:spPr>
          <a:xfrm>
            <a:off x="736092" y="4736084"/>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8" name="TextBox 17"/>
          <p:cNvSpPr txBox="1"/>
          <p:nvPr/>
        </p:nvSpPr>
        <p:spPr>
          <a:xfrm>
            <a:off x="1143000" y="4685792"/>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Papers: model and</a:t>
            </a:r>
          </a:p>
          <a:p>
            <a:pPr>
              <a:lnSpc>
                <a:spcPct val="124000"/>
              </a:lnSpc>
              <a:spcBef>
                <a:spcPts val="0"/>
              </a:spcBef>
              <a:spcAft>
                <a:spcPts val="0"/>
              </a:spcAft>
              <a:defRPr sz="2200" b="0">
                <a:solidFill>
                  <a:srgbClr val="131D2A"/>
                </a:solidFill>
                <a:latin typeface="DejaVu Sans"/>
              </a:defRPr>
            </a:pPr>
            <a:r>
              <a:t>method choices</a:t>
            </a:r>
          </a:p>
        </p:txBody>
      </p:sp>
      <p:sp>
        <p:nvSpPr>
          <p:cNvPr id="19" name="Rectangle 18"/>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20" name="TextBox 19"/>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None of these certify arbitrary edits or real flight.</a:t>
            </a:r>
          </a:p>
        </p:txBody>
      </p:sp>
      <p:sp>
        <p:nvSpPr>
          <p:cNvPr id="21" name="Rectangle 20"/>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22" name="TextBox 21"/>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23" name="Rectangle 22"/>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24" name="TextBox 23"/>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MODEL</a:t>
            </a:r>
          </a:p>
        </p:txBody>
      </p:sp>
      <p:sp>
        <p:nvSpPr>
          <p:cNvPr id="25" name="Rectangle 24"/>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6" name="TextBox 25"/>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27" name="Rectangle 26"/>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8" name="TextBox 27"/>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29" name="TextBox 28"/>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A1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FULL CITATIONS AND CHECKED EQUATIONS: MATH_REVIEW.MD</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Appendix</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Primary papers behind the approach</a:t>
            </a:r>
          </a:p>
        </p:txBody>
      </p:sp>
      <p:sp>
        <p:nvSpPr>
          <p:cNvPr id="7" name="Rounded Rectangle 6"/>
          <p:cNvSpPr/>
          <p:nvPr/>
        </p:nvSpPr>
        <p:spPr>
          <a:xfrm>
            <a:off x="640080" y="1924812"/>
            <a:ext cx="338328" cy="338328"/>
          </a:xfrm>
          <a:prstGeom prst="roundRect">
            <a:avLst>
              <a:gd name="adj" fmla="val 8000"/>
            </a:avLst>
          </a:prstGeom>
          <a:solidFill>
            <a:srgbClr val="007E87"/>
          </a:solidFill>
          <a:ln>
            <a:noFill/>
          </a:ln>
        </p:spPr>
        <p:txBody>
          <a:bodyPr rtlCol="0" anchor="ctr"/>
          <a:lstStyle/>
          <a:p>
            <a:pPr algn="ctr"/>
          </a:p>
        </p:txBody>
      </p:sp>
      <p:sp>
        <p:nvSpPr>
          <p:cNvPr id="8" name="TextBox 7"/>
          <p:cNvSpPr txBox="1"/>
          <p:nvPr/>
        </p:nvSpPr>
        <p:spPr>
          <a:xfrm>
            <a:off x="736092" y="1952244"/>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9" name="TextBox 8"/>
          <p:cNvSpPr txBox="1"/>
          <p:nvPr/>
        </p:nvSpPr>
        <p:spPr>
          <a:xfrm>
            <a:off x="1143000" y="1901952"/>
            <a:ext cx="10387584" cy="1041400"/>
          </a:xfrm>
          <a:prstGeom prst="rect">
            <a:avLst/>
          </a:prstGeom>
          <a:noFill/>
        </p:spPr>
        <p:txBody>
          <a:bodyPr wrap="none" lIns="0" rIns="0" tIns="0" bIns="0">
            <a:spAutoFit/>
          </a:bodyPr>
          <a:lstStyle/>
          <a:p>
            <a:pPr>
              <a:lnSpc>
                <a:spcPct val="124000"/>
              </a:lnSpc>
              <a:spcBef>
                <a:spcPts val="0"/>
              </a:spcBef>
              <a:spcAft>
                <a:spcPts val="0"/>
              </a:spcAft>
              <a:defRPr sz="2900" b="0">
                <a:solidFill>
                  <a:srgbClr val="131D2A"/>
                </a:solidFill>
                <a:latin typeface="DejaVu Sans"/>
              </a:defRPr>
            </a:pPr>
            <a:r>
              <a:t>Faessler et al., RA-L 2018: rotor-drag physics and</a:t>
            </a:r>
          </a:p>
          <a:p>
            <a:pPr>
              <a:lnSpc>
                <a:spcPct val="124000"/>
              </a:lnSpc>
              <a:spcBef>
                <a:spcPts val="0"/>
              </a:spcBef>
              <a:spcAft>
                <a:spcPts val="0"/>
              </a:spcAft>
              <a:defRPr sz="2900" b="0">
                <a:solidFill>
                  <a:srgbClr val="131D2A"/>
                </a:solidFill>
                <a:latin typeface="DejaVu Sans"/>
              </a:defRPr>
            </a:pPr>
            <a:r>
              <a:t>excitation</a:t>
            </a:r>
          </a:p>
        </p:txBody>
      </p:sp>
      <p:sp>
        <p:nvSpPr>
          <p:cNvPr id="10" name="Rounded Rectangle 9"/>
          <p:cNvSpPr/>
          <p:nvPr/>
        </p:nvSpPr>
        <p:spPr>
          <a:xfrm>
            <a:off x="640080" y="3377692"/>
            <a:ext cx="338328" cy="338328"/>
          </a:xfrm>
          <a:prstGeom prst="roundRect">
            <a:avLst>
              <a:gd name="adj" fmla="val 8000"/>
            </a:avLst>
          </a:prstGeom>
          <a:solidFill>
            <a:srgbClr val="007E87"/>
          </a:solidFill>
          <a:ln>
            <a:noFill/>
          </a:ln>
        </p:spPr>
        <p:txBody>
          <a:bodyPr rtlCol="0" anchor="ctr"/>
          <a:lstStyle/>
          <a:p>
            <a:pPr algn="ctr"/>
          </a:p>
        </p:txBody>
      </p:sp>
      <p:sp>
        <p:nvSpPr>
          <p:cNvPr id="11" name="TextBox 10"/>
          <p:cNvSpPr txBox="1"/>
          <p:nvPr/>
        </p:nvSpPr>
        <p:spPr>
          <a:xfrm>
            <a:off x="736092" y="3405124"/>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2" name="TextBox 11"/>
          <p:cNvSpPr txBox="1"/>
          <p:nvPr/>
        </p:nvSpPr>
        <p:spPr>
          <a:xfrm>
            <a:off x="1143000" y="3354832"/>
            <a:ext cx="10387584" cy="1041400"/>
          </a:xfrm>
          <a:prstGeom prst="rect">
            <a:avLst/>
          </a:prstGeom>
          <a:noFill/>
        </p:spPr>
        <p:txBody>
          <a:bodyPr wrap="none" lIns="0" rIns="0" tIns="0" bIns="0">
            <a:spAutoFit/>
          </a:bodyPr>
          <a:lstStyle/>
          <a:p>
            <a:pPr>
              <a:lnSpc>
                <a:spcPct val="124000"/>
              </a:lnSpc>
              <a:spcBef>
                <a:spcPts val="0"/>
              </a:spcBef>
              <a:spcAft>
                <a:spcPts val="0"/>
              </a:spcAft>
              <a:defRPr sz="2900" b="0">
                <a:solidFill>
                  <a:srgbClr val="131D2A"/>
                </a:solidFill>
                <a:latin typeface="DejaVu Sans"/>
              </a:defRPr>
            </a:pPr>
            <a:r>
              <a:t>Andersson et al., 2019: CasADi AD and multiple</a:t>
            </a:r>
          </a:p>
          <a:p>
            <a:pPr>
              <a:lnSpc>
                <a:spcPct val="124000"/>
              </a:lnSpc>
              <a:spcBef>
                <a:spcPts val="0"/>
              </a:spcBef>
              <a:spcAft>
                <a:spcPts val="0"/>
              </a:spcAft>
              <a:defRPr sz="2900" b="0">
                <a:solidFill>
                  <a:srgbClr val="131D2A"/>
                </a:solidFill>
                <a:latin typeface="DejaVu Sans"/>
              </a:defRPr>
            </a:pPr>
            <a:r>
              <a:t>shooting</a:t>
            </a:r>
          </a:p>
        </p:txBody>
      </p:sp>
      <p:sp>
        <p:nvSpPr>
          <p:cNvPr id="13" name="Rounded Rectangle 12"/>
          <p:cNvSpPr/>
          <p:nvPr/>
        </p:nvSpPr>
        <p:spPr>
          <a:xfrm>
            <a:off x="640080" y="4830572"/>
            <a:ext cx="338328" cy="338328"/>
          </a:xfrm>
          <a:prstGeom prst="roundRect">
            <a:avLst>
              <a:gd name="adj" fmla="val 8000"/>
            </a:avLst>
          </a:prstGeom>
          <a:solidFill>
            <a:srgbClr val="007E87"/>
          </a:solidFill>
          <a:ln>
            <a:noFill/>
          </a:ln>
        </p:spPr>
        <p:txBody>
          <a:bodyPr rtlCol="0" anchor="ctr"/>
          <a:lstStyle/>
          <a:p>
            <a:pPr algn="ctr"/>
          </a:p>
        </p:txBody>
      </p:sp>
      <p:sp>
        <p:nvSpPr>
          <p:cNvPr id="14" name="TextBox 13"/>
          <p:cNvSpPr txBox="1"/>
          <p:nvPr/>
        </p:nvSpPr>
        <p:spPr>
          <a:xfrm>
            <a:off x="736092" y="4858004"/>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5" name="TextBox 14"/>
          <p:cNvSpPr txBox="1"/>
          <p:nvPr/>
        </p:nvSpPr>
        <p:spPr>
          <a:xfrm>
            <a:off x="1143000" y="4807712"/>
            <a:ext cx="10387584" cy="1041400"/>
          </a:xfrm>
          <a:prstGeom prst="rect">
            <a:avLst/>
          </a:prstGeom>
          <a:noFill/>
        </p:spPr>
        <p:txBody>
          <a:bodyPr wrap="none" lIns="0" rIns="0" tIns="0" bIns="0">
            <a:spAutoFit/>
          </a:bodyPr>
          <a:lstStyle/>
          <a:p>
            <a:pPr>
              <a:lnSpc>
                <a:spcPct val="124000"/>
              </a:lnSpc>
              <a:spcBef>
                <a:spcPts val="0"/>
              </a:spcBef>
              <a:spcAft>
                <a:spcPts val="0"/>
              </a:spcAft>
              <a:defRPr sz="2900" b="0">
                <a:solidFill>
                  <a:srgbClr val="131D2A"/>
                </a:solidFill>
                <a:latin typeface="DejaVu Sans"/>
              </a:defRPr>
            </a:pPr>
            <a:r>
              <a:t>Raue 2009; Wieland 2021: practical identifiability and</a:t>
            </a:r>
          </a:p>
          <a:p>
            <a:pPr>
              <a:lnSpc>
                <a:spcPct val="124000"/>
              </a:lnSpc>
              <a:spcBef>
                <a:spcPts val="0"/>
              </a:spcBef>
              <a:spcAft>
                <a:spcPts val="0"/>
              </a:spcAft>
              <a:defRPr sz="2900" b="0">
                <a:solidFill>
                  <a:srgbClr val="131D2A"/>
                </a:solidFill>
                <a:latin typeface="DejaVu Sans"/>
              </a:defRPr>
            </a:pPr>
            <a:r>
              <a:t>profiles</a:t>
            </a:r>
          </a:p>
        </p:txBody>
      </p:sp>
      <p:sp>
        <p:nvSpPr>
          <p:cNvPr id="16" name="Rectangle 15"/>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17" name="TextBox 16"/>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World-axis teaching drag differs from body-axis rotor aerodynamics.</a:t>
            </a:r>
          </a:p>
        </p:txBody>
      </p:sp>
      <p:sp>
        <p:nvSpPr>
          <p:cNvPr id="18" name="Rectangle 17"/>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19" name="TextBox 18"/>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20" name="Rectangle 19"/>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21" name="TextBox 20"/>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MODEL</a:t>
            </a:r>
          </a:p>
        </p:txBody>
      </p:sp>
      <p:sp>
        <p:nvSpPr>
          <p:cNvPr id="22" name="Rectangle 21"/>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3" name="TextBox 22"/>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24" name="Rectangle 23"/>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5" name="TextBox 24"/>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26" name="TextBox 25"/>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A2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FUTURE WORK · BEYOND THE TESTED APP EXPERIMENTS</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Appendix</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Research questions worth exploring</a:t>
            </a:r>
          </a:p>
        </p:txBody>
      </p:sp>
      <p:sp>
        <p:nvSpPr>
          <p:cNvPr id="7" name="Rounded Rectangle 6"/>
          <p:cNvSpPr/>
          <p:nvPr/>
        </p:nvSpPr>
        <p:spPr>
          <a:xfrm>
            <a:off x="594360" y="1600200"/>
            <a:ext cx="5321808" cy="1783080"/>
          </a:xfrm>
          <a:prstGeom prst="roundRect">
            <a:avLst>
              <a:gd name="adj" fmla="val 8000"/>
            </a:avLst>
          </a:prstGeom>
          <a:solidFill>
            <a:srgbClr val="FFFFFF"/>
          </a:solidFill>
          <a:ln>
            <a:noFill/>
          </a:ln>
        </p:spPr>
        <p:txBody>
          <a:bodyPr rtlCol="0" anchor="ctr"/>
          <a:lstStyle/>
          <a:p>
            <a:pPr algn="ctr"/>
          </a:p>
        </p:txBody>
      </p:sp>
      <p:sp>
        <p:nvSpPr>
          <p:cNvPr id="8" name="TextBox 7"/>
          <p:cNvSpPr txBox="1"/>
          <p:nvPr/>
        </p:nvSpPr>
        <p:spPr>
          <a:xfrm>
            <a:off x="822960" y="181051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007E87"/>
                </a:solidFill>
                <a:latin typeface="DejaVu Sans"/>
              </a:defRPr>
            </a:pPr>
            <a:r>
              <a:t>01</a:t>
            </a:r>
          </a:p>
        </p:txBody>
      </p:sp>
      <p:sp>
        <p:nvSpPr>
          <p:cNvPr id="9" name="TextBox 8"/>
          <p:cNvSpPr txBox="1"/>
          <p:nvPr/>
        </p:nvSpPr>
        <p:spPr>
          <a:xfrm>
            <a:off x="1627631" y="1874519"/>
            <a:ext cx="4078224" cy="1261872"/>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Solver specialization</a:t>
            </a:r>
          </a:p>
          <a:p>
            <a:pPr>
              <a:lnSpc>
                <a:spcPct val="124000"/>
              </a:lnSpc>
              <a:spcBef>
                <a:spcPts val="0"/>
              </a:spcBef>
              <a:spcAft>
                <a:spcPts val="0"/>
              </a:spcAft>
              <a:defRPr sz="2400" b="0">
                <a:solidFill>
                  <a:srgbClr val="131D2A"/>
                </a:solidFill>
                <a:latin typeface="DejaVu Sans"/>
              </a:defRPr>
            </a:pPr>
            <a:r>
              <a:t>across CPU, GPU and</a:t>
            </a:r>
          </a:p>
          <a:p>
            <a:pPr>
              <a:lnSpc>
                <a:spcPct val="124000"/>
              </a:lnSpc>
              <a:spcBef>
                <a:spcPts val="0"/>
              </a:spcBef>
              <a:spcAft>
                <a:spcPts val="0"/>
              </a:spcAft>
              <a:defRPr sz="2400" b="0">
                <a:solidFill>
                  <a:srgbClr val="131D2A"/>
                </a:solidFill>
                <a:latin typeface="DejaVu Sans"/>
              </a:defRPr>
            </a:pPr>
            <a:r>
              <a:t>embedded hardware</a:t>
            </a:r>
          </a:p>
        </p:txBody>
      </p:sp>
      <p:sp>
        <p:nvSpPr>
          <p:cNvPr id="10" name="Rectangle 9"/>
          <p:cNvSpPr/>
          <p:nvPr/>
        </p:nvSpPr>
        <p:spPr>
          <a:xfrm>
            <a:off x="822960" y="3081528"/>
            <a:ext cx="438912" cy="50292"/>
          </a:xfrm>
          <a:prstGeom prst="rect">
            <a:avLst/>
          </a:prstGeom>
          <a:solidFill>
            <a:srgbClr val="007E87"/>
          </a:solidFill>
          <a:ln>
            <a:noFill/>
          </a:ln>
        </p:spPr>
        <p:txBody>
          <a:bodyPr rtlCol="0" anchor="ctr"/>
          <a:lstStyle/>
          <a:p>
            <a:pPr algn="ctr"/>
          </a:p>
        </p:txBody>
      </p:sp>
      <p:sp>
        <p:nvSpPr>
          <p:cNvPr id="11" name="Rounded Rectangle 10"/>
          <p:cNvSpPr/>
          <p:nvPr/>
        </p:nvSpPr>
        <p:spPr>
          <a:xfrm>
            <a:off x="6236208" y="1600200"/>
            <a:ext cx="5321808" cy="1783080"/>
          </a:xfrm>
          <a:prstGeom prst="roundRect">
            <a:avLst>
              <a:gd name="adj" fmla="val 8000"/>
            </a:avLst>
          </a:prstGeom>
          <a:solidFill>
            <a:srgbClr val="FFFFFF"/>
          </a:solidFill>
          <a:ln>
            <a:noFill/>
          </a:ln>
        </p:spPr>
        <p:txBody>
          <a:bodyPr rtlCol="0" anchor="ctr"/>
          <a:lstStyle/>
          <a:p>
            <a:pPr algn="ctr"/>
          </a:p>
        </p:txBody>
      </p:sp>
      <p:sp>
        <p:nvSpPr>
          <p:cNvPr id="12" name="TextBox 11"/>
          <p:cNvSpPr txBox="1"/>
          <p:nvPr/>
        </p:nvSpPr>
        <p:spPr>
          <a:xfrm>
            <a:off x="6464808" y="181051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345FB5"/>
                </a:solidFill>
                <a:latin typeface="DejaVu Sans"/>
              </a:defRPr>
            </a:pPr>
            <a:r>
              <a:t>02</a:t>
            </a:r>
          </a:p>
        </p:txBody>
      </p:sp>
      <p:sp>
        <p:nvSpPr>
          <p:cNvPr id="13" name="TextBox 12"/>
          <p:cNvSpPr txBox="1"/>
          <p:nvPr/>
        </p:nvSpPr>
        <p:spPr>
          <a:xfrm>
            <a:off x="7269480" y="1874519"/>
            <a:ext cx="4078224" cy="1261872"/>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Fast batched Monte Carlo</a:t>
            </a:r>
          </a:p>
          <a:p>
            <a:pPr>
              <a:lnSpc>
                <a:spcPct val="124000"/>
              </a:lnSpc>
              <a:spcBef>
                <a:spcPts val="0"/>
              </a:spcBef>
              <a:spcAft>
                <a:spcPts val="0"/>
              </a:spcAft>
              <a:defRPr sz="2400" b="0">
                <a:solidFill>
                  <a:srgbClr val="131D2A"/>
                </a:solidFill>
                <a:latin typeface="DejaVu Sans"/>
              </a:defRPr>
            </a:pPr>
            <a:r>
              <a:t>and reinforcement</a:t>
            </a:r>
          </a:p>
          <a:p>
            <a:pPr>
              <a:lnSpc>
                <a:spcPct val="124000"/>
              </a:lnSpc>
              <a:spcBef>
                <a:spcPts val="0"/>
              </a:spcBef>
              <a:spcAft>
                <a:spcPts val="0"/>
              </a:spcAft>
              <a:defRPr sz="2400" b="0">
                <a:solidFill>
                  <a:srgbClr val="131D2A"/>
                </a:solidFill>
                <a:latin typeface="DejaVu Sans"/>
              </a:defRPr>
            </a:pPr>
            <a:r>
              <a:t>learning</a:t>
            </a:r>
          </a:p>
        </p:txBody>
      </p:sp>
      <p:sp>
        <p:nvSpPr>
          <p:cNvPr id="14" name="Rectangle 13"/>
          <p:cNvSpPr/>
          <p:nvPr/>
        </p:nvSpPr>
        <p:spPr>
          <a:xfrm>
            <a:off x="6464808" y="3081528"/>
            <a:ext cx="438912" cy="50292"/>
          </a:xfrm>
          <a:prstGeom prst="rect">
            <a:avLst/>
          </a:prstGeom>
          <a:solidFill>
            <a:srgbClr val="345FB5"/>
          </a:solidFill>
          <a:ln>
            <a:noFill/>
          </a:ln>
        </p:spPr>
        <p:txBody>
          <a:bodyPr rtlCol="0" anchor="ctr"/>
          <a:lstStyle/>
          <a:p>
            <a:pPr algn="ctr"/>
          </a:p>
        </p:txBody>
      </p:sp>
      <p:sp>
        <p:nvSpPr>
          <p:cNvPr id="15" name="Rounded Rectangle 14"/>
          <p:cNvSpPr/>
          <p:nvPr/>
        </p:nvSpPr>
        <p:spPr>
          <a:xfrm>
            <a:off x="594360" y="3566160"/>
            <a:ext cx="5321808" cy="1783080"/>
          </a:xfrm>
          <a:prstGeom prst="roundRect">
            <a:avLst>
              <a:gd name="adj" fmla="val 8000"/>
            </a:avLst>
          </a:prstGeom>
          <a:solidFill>
            <a:srgbClr val="FFFFFF"/>
          </a:solidFill>
          <a:ln>
            <a:noFill/>
          </a:ln>
        </p:spPr>
        <p:txBody>
          <a:bodyPr rtlCol="0" anchor="ctr"/>
          <a:lstStyle/>
          <a:p>
            <a:pPr algn="ctr"/>
          </a:p>
        </p:txBody>
      </p:sp>
      <p:sp>
        <p:nvSpPr>
          <p:cNvPr id="16" name="TextBox 15"/>
          <p:cNvSpPr txBox="1"/>
          <p:nvPr/>
        </p:nvSpPr>
        <p:spPr>
          <a:xfrm>
            <a:off x="822960" y="377647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B65131"/>
                </a:solidFill>
                <a:latin typeface="DejaVu Sans"/>
              </a:defRPr>
            </a:pPr>
            <a:r>
              <a:t>03</a:t>
            </a:r>
          </a:p>
        </p:txBody>
      </p:sp>
      <p:sp>
        <p:nvSpPr>
          <p:cNvPr id="17" name="TextBox 16"/>
          <p:cNvSpPr txBox="1"/>
          <p:nvPr/>
        </p:nvSpPr>
        <p:spPr>
          <a:xfrm>
            <a:off x="1627631" y="3840480"/>
            <a:ext cx="4078224" cy="1261872"/>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Native AD and JAX /</a:t>
            </a:r>
          </a:p>
          <a:p>
            <a:pPr>
              <a:lnSpc>
                <a:spcPct val="124000"/>
              </a:lnSpc>
              <a:spcBef>
                <a:spcPts val="0"/>
              </a:spcBef>
              <a:spcAft>
                <a:spcPts val="0"/>
              </a:spcAft>
              <a:defRPr sz="2400" b="0">
                <a:solidFill>
                  <a:srgbClr val="131D2A"/>
                </a:solidFill>
                <a:latin typeface="DejaVu Sans"/>
              </a:defRPr>
            </a:pPr>
            <a:r>
              <a:t>CasADi / PyTorch</a:t>
            </a:r>
          </a:p>
          <a:p>
            <a:pPr>
              <a:lnSpc>
                <a:spcPct val="124000"/>
              </a:lnSpc>
              <a:spcBef>
                <a:spcPts val="0"/>
              </a:spcBef>
              <a:spcAft>
                <a:spcPts val="0"/>
              </a:spcAft>
              <a:defRPr sz="2400" b="0">
                <a:solidFill>
                  <a:srgbClr val="131D2A"/>
                </a:solidFill>
                <a:latin typeface="DejaVu Sans"/>
              </a:defRPr>
            </a:pPr>
            <a:r>
              <a:t>integrations</a:t>
            </a:r>
          </a:p>
        </p:txBody>
      </p:sp>
      <p:sp>
        <p:nvSpPr>
          <p:cNvPr id="18" name="Rectangle 17"/>
          <p:cNvSpPr/>
          <p:nvPr/>
        </p:nvSpPr>
        <p:spPr>
          <a:xfrm>
            <a:off x="822960" y="5047488"/>
            <a:ext cx="438912" cy="50292"/>
          </a:xfrm>
          <a:prstGeom prst="rect">
            <a:avLst/>
          </a:prstGeom>
          <a:solidFill>
            <a:srgbClr val="B65131"/>
          </a:solidFill>
          <a:ln>
            <a:noFill/>
          </a:ln>
        </p:spPr>
        <p:txBody>
          <a:bodyPr rtlCol="0" anchor="ctr"/>
          <a:lstStyle/>
          <a:p>
            <a:pPr algn="ctr"/>
          </a:p>
        </p:txBody>
      </p:sp>
      <p:sp>
        <p:nvSpPr>
          <p:cNvPr id="19" name="Rounded Rectangle 18"/>
          <p:cNvSpPr/>
          <p:nvPr/>
        </p:nvSpPr>
        <p:spPr>
          <a:xfrm>
            <a:off x="6236208" y="3566160"/>
            <a:ext cx="5321808" cy="1783080"/>
          </a:xfrm>
          <a:prstGeom prst="roundRect">
            <a:avLst>
              <a:gd name="adj" fmla="val 8000"/>
            </a:avLst>
          </a:prstGeom>
          <a:solidFill>
            <a:srgbClr val="FFFFFF"/>
          </a:solidFill>
          <a:ln>
            <a:noFill/>
          </a:ln>
        </p:spPr>
        <p:txBody>
          <a:bodyPr rtlCol="0" anchor="ctr"/>
          <a:lstStyle/>
          <a:p>
            <a:pPr algn="ctr"/>
          </a:p>
        </p:txBody>
      </p:sp>
      <p:sp>
        <p:nvSpPr>
          <p:cNvPr id="20" name="TextBox 19"/>
          <p:cNvSpPr txBox="1"/>
          <p:nvPr/>
        </p:nvSpPr>
        <p:spPr>
          <a:xfrm>
            <a:off x="6464808" y="377647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007E87"/>
                </a:solidFill>
                <a:latin typeface="DejaVu Sans"/>
              </a:defRPr>
            </a:pPr>
            <a:r>
              <a:t>04</a:t>
            </a:r>
          </a:p>
        </p:txBody>
      </p:sp>
      <p:sp>
        <p:nvSpPr>
          <p:cNvPr id="21" name="TextBox 20"/>
          <p:cNvSpPr txBox="1"/>
          <p:nvPr/>
        </p:nvSpPr>
        <p:spPr>
          <a:xfrm>
            <a:off x="7269480" y="3840480"/>
            <a:ext cx="4078224" cy="883920"/>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Extensible targets for</a:t>
            </a:r>
          </a:p>
          <a:p>
            <a:pPr>
              <a:lnSpc>
                <a:spcPct val="124000"/>
              </a:lnSpc>
              <a:spcBef>
                <a:spcPts val="0"/>
              </a:spcBef>
              <a:spcAft>
                <a:spcPts val="0"/>
              </a:spcAft>
              <a:defRPr sz="2400" b="0">
                <a:solidFill>
                  <a:srgbClr val="131D2A"/>
                </a:solidFill>
                <a:latin typeface="DejaVu Sans"/>
              </a:defRPr>
            </a:pPr>
            <a:r>
              <a:t>your own numerical tools</a:t>
            </a:r>
          </a:p>
        </p:txBody>
      </p:sp>
      <p:sp>
        <p:nvSpPr>
          <p:cNvPr id="22" name="Rectangle 21"/>
          <p:cNvSpPr/>
          <p:nvPr/>
        </p:nvSpPr>
        <p:spPr>
          <a:xfrm>
            <a:off x="6464808" y="5047488"/>
            <a:ext cx="438912" cy="50292"/>
          </a:xfrm>
          <a:prstGeom prst="rect">
            <a:avLst/>
          </a:prstGeom>
          <a:solidFill>
            <a:srgbClr val="007E87"/>
          </a:solidFill>
          <a:ln>
            <a:noFill/>
          </a:ln>
        </p:spPr>
        <p:txBody>
          <a:bodyPr rtlCol="0" anchor="ctr"/>
          <a:lstStyle/>
          <a:p>
            <a:pPr algn="ctr"/>
          </a:p>
        </p:txBody>
      </p:sp>
      <p:sp>
        <p:nvSpPr>
          <p:cNvPr id="23" name="Rectangle 22"/>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24" name="TextBox 23"/>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Bring a falsifiable question and a measurable benchmark.</a:t>
            </a:r>
          </a:p>
        </p:txBody>
      </p:sp>
      <p:sp>
        <p:nvSpPr>
          <p:cNvPr id="25" name="Rectangle 24"/>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26" name="TextBox 25"/>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27" name="Rectangle 26"/>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28" name="TextBox 27"/>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MODEL</a:t>
            </a:r>
          </a:p>
        </p:txBody>
      </p:sp>
      <p:sp>
        <p:nvSpPr>
          <p:cNvPr id="29" name="Rectangle 28"/>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30" name="TextBox 29"/>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31" name="Rectangle 30"/>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32" name="TextBox 31"/>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33" name="TextBox 32"/>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A3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NODE SOLUTION ≠ EXACT CONTINUOUS-TIME FLIGHT</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Appendix</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Numerical constraints need validation</a:t>
            </a:r>
          </a:p>
        </p:txBody>
      </p:sp>
      <p:sp>
        <p:nvSpPr>
          <p:cNvPr id="7" name="Rectangle 6"/>
          <p:cNvSpPr/>
          <p:nvPr/>
        </p:nvSpPr>
        <p:spPr>
          <a:xfrm>
            <a:off x="594360" y="1508760"/>
            <a:ext cx="41148" cy="493776"/>
          </a:xfrm>
          <a:prstGeom prst="rect">
            <a:avLst/>
          </a:prstGeom>
          <a:solidFill>
            <a:srgbClr val="007E87"/>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Reintegrate the inputs independently; inspect errors by physical unit.</a:t>
            </a:r>
          </a:p>
        </p:txBody>
      </p:sp>
      <p:sp>
        <p:nvSpPr>
          <p:cNvPr id="9" name="Rounded Rectangle 8"/>
          <p:cNvSpPr/>
          <p:nvPr/>
        </p:nvSpPr>
        <p:spPr>
          <a:xfrm>
            <a:off x="594360" y="2167128"/>
            <a:ext cx="11000232" cy="3511296"/>
          </a:xfrm>
          <a:prstGeom prst="roundRect">
            <a:avLst>
              <a:gd name="adj" fmla="val 8000"/>
            </a:avLst>
          </a:prstGeom>
          <a:solidFill>
            <a:srgbClr val="FFFFFF"/>
          </a:solidFill>
          <a:ln>
            <a:noFill/>
          </a:ln>
        </p:spPr>
        <p:txBody>
          <a:bodyPr rtlCol="0" anchor="ctr"/>
          <a:lstStyle/>
          <a:p>
            <a:pPr algn="ctr"/>
          </a:p>
        </p:txBody>
      </p:sp>
      <p:pic>
        <p:nvPicPr>
          <p:cNvPr id="10" name="Picture 9" descr="optimization.png"/>
          <p:cNvPicPr>
            <a:picLocks noChangeAspect="1"/>
          </p:cNvPicPr>
          <p:nvPr/>
        </p:nvPicPr>
        <p:blipFill>
          <a:blip r:embed="rId2"/>
          <a:stretch>
            <a:fillRect/>
          </a:stretch>
        </p:blipFill>
        <p:spPr>
          <a:xfrm>
            <a:off x="3450553" y="2240280"/>
            <a:ext cx="5287844" cy="3364991"/>
          </a:xfrm>
          <a:prstGeom prst="rect">
            <a:avLst/>
          </a:prstGeom>
        </p:spPr>
      </p:pic>
      <p:sp>
        <p:nvSpPr>
          <p:cNvPr id="11" name="Rectangle 10"/>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12" name="TextBox 11"/>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Small defects, pitch margin and fine rollout are separate checks.</a:t>
            </a:r>
          </a:p>
        </p:txBody>
      </p:sp>
      <p:sp>
        <p:nvSpPr>
          <p:cNvPr id="13" name="Rectangle 12"/>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14" name="TextBox 13"/>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15" name="Rectangle 14"/>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16" name="TextBox 15"/>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MODEL</a:t>
            </a:r>
          </a:p>
        </p:txBody>
      </p:sp>
      <p:sp>
        <p:nvSpPr>
          <p:cNvPr id="17" name="Rectangle 16"/>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18" name="TextBox 17"/>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19" name="Rectangle 18"/>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0" name="TextBox 19"/>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21" name="TextBox 20"/>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A4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Hands-On with Rumoca</dc:title>
  <dc:subject>American Modelica Conference · Georgia Tech · October 12, 2026</dc:subject>
  <dc:creator>James Goppert · Micah Condie · Purdue University</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